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387" r:id="rId2"/>
    <p:sldId id="386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9DC6"/>
    <a:srgbClr val="9AD4EB"/>
    <a:srgbClr val="AEDF95"/>
    <a:srgbClr val="B96A6A"/>
    <a:srgbClr val="E6C19B"/>
    <a:srgbClr val="79A340"/>
    <a:srgbClr val="8C2728"/>
    <a:srgbClr val="3094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47"/>
    <p:restoredTop sz="95846"/>
  </p:normalViewPr>
  <p:slideViewPr>
    <p:cSldViewPr snapToGrid="0" snapToObjects="1" showGuides="1">
      <p:cViewPr>
        <p:scale>
          <a:sx n="162" d="100"/>
          <a:sy n="162" d="100"/>
        </p:scale>
        <p:origin x="264" y="-2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7AFDBC-2C9D-E744-AFEB-E1E0CCDC43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17546-E273-4E46-A59A-7D0915CFFF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EAAD4-86B7-6445-9E24-564CF55F9E4C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46001-FC26-4546-BEEA-713EC71F7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19A64-EFA1-EB4A-9208-659D7A67BF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00832-3DA9-BD45-8DF9-5AE149AD5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8ECD8-40A1-7E4F-A3DC-E42CA7395149}" type="datetimeFigureOut">
              <a:rPr lang="en-US" smtClean="0"/>
              <a:t>10/22/23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C346B-06F2-6141-895E-093C6600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5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EF378F-81E3-7A42-B324-22FB26B852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3976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CB2B07-F7A5-6E43-B603-3C15A9FCB9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0009" y="4316758"/>
            <a:ext cx="1431135" cy="45607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FD851D-6509-4F4F-A97A-AE4E24A11A00}"/>
              </a:ext>
            </a:extLst>
          </p:cNvPr>
          <p:cNvSpPr txBox="1">
            <a:spLocks/>
          </p:cNvSpPr>
          <p:nvPr userDrawn="1"/>
        </p:nvSpPr>
        <p:spPr>
          <a:xfrm>
            <a:off x="7151931" y="4445805"/>
            <a:ext cx="1274708" cy="2585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 baseline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1" i="0" kern="1200" baseline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1" i="0" kern="1200" baseline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1" i="0" kern="1200" baseline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1" i="0" kern="1200" baseline="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baseline="0" dirty="0">
                <a:solidFill>
                  <a:schemeClr val="accent2"/>
                </a:solidFill>
                <a:latin typeface="Arial" panose="020B0604020202020204" pitchFamily="34" charset="0"/>
              </a:rPr>
              <a:t>cedars-</a:t>
            </a:r>
            <a:r>
              <a:rPr lang="en-US" sz="1200" baseline="0" dirty="0" err="1">
                <a:solidFill>
                  <a:schemeClr val="accent2"/>
                </a:solidFill>
                <a:latin typeface="Arial" panose="020B0604020202020204" pitchFamily="34" charset="0"/>
              </a:rPr>
              <a:t>sinai.org</a:t>
            </a:r>
            <a:endParaRPr lang="en-US" sz="1200" baseline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4427" y="458743"/>
            <a:ext cx="7732212" cy="1790700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426" y="2701528"/>
            <a:ext cx="7732211" cy="1241822"/>
          </a:xfrm>
        </p:spPr>
        <p:txBody>
          <a:bodyPr anchor="t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71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7864"/>
            <a:ext cx="7891272" cy="320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4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B2C529-B44B-0149-B7F5-77013A433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3976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36697B-2117-1F43-828B-8F30EC4B7A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0009" y="4316758"/>
            <a:ext cx="1431135" cy="45607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E76491-7464-E849-A9B8-93DF37B28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427" y="458743"/>
            <a:ext cx="7732212" cy="1790700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5A7F18-FD1A-FB46-A6B2-D60941384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26" y="2701528"/>
            <a:ext cx="7732211" cy="1241822"/>
          </a:xfrm>
        </p:spPr>
        <p:txBody>
          <a:bodyPr anchor="t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0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786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786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1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97864"/>
            <a:ext cx="3868340" cy="617934"/>
          </a:xfrm>
        </p:spPr>
        <p:txBody>
          <a:bodyPr anchor="ctr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641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97864"/>
            <a:ext cx="3887391" cy="617934"/>
          </a:xfrm>
        </p:spPr>
        <p:txBody>
          <a:bodyPr anchor="ctr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641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6DDE8D-023A-294F-BFD8-8040DEC5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372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1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6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3A8FC1-DF2B-7449-9CB8-118835B2CD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6" y="1197864"/>
            <a:ext cx="3435350" cy="3238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936" y="0"/>
            <a:ext cx="7891272" cy="94621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4582116" y="946128"/>
            <a:ext cx="4561883" cy="36544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E964F8-2D33-304D-B7C0-732D65340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6936" y="4767263"/>
            <a:ext cx="58629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E1F0D4-E34C-5C43-834A-CBB0D443F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6586" y="4796463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5339919A-1AF4-8143-B305-C972D12AEE0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1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73700F6-A10D-2E48-A752-5CE2321496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936" y="1197864"/>
            <a:ext cx="3990975" cy="34274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059478-CFE7-2449-A88F-50CF94749E9D}"/>
              </a:ext>
            </a:extLst>
          </p:cNvPr>
          <p:cNvSpPr/>
          <p:nvPr userDrawn="1"/>
        </p:nvSpPr>
        <p:spPr>
          <a:xfrm>
            <a:off x="5273126" y="1201447"/>
            <a:ext cx="3992336" cy="3091153"/>
          </a:xfrm>
          <a:prstGeom prst="roundRect">
            <a:avLst>
              <a:gd name="adj" fmla="val 3303"/>
            </a:avLst>
          </a:prstGeom>
          <a:solidFill>
            <a:srgbClr val="616262">
              <a:alpha val="10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888A8D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CA56411-12DC-B140-B7CB-7D6B876151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20108" y="1568671"/>
            <a:ext cx="3173186" cy="25323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DB3342"/>
              </a:buClr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0E8F031-04D6-5D4E-908A-AE755ECF3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6936" y="4767263"/>
            <a:ext cx="58629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BB4590-4712-E54A-B55F-99ED6E2EB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6586" y="4796463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5339919A-1AF4-8143-B305-C972D12AEE0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70BA5F-E2CA-E44C-A885-1B9EB73D3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0"/>
            <a:ext cx="7891272" cy="94621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963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0BF014-52E0-2740-8D54-AF03EB399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b="76431"/>
          <a:stretch/>
        </p:blipFill>
        <p:spPr>
          <a:xfrm>
            <a:off x="0" y="0"/>
            <a:ext cx="9144000" cy="937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BF86D0-5B3C-8246-9FB2-13595F88875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587017"/>
            <a:ext cx="9144000" cy="238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37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97864"/>
            <a:ext cx="7891272" cy="3209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6936" y="4767263"/>
            <a:ext cx="58629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76586" y="4796463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fld id="{5339919A-1AF4-8143-B305-C972D12AEE0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3015ED-62D3-684E-A714-46E7AF3FDD2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46204" y="4745205"/>
            <a:ext cx="818773" cy="26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7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6" r:id="rId8"/>
    <p:sldLayoutId id="2147483678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None/>
        <a:tabLst/>
        <a:defRPr sz="14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71450" indent="-171450" algn="l" defTabSz="68580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58775" indent="-176213" algn="l" defTabSz="685800" rtl="0" eaLnBrk="1" latinLnBrk="0" hangingPunct="1">
        <a:lnSpc>
          <a:spcPct val="120000"/>
        </a:lnSpc>
        <a:spcBef>
          <a:spcPts val="200"/>
        </a:spcBef>
        <a:buClr>
          <a:schemeClr val="accent1"/>
        </a:buClr>
        <a:buSzPct val="120000"/>
        <a:buFont typeface="System Font Regular"/>
        <a:buChar char="◦"/>
        <a:tabLst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27050" indent="-152400" algn="l" defTabSz="685800" rtl="0" eaLnBrk="1" latinLnBrk="0" hangingPunct="1">
        <a:lnSpc>
          <a:spcPct val="120000"/>
        </a:lnSpc>
        <a:spcBef>
          <a:spcPts val="2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6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microsoft.com/office/2007/relationships/hdphoto" Target="../media/hdphoto5.wdp"/><Relationship Id="rId4" Type="http://schemas.openxmlformats.org/officeDocument/2006/relationships/image" Target="../media/image5.png"/><Relationship Id="rId9" Type="http://schemas.microsoft.com/office/2007/relationships/hdphoto" Target="../media/hdphoto4.wdp"/><Relationship Id="rId14" Type="http://schemas.microsoft.com/office/2007/relationships/hdphoto" Target="../media/hdphoto7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1.wdp"/><Relationship Id="rId3" Type="http://schemas.microsoft.com/office/2007/relationships/hdphoto" Target="../media/hdphoto8.wdp"/><Relationship Id="rId7" Type="http://schemas.microsoft.com/office/2007/relationships/hdphoto" Target="../media/hdphoto9.wdp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10.wdp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0BAE1-43F6-3443-8A86-CD939EF2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2E288-4243-3B4D-A533-3FEBCEF6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1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98022B-358F-5246-BD2F-34801438B9BC}"/>
              </a:ext>
            </a:extLst>
          </p:cNvPr>
          <p:cNvSpPr txBox="1"/>
          <p:nvPr/>
        </p:nvSpPr>
        <p:spPr>
          <a:xfrm>
            <a:off x="0" y="181273"/>
            <a:ext cx="9197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Experiment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CA4855-9F99-9446-ABFA-0B4FC72F2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4" b="98604" l="0" r="100000">
                        <a14:foregroundMark x1="80405" y1="15102" x2="80405" y2="15102"/>
                        <a14:foregroundMark x1="49386" y1="15102" x2="49386" y2="15102"/>
                        <a14:foregroundMark x1="49386" y1="59772" x2="49386" y2="59772"/>
                        <a14:foregroundMark x1="18428" y1="17386" x2="18428" y2="17386"/>
                        <a14:foregroundMark x1="18428" y1="46066" x2="18428" y2="460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63" y="1738812"/>
            <a:ext cx="1399319" cy="677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30E78D-C4CB-994D-A55D-C9E1F4AD8B90}"/>
              </a:ext>
            </a:extLst>
          </p:cNvPr>
          <p:cNvSpPr txBox="1"/>
          <p:nvPr/>
        </p:nvSpPr>
        <p:spPr>
          <a:xfrm>
            <a:off x="0" y="2371600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094CD"/>
                </a:solidFill>
              </a:rPr>
              <a:t>Non-Fibrotic group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333C6B-52BD-134E-88CB-B08479AB2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74" r="100000">
                        <a14:foregroundMark x1="77373" y1="40661" x2="77373" y2="40661"/>
                        <a14:foregroundMark x1="77720" y1="14237" x2="77720" y2="14237"/>
                        <a14:foregroundMark x1="48438" y1="16970" x2="48438" y2="16970"/>
                        <a14:foregroundMark x1="17766" y1="19704" x2="17766" y2="19704"/>
                        <a14:foregroundMark x1="18808" y1="49544" x2="18808" y2="49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590127"/>
            <a:ext cx="1509304" cy="7668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9EEDB5-7E90-AF47-89AC-0B7CA341CFA2}"/>
              </a:ext>
            </a:extLst>
          </p:cNvPr>
          <p:cNvSpPr/>
          <p:nvPr/>
        </p:nvSpPr>
        <p:spPr>
          <a:xfrm>
            <a:off x="165910" y="3312483"/>
            <a:ext cx="11224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8C2728"/>
                </a:solidFill>
              </a:rPr>
              <a:t>Fibrotic group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2FCCA5-E15A-0441-A79E-ECF89D4C5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0" b="89922" l="4653" r="9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8423" y="2546365"/>
            <a:ext cx="410149" cy="29109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1BAF4F8-1B7C-F54A-98EF-E1CA055D27ED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80" b="89922" l="4653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38338" y="2619143"/>
            <a:ext cx="410149" cy="2910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B6EB4AC-01A3-5444-BED5-1F1F0CFE90F8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80" b="89922" l="4653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2650" y="2407673"/>
            <a:ext cx="410149" cy="29109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9196D8-5774-3E42-B7C0-21BA18901B69}"/>
              </a:ext>
            </a:extLst>
          </p:cNvPr>
          <p:cNvSpPr/>
          <p:nvPr/>
        </p:nvSpPr>
        <p:spPr>
          <a:xfrm>
            <a:off x="2401734" y="2865517"/>
            <a:ext cx="6110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iPSCs</a:t>
            </a:r>
            <a:endParaRPr lang="en-US" dirty="0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8AC048A-195F-F347-A650-9DBA228DF48D}"/>
              </a:ext>
            </a:extLst>
          </p:cNvPr>
          <p:cNvSpPr/>
          <p:nvPr/>
        </p:nvSpPr>
        <p:spPr>
          <a:xfrm>
            <a:off x="1509305" y="2601108"/>
            <a:ext cx="767780" cy="15498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7FE092-3FC1-7240-94F7-C497A18A52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651" b="97349" l="1431" r="98795">
                        <a14:foregroundMark x1="21837" y1="41687" x2="21837" y2="41687"/>
                        <a14:foregroundMark x1="72666" y1="29157" x2="72666" y2="291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58726" y="1869002"/>
            <a:ext cx="692500" cy="43281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155EED4-F340-3443-AD20-EAF6E02BE36E}"/>
              </a:ext>
            </a:extLst>
          </p:cNvPr>
          <p:cNvSpPr/>
          <p:nvPr/>
        </p:nvSpPr>
        <p:spPr>
          <a:xfrm>
            <a:off x="3765030" y="2242353"/>
            <a:ext cx="14798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Mesenchymal cells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47DE6A-E8E3-9A44-BFB6-BA14E2F7E6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2822" b="97291" l="4839" r="96909">
                        <a14:foregroundMark x1="27285" y1="55530" x2="27285" y2="55530"/>
                        <a14:foregroundMark x1="68952" y1="68510" x2="68952" y2="685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1351" y="2546365"/>
            <a:ext cx="374712" cy="44623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FF8CDEF-2677-394A-9FAA-F157686812A7}"/>
              </a:ext>
            </a:extLst>
          </p:cNvPr>
          <p:cNvSpPr/>
          <p:nvPr/>
        </p:nvSpPr>
        <p:spPr>
          <a:xfrm>
            <a:off x="3868465" y="2924900"/>
            <a:ext cx="11544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Epithelial cells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9983E971-E454-EF46-A322-513E06204654}"/>
              </a:ext>
            </a:extLst>
          </p:cNvPr>
          <p:cNvSpPr/>
          <p:nvPr/>
        </p:nvSpPr>
        <p:spPr>
          <a:xfrm rot="19800000">
            <a:off x="3014917" y="2426902"/>
            <a:ext cx="767780" cy="15498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1448332E-8E10-604A-AA55-C4F54ED1CC34}"/>
              </a:ext>
            </a:extLst>
          </p:cNvPr>
          <p:cNvSpPr/>
          <p:nvPr/>
        </p:nvSpPr>
        <p:spPr>
          <a:xfrm rot="1800000">
            <a:off x="3014967" y="2800002"/>
            <a:ext cx="767780" cy="15498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50F2B42-9763-AE44-9DF0-28ADC36B8139}"/>
              </a:ext>
            </a:extLst>
          </p:cNvPr>
          <p:cNvSpPr/>
          <p:nvPr/>
        </p:nvSpPr>
        <p:spPr>
          <a:xfrm>
            <a:off x="5913497" y="2108229"/>
            <a:ext cx="12250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Untreated (CC)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8BE52F-22A9-C547-91E0-3D6876BE20C2}"/>
              </a:ext>
            </a:extLst>
          </p:cNvPr>
          <p:cNvSpPr/>
          <p:nvPr/>
        </p:nvSpPr>
        <p:spPr>
          <a:xfrm>
            <a:off x="5913495" y="2382457"/>
            <a:ext cx="9396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/>
              <a:t>TGFb</a:t>
            </a:r>
            <a:r>
              <a:rPr lang="en-US" sz="1200" dirty="0"/>
              <a:t> (TG)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C6932B9-54D5-3F4C-BAFB-6D6DB1D51B52}"/>
              </a:ext>
            </a:extLst>
          </p:cNvPr>
          <p:cNvSpPr/>
          <p:nvPr/>
        </p:nvSpPr>
        <p:spPr>
          <a:xfrm>
            <a:off x="5913493" y="2663013"/>
            <a:ext cx="9204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/>
              <a:t>TNFa</a:t>
            </a:r>
            <a:r>
              <a:rPr lang="en-US" sz="1200" dirty="0"/>
              <a:t> (TN)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8D09EC-564E-F741-8E5D-955A42B31638}"/>
              </a:ext>
            </a:extLst>
          </p:cNvPr>
          <p:cNvSpPr/>
          <p:nvPr/>
        </p:nvSpPr>
        <p:spPr>
          <a:xfrm>
            <a:off x="5911054" y="2965707"/>
            <a:ext cx="13885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err="1"/>
              <a:t>TGFb+TNFa</a:t>
            </a:r>
            <a:r>
              <a:rPr lang="en-US" sz="1200" dirty="0"/>
              <a:t> (TT)</a:t>
            </a:r>
          </a:p>
        </p:txBody>
      </p:sp>
      <p:sp>
        <p:nvSpPr>
          <p:cNvPr id="72" name="Cross 71">
            <a:extLst>
              <a:ext uri="{FF2B5EF4-FFF2-40B4-BE49-F238E27FC236}">
                <a16:creationId xmlns:a16="http://schemas.microsoft.com/office/drawing/2014/main" id="{63DE18E8-3A61-4643-9F03-FA1F3016F285}"/>
              </a:ext>
            </a:extLst>
          </p:cNvPr>
          <p:cNvSpPr/>
          <p:nvPr/>
        </p:nvSpPr>
        <p:spPr>
          <a:xfrm>
            <a:off x="5453261" y="2531168"/>
            <a:ext cx="283636" cy="283636"/>
          </a:xfrm>
          <a:prstGeom prst="plus">
            <a:avLst>
              <a:gd name="adj" fmla="val 4267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B7B8F0A5-336E-1249-9801-81F68BA7F7CB}"/>
              </a:ext>
            </a:extLst>
          </p:cNvPr>
          <p:cNvSpPr/>
          <p:nvPr/>
        </p:nvSpPr>
        <p:spPr>
          <a:xfrm>
            <a:off x="7342422" y="2177932"/>
            <a:ext cx="199644" cy="1027958"/>
          </a:xfrm>
          <a:prstGeom prst="rightBrace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D1318-1513-4C40-AF45-453B6822466B}"/>
              </a:ext>
            </a:extLst>
          </p:cNvPr>
          <p:cNvSpPr txBox="1"/>
          <p:nvPr/>
        </p:nvSpPr>
        <p:spPr>
          <a:xfrm>
            <a:off x="7559013" y="2538022"/>
            <a:ext cx="91242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1400" dirty="0"/>
              <a:t>RNA-</a:t>
            </a:r>
            <a:r>
              <a:rPr lang="en-US" sz="1400" dirty="0" err="1"/>
              <a:t>seq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545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0BAE1-43F6-3443-8A86-CD939EF2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2E288-4243-3B4D-A533-3FEBCEF6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2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98022B-358F-5246-BD2F-34801438B9BC}"/>
              </a:ext>
            </a:extLst>
          </p:cNvPr>
          <p:cNvSpPr txBox="1"/>
          <p:nvPr/>
        </p:nvSpPr>
        <p:spPr>
          <a:xfrm>
            <a:off x="0" y="181273"/>
            <a:ext cx="9197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Experiment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CA4855-9F99-9446-ABFA-0B4FC72F2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4" b="98604" l="0" r="100000">
                        <a14:foregroundMark x1="80405" y1="15102" x2="80405" y2="15102"/>
                        <a14:foregroundMark x1="49386" y1="15102" x2="49386" y2="15102"/>
                        <a14:foregroundMark x1="49386" y1="59772" x2="49386" y2="59772"/>
                        <a14:foregroundMark x1="18428" y1="17386" x2="18428" y2="17386"/>
                        <a14:foregroundMark x1="18428" y1="46066" x2="18428" y2="460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556" y="1759025"/>
            <a:ext cx="1696733" cy="8212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30E78D-C4CB-994D-A55D-C9E1F4AD8B90}"/>
              </a:ext>
            </a:extLst>
          </p:cNvPr>
          <p:cNvSpPr txBox="1"/>
          <p:nvPr/>
        </p:nvSpPr>
        <p:spPr>
          <a:xfrm>
            <a:off x="509799" y="2540931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094CD"/>
                </a:solidFill>
              </a:rPr>
              <a:t>Non-Fibrotic group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333C6B-52BD-134E-88CB-B08479AB2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74" r="100000">
                        <a14:foregroundMark x1="77373" y1="40661" x2="77373" y2="40661"/>
                        <a14:foregroundMark x1="77720" y1="14237" x2="77720" y2="14237"/>
                        <a14:foregroundMark x1="48438" y1="16970" x2="48438" y2="16970"/>
                        <a14:foregroundMark x1="17766" y1="19704" x2="17766" y2="19704"/>
                        <a14:foregroundMark x1="18808" y1="49544" x2="18808" y2="49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195" y="2776892"/>
            <a:ext cx="1830094" cy="9298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9EEDB5-7E90-AF47-89AC-0B7CA341CFA2}"/>
              </a:ext>
            </a:extLst>
          </p:cNvPr>
          <p:cNvSpPr/>
          <p:nvPr/>
        </p:nvSpPr>
        <p:spPr>
          <a:xfrm>
            <a:off x="747030" y="3568266"/>
            <a:ext cx="11224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8C2728"/>
                </a:solidFill>
              </a:rPr>
              <a:t>Fibrotic group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2FCCA5-E15A-0441-A79E-ECF89D4C5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0" b="89922" l="4653" r="9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92686" y="2287898"/>
            <a:ext cx="497323" cy="3529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1BAF4F8-1B7C-F54A-98EF-E1CA055D27ED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0" b="89922" l="4653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9969" y="2376144"/>
            <a:ext cx="497323" cy="35296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B6EB4AC-01A3-5444-BED5-1F1F0CFE90F8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80" b="89922" l="4653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6696" y="2119728"/>
            <a:ext cx="497323" cy="35296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9196D8-5774-3E42-B7C0-21BA18901B69}"/>
              </a:ext>
            </a:extLst>
          </p:cNvPr>
          <p:cNvSpPr/>
          <p:nvPr/>
        </p:nvSpPr>
        <p:spPr>
          <a:xfrm>
            <a:off x="3382969" y="2638393"/>
            <a:ext cx="6110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iPSCs</a:t>
            </a:r>
            <a:endParaRPr lang="en-US" dirty="0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8AC048A-195F-F347-A650-9DBA228DF48D}"/>
              </a:ext>
            </a:extLst>
          </p:cNvPr>
          <p:cNvSpPr/>
          <p:nvPr/>
        </p:nvSpPr>
        <p:spPr>
          <a:xfrm>
            <a:off x="2291326" y="2635143"/>
            <a:ext cx="930965" cy="18792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7FE092-3FC1-7240-94F7-C497A18A52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651" b="97349" l="1431" r="98795">
                        <a14:foregroundMark x1="21837" y1="41687" x2="21837" y2="41687"/>
                        <a14:foregroundMark x1="72666" y1="29157" x2="72666" y2="291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5136" y="1626491"/>
            <a:ext cx="839685" cy="52480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155EED4-F340-3443-AD20-EAF6E02BE36E}"/>
              </a:ext>
            </a:extLst>
          </p:cNvPr>
          <p:cNvSpPr/>
          <p:nvPr/>
        </p:nvSpPr>
        <p:spPr>
          <a:xfrm>
            <a:off x="4888567" y="2136759"/>
            <a:ext cx="1794431" cy="335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Mesenchymal cells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47DE6A-E8E3-9A44-BFB6-BA14E2F7E6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822" b="97291" l="4839" r="96909">
                        <a14:foregroundMark x1="27285" y1="55530" x2="27285" y2="55530"/>
                        <a14:foregroundMark x1="68952" y1="68510" x2="68952" y2="685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7803" y="2566483"/>
            <a:ext cx="454354" cy="54107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FF8CDEF-2677-394A-9FAA-F157686812A7}"/>
              </a:ext>
            </a:extLst>
          </p:cNvPr>
          <p:cNvSpPr/>
          <p:nvPr/>
        </p:nvSpPr>
        <p:spPr>
          <a:xfrm>
            <a:off x="4955050" y="3089586"/>
            <a:ext cx="1399859" cy="335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Epithelial cells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9983E971-E454-EF46-A322-513E06204654}"/>
              </a:ext>
            </a:extLst>
          </p:cNvPr>
          <p:cNvSpPr/>
          <p:nvPr/>
        </p:nvSpPr>
        <p:spPr>
          <a:xfrm rot="19800000">
            <a:off x="4194711" y="2409854"/>
            <a:ext cx="930965" cy="18792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1448332E-8E10-604A-AA55-C4F54ED1CC34}"/>
              </a:ext>
            </a:extLst>
          </p:cNvPr>
          <p:cNvSpPr/>
          <p:nvPr/>
        </p:nvSpPr>
        <p:spPr>
          <a:xfrm rot="1800000">
            <a:off x="4194772" y="2862253"/>
            <a:ext cx="930965" cy="187923"/>
          </a:xfrm>
          <a:prstGeom prst="rightArrow">
            <a:avLst>
              <a:gd name="adj1" fmla="val 50000"/>
              <a:gd name="adj2" fmla="val 7898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72" name="Cross 71">
            <a:extLst>
              <a:ext uri="{FF2B5EF4-FFF2-40B4-BE49-F238E27FC236}">
                <a16:creationId xmlns:a16="http://schemas.microsoft.com/office/drawing/2014/main" id="{63DE18E8-3A61-4643-9F03-FA1F3016F285}"/>
              </a:ext>
            </a:extLst>
          </p:cNvPr>
          <p:cNvSpPr/>
          <p:nvPr/>
        </p:nvSpPr>
        <p:spPr>
          <a:xfrm>
            <a:off x="6839615" y="2571471"/>
            <a:ext cx="343921" cy="343921"/>
          </a:xfrm>
          <a:prstGeom prst="plus">
            <a:avLst>
              <a:gd name="adj" fmla="val 4267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2BF0B74-A569-AB4A-971A-21FF67868539}"/>
              </a:ext>
            </a:extLst>
          </p:cNvPr>
          <p:cNvSpPr/>
          <p:nvPr/>
        </p:nvSpPr>
        <p:spPr>
          <a:xfrm>
            <a:off x="7427894" y="2159607"/>
            <a:ext cx="1388522" cy="11660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Untreated (CC)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TGFb</a:t>
            </a:r>
            <a:r>
              <a:rPr lang="en-US" sz="1200" dirty="0"/>
              <a:t> (TG)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TNFa</a:t>
            </a:r>
            <a:r>
              <a:rPr lang="en-US" sz="1200" dirty="0"/>
              <a:t> (TN)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TGFb+TNFa</a:t>
            </a:r>
            <a:r>
              <a:rPr lang="en-US" sz="1200" dirty="0"/>
              <a:t> (TT)</a:t>
            </a:r>
          </a:p>
        </p:txBody>
      </p:sp>
    </p:spTree>
    <p:extLst>
      <p:ext uri="{BB962C8B-B14F-4D97-AF65-F5344CB8AC3E}">
        <p14:creationId xmlns:p14="http://schemas.microsoft.com/office/powerpoint/2010/main" val="12029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d_Office Theme">
  <a:themeElements>
    <a:clrScheme name="Custom 23">
      <a:dk1>
        <a:srgbClr val="000000"/>
      </a:dk1>
      <a:lt1>
        <a:srgbClr val="FFFFFF"/>
      </a:lt1>
      <a:dk2>
        <a:srgbClr val="41C0C0"/>
      </a:dk2>
      <a:lt2>
        <a:srgbClr val="129ABF"/>
      </a:lt2>
      <a:accent1>
        <a:srgbClr val="DC1E34"/>
      </a:accent1>
      <a:accent2>
        <a:srgbClr val="76777B"/>
      </a:accent2>
      <a:accent3>
        <a:srgbClr val="645FAA"/>
      </a:accent3>
      <a:accent4>
        <a:srgbClr val="FF7F30"/>
      </a:accent4>
      <a:accent5>
        <a:srgbClr val="129ABF"/>
      </a:accent5>
      <a:accent6>
        <a:srgbClr val="95C93C"/>
      </a:accent6>
      <a:hlink>
        <a:srgbClr val="76777B"/>
      </a:hlink>
      <a:folHlink>
        <a:srgbClr val="76777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400"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4D730F07-D123-AE40-9880-84C7A995CF8E}" vid="{EA57DB75-245A-0849-8CD3-C29052E1C3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Red_Office Theme</Template>
  <TotalTime>5901</TotalTime>
  <Words>61</Words>
  <Application>Microsoft Macintosh PowerPoint</Application>
  <PresentationFormat>On-screen Show (16:9)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System Font Regular</vt:lpstr>
      <vt:lpstr>Arial</vt:lpstr>
      <vt:lpstr>Calibri</vt:lpstr>
      <vt:lpstr>Red_Office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master title (28 pt. Arial)</dc:title>
  <dc:creator>Villalobos, Christy</dc:creator>
  <cp:lastModifiedBy>Microsoft Office User</cp:lastModifiedBy>
  <cp:revision>102</cp:revision>
  <dcterms:created xsi:type="dcterms:W3CDTF">2023-03-30T19:19:25Z</dcterms:created>
  <dcterms:modified xsi:type="dcterms:W3CDTF">2023-10-23T05:36:59Z</dcterms:modified>
</cp:coreProperties>
</file>