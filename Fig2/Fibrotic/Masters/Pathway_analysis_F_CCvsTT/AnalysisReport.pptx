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77" r:id="rId2"/>
    <p:sldId id="257" r:id="rId3"/>
    <p:sldId id="267" r:id="rId4"/>
    <p:sldId id="268" r:id="rId6"/>
    <p:sldId id="261" r:id="rId7"/>
    <p:sldId id="262" r:id="rId8"/>
    <p:sldId id="265" r:id="rId9"/>
    <p:sldId id="269" r:id="rId10"/>
    <p:sldId id="263" r:id="rId11"/>
    <p:sldId id="266" r:id="rId12"/>
    <p:sldId id="264" r:id="rId13"/>
    <p:sldId id="300" r:id="rId46"/>
    <p:sldId id="299" r:id="rId45"/>
    <p:sldId id="298" r:id="rId44"/>
    <p:sldId id="297" r:id="rId43"/>
    <p:sldId id="296" r:id="rId42"/>
    <p:sldId id="295" r:id="rId41"/>
    <p:sldId id="294" r:id="rId40"/>
    <p:sldId id="293" r:id="rId39"/>
    <p:sldId id="292" r:id="rId38"/>
    <p:sldId id="291" r:id="rId37"/>
    <p:sldId id="290" r:id="rId36"/>
    <p:sldId id="289" r:id="rId35"/>
    <p:sldId id="288" r:id="rId34"/>
    <p:sldId id="287" r:id="rId33"/>
    <p:sldId id="286" r:id="rId32"/>
    <p:sldId id="285" r:id="rId31"/>
    <p:sldId id="284" r:id="rId30"/>
    <p:sldId id="283" r:id="rId29"/>
    <p:sldId id="282" r:id="rId28"/>
    <p:sldId id="281" r:id="rId27"/>
    <p:sldId id="280" r:id="rId26"/>
    <p:sldId id="276" r:id="rId19"/>
    <p:sldId id="2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 Type="http://schemas.openxmlformats.org/officeDocument/2006/relationships/slide" Target="slides/slide1.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 Type="http://schemas.openxmlformats.org/officeDocument/2006/relationships/slide" Target="slides/slide2.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 Type="http://schemas.openxmlformats.org/officeDocument/2006/relationships/slide" Target="slides/slide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analysis</a:t>
            </a:r>
            <a:r>
              <a:rPr lang="en-US" baseline="0" dirty="0" smtClean="0"/>
              <a:t> report is automatically generated by Metascape (https://metascape.org).</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83003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first</a:t>
            </a:r>
            <a:r>
              <a:rPr lang="en-US" baseline="0" dirty="0" smtClean="0"/>
              <a:t> </a:t>
            </a:r>
            <a:r>
              <a:rPr lang="en-US" dirty="0" smtClean="0"/>
              <a:t>automatically </a:t>
            </a:r>
            <a:r>
              <a:rPr lang="en-US" baseline="0" dirty="0" smtClean="0"/>
              <a:t>converts you input identifiers (</a:t>
            </a:r>
            <a:r>
              <a:rPr lang="en-US" baseline="0" dirty="0" err="1" smtClean="0"/>
              <a:t>Entrez</a:t>
            </a:r>
            <a:r>
              <a:rPr lang="en-US" baseline="0" dirty="0" smtClean="0"/>
              <a:t> Gene 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Symbol) into Human </a:t>
            </a:r>
            <a:r>
              <a:rPr lang="en-US" baseline="0" dirty="0" err="1" smtClean="0"/>
              <a:t>Entrez</a:t>
            </a:r>
            <a:r>
              <a:rPr lang="en-US" baseline="0" dirty="0" smtClean="0"/>
              <a:t> Gene ID.  For example, input identifiers can be from human, mouse or rat </a:t>
            </a:r>
            <a:r>
              <a:rPr lang="en-US" baseline="0" dirty="0" err="1" smtClean="0"/>
              <a:t>orthologs</a:t>
            </a:r>
            <a:r>
              <a:rPr lang="en-US" baseline="0" dirty="0" smtClean="0"/>
              <a:t>, which can be mapped into human (or “analysis as” species) based on 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baseline="0" dirty="0" smtClean="0"/>
          </a:p>
          <a:p>
            <a:r>
              <a:rPr lang="en-US" baseline="0" dirty="0" smtClean="0"/>
              <a:t>The background of each row is the color code used in the various plots within this report, where each color is consistently used to code a corresponding gene list.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a:t>
            </a:r>
            <a:r>
              <a:rPr lang="en-US" dirty="0" err="1" smtClean="0"/>
              <a:t>Circos</a:t>
            </a:r>
            <a:r>
              <a:rPr lang="en-US" baseline="0" dirty="0" smtClean="0"/>
              <a:t> plot shows how genes from the input gene lists overlap.</a:t>
            </a:r>
          </a:p>
          <a:p>
            <a:endParaRPr lang="en-US" baseline="0" dirty="0" smtClean="0"/>
          </a:p>
          <a:p>
            <a:r>
              <a:rPr lang="en-US" baseline="0" dirty="0" smtClean="0"/>
              <a:t>On the outside, each arc represents the identity of each gene list, using the same color code as the color used for table rows in slide #2.</a:t>
            </a:r>
          </a:p>
          <a:p>
            <a:endParaRPr lang="en-US" baseline="0" dirty="0" smtClean="0"/>
          </a:p>
          <a:p>
            <a:r>
              <a:rPr lang="en-US" baseline="0" dirty="0" smtClean="0"/>
              <a:t>On the inside, each arc represents a gene list, where each gene member of that list is assigned a spot on the arc.  Dark orange color represents the genes that are shared by multiple lists and light orange color represents genes that are unique to that gene list.</a:t>
            </a:r>
          </a:p>
          <a:p>
            <a:endParaRPr lang="en-US" baseline="0" dirty="0" smtClean="0"/>
          </a:p>
          <a:p>
            <a:r>
              <a:rPr lang="en-US" baseline="0" dirty="0" smtClean="0"/>
              <a:t>Purple lines link the same gene that are shared by multiple gene lists (notice a gene that appears in two gene lists will be mapped once onto each gene list, therefore, the two positions are purple linked).</a:t>
            </a:r>
          </a:p>
          <a:p>
            <a:endParaRPr lang="en-US" baseline="0" dirty="0" smtClean="0"/>
          </a:p>
          <a:p>
            <a:r>
              <a:rPr lang="en-US" baseline="0" dirty="0" smtClean="0"/>
              <a:t>The greater the number of purple links and the longer the dark orange arcs implies greater overlap among the input gene lists.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01090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distribution.</a:t>
            </a:r>
          </a:p>
          <a:p>
            <a:r>
              <a:rPr lang="en-US" baseline="0" dirty="0" smtClean="0"/>
              <a:t>By 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a:t>
            </a:r>
            <a:r>
              <a:rPr lang="en-US" dirty="0" err="1" smtClean="0"/>
              <a:t>Circos</a:t>
            </a:r>
            <a:r>
              <a:rPr lang="en-US" baseline="0" dirty="0" smtClean="0"/>
              <a:t> plot shows how genes from the input gene lists overlap.</a:t>
            </a:r>
          </a:p>
          <a:p>
            <a:endParaRPr lang="en-US" baseline="0" dirty="0" smtClean="0"/>
          </a:p>
          <a:p>
            <a:r>
              <a:rPr lang="en-US" baseline="0" dirty="0" smtClean="0"/>
              <a:t>On the outside, each arc represents the identity of each gene list, using the same color code as the color used for table rows in slide #2.</a:t>
            </a:r>
          </a:p>
          <a:p>
            <a:endParaRPr lang="en-US" baseline="0" dirty="0" smtClean="0"/>
          </a:p>
          <a:p>
            <a:r>
              <a:rPr lang="en-US" baseline="0" dirty="0" smtClean="0"/>
              <a:t>On the inside, each arc represents a gene list, where each gene member of that list is assigned a spot on the arc.  Dark orange color represents the genes that are shared by multiple lists and light orange color represents genes that are unique to that gene list.</a:t>
            </a:r>
          </a:p>
          <a:p>
            <a:endParaRPr lang="en-US" baseline="0" dirty="0" smtClean="0"/>
          </a:p>
          <a:p>
            <a:r>
              <a:rPr lang="en-US" baseline="0" dirty="0" smtClean="0"/>
              <a:t>Purple lines link the same gene that are shared by multiple gene lists (notice a gene that appears in two gene lists will be mapped once onto each gene list, therefore, the two positions are purple linked).  Blue lines link the genes, although different, fall under the same ontology term (the term has to statistically significantly enriched and with size no larger than 100).</a:t>
            </a:r>
          </a:p>
          <a:p>
            <a:endParaRPr lang="en-US" baseline="0" dirty="0" smtClean="0"/>
          </a:p>
          <a:p>
            <a:r>
              <a:rPr lang="en-US" baseline="0" dirty="0" smtClean="0"/>
              <a:t>The greater the number of purple links and the longer the dark orange arcs implies greater overlap among the input gene lists.  Blue links indicate the amount of functional overlap among the input gene lists.  It is common in meta-analysis that we observe little directly overlap among studies, due to the variations in the biological assays used.  However, we tend to see a lot more functional overlap, as these studies probably pick up different subset of gene members of the same biological processes.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375065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the term with the best p-value within each cluster as its representative term and display them in a </a:t>
            </a:r>
            <a:r>
              <a:rPr lang="en-US" baseline="0" dirty="0" err="1" smtClean="0"/>
              <a:t>dendrogram</a:t>
            </a:r>
            <a:r>
              <a:rPr lang="en-US" baseline="0" dirty="0" smtClean="0"/>
              <a:t>. The </a:t>
            </a:r>
            <a:r>
              <a:rPr lang="en-US" baseline="0" dirty="0" err="1" smtClean="0"/>
              <a:t>heatmap</a:t>
            </a:r>
            <a:r>
              <a:rPr lang="en-US" baseline="0" dirty="0" smtClean="0"/>
              <a:t> cells are colored by their p-values, white cells indicate the lack of enrichment for that term in the corresponding gene list.  We also export files behind this </a:t>
            </a:r>
            <a:r>
              <a:rPr lang="en-US" baseline="0" dirty="0" err="1" smtClean="0"/>
              <a:t>heatmap</a:t>
            </a:r>
            <a:r>
              <a:rPr lang="en-US" baseline="0" dirty="0" smtClean="0"/>
              <a:t> (.</a:t>
            </a:r>
            <a:r>
              <a:rPr lang="en-US" baseline="0" dirty="0" err="1" smtClean="0"/>
              <a:t>cdt</a:t>
            </a:r>
            <a:r>
              <a:rPr lang="en-US" baseline="0" dirty="0" smtClean="0"/>
              <a:t>, .</a:t>
            </a:r>
            <a:r>
              <a:rPr lang="en-US" baseline="0" dirty="0" err="1" smtClean="0"/>
              <a:t>gtr</a:t>
            </a:r>
            <a:r>
              <a:rPr lang="en-US" baseline="0" dirty="0" smtClean="0"/>
              <a:t>, .</a:t>
            </a:r>
            <a:r>
              <a:rPr lang="en-US" baseline="0" dirty="0" err="1" smtClean="0"/>
              <a:t>atr</a:t>
            </a:r>
            <a:r>
              <a:rPr lang="en-US" baseline="0" dirty="0" smtClean="0"/>
              <a:t>, and .</a:t>
            </a:r>
            <a:r>
              <a:rPr lang="en-US" baseline="0" dirty="0" err="1" smtClean="0"/>
              <a:t>jtv</a:t>
            </a:r>
            <a:r>
              <a:rPr lang="en-US" baseline="0" dirty="0" smtClean="0"/>
              <a:t> files), so that one can visualize it interactively using </a:t>
            </a:r>
            <a:r>
              <a:rPr lang="en-US" baseline="0" dirty="0" err="1" smtClean="0"/>
              <a:t>JTreeView</a:t>
            </a:r>
            <a:r>
              <a:rPr lang="en-US" baseline="0" dirty="0" smtClean="0"/>
              <a:t> program (http://sourceforge.net/projects/jtreeview/).  The PDF version of the graph can be found in the zip package.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converted them into a network layout.  More specifically, each term is represented by a circle node, where its size is proportional to the number of input genes fall under 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with “force-directed”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displayed as pies.  Each pie sector is proportional to the number of hits originated from a gene list.</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Color code for pie sector represents a gene list and is consistent with the colors used for table rows in slide #2.</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839361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extract “biological meanings”.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Each MCODE network is assigned a unique color.</a:t>
            </a:r>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12</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input gene lists were also merged into one list and resulted in a PPI network.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Network nodes are displayed as pies.   Color code for pie sector represents a gene list and is consistent with the colors used for table rows in slide #2.</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13</a:t>
            </a:fld>
            <a:endParaRPr lang="en-US"/>
          </a:p>
        </p:txBody>
      </p:sp>
    </p:spTree>
    <p:extLst>
      <p:ext uri="{BB962C8B-B14F-4D97-AF65-F5344CB8AC3E}">
        <p14:creationId xmlns:p14="http://schemas.microsoft.com/office/powerpoint/2010/main" val="556376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input gene lists were also merged. Each MCODE network is assigned a unique color.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14</a:t>
            </a:fld>
            <a:endParaRPr lang="en-US"/>
          </a:p>
        </p:txBody>
      </p:sp>
    </p:spTree>
    <p:extLst>
      <p:ext uri="{BB962C8B-B14F-4D97-AF65-F5344CB8AC3E}">
        <p14:creationId xmlns:p14="http://schemas.microsoft.com/office/powerpoint/2010/main" val="12787868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components  were identified from the merged network. Each MCODE network is assigned a unique color.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15</a:t>
            </a:fld>
            <a:endParaRPr lang="en-US"/>
          </a:p>
        </p:txBody>
      </p:sp>
    </p:spTree>
    <p:extLst>
      <p:ext uri="{BB962C8B-B14F-4D97-AF65-F5344CB8AC3E}">
        <p14:creationId xmlns:p14="http://schemas.microsoft.com/office/powerpoint/2010/main" val="21772089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Network nodes are displayed as pies.   Color code for pie sector represents a gene list and is consistent with the colors used for table rows in slide #2.</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16</a:t>
            </a:fld>
            <a:endParaRPr lang="en-US"/>
          </a:p>
        </p:txBody>
      </p:sp>
    </p:spTree>
    <p:extLst>
      <p:ext uri="{BB962C8B-B14F-4D97-AF65-F5344CB8AC3E}">
        <p14:creationId xmlns:p14="http://schemas.microsoft.com/office/powerpoint/2010/main" val="34661620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original PPI network and its MCODE network components to extract their “biological meanings”, where top three best p-value terms were retained.</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17</a:t>
            </a:fld>
            <a:endParaRPr lang="en-US"/>
          </a:p>
        </p:txBody>
      </p:sp>
    </p:spTree>
    <p:extLst>
      <p:ext uri="{BB962C8B-B14F-4D97-AF65-F5344CB8AC3E}">
        <p14:creationId xmlns:p14="http://schemas.microsoft.com/office/powerpoint/2010/main" val="33384152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18</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19</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JP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May 6,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2" name="Rectangle 1"/>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5" name="Rectangle 4"/>
          <p:cNvSpPr/>
          <p:nvPr/>
        </p:nvSpPr>
        <p:spPr>
          <a:xfrm>
            <a:off x="3347310" y="6581001"/>
            <a:ext cx="5955495" cy="276999"/>
          </a:xfrm>
          <a:prstGeom prst="rect">
            <a:avLst/>
          </a:prstGeom>
          <a:noFill/>
        </p:spPr>
        <p:txBody>
          <a:bodyPr wrap="square">
            <a:spAutoFit/>
          </a:bodyPr>
          <a:lstStyle/>
          <a:p>
            <a:r>
              <a:rPr lang="en-US" sz="1200" dirty="0">
                <a:solidFill>
                  <a:schemeClr val="tx2"/>
                </a:solidFill>
                <a:latin typeface="Arial" panose="020B0604020202020204" pitchFamily="34" charset="0"/>
                <a:cs typeface="Arial" panose="020B0604020202020204" pitchFamily="34" charset="0"/>
              </a:rPr>
              <a:t>Please check online </a:t>
            </a:r>
            <a:r>
              <a:rPr lang="en-US" sz="1200" dirty="0" err="1">
                <a:solidFill>
                  <a:schemeClr val="tx2"/>
                </a:solidFill>
                <a:latin typeface="Arial" panose="020B0604020202020204" pitchFamily="34" charset="0"/>
                <a:cs typeface="Arial" panose="020B0604020202020204" pitchFamily="34" charset="0"/>
                <a:hlinkClick r:id="rId3"/>
              </a:rPr>
              <a:t>Metascape</a:t>
            </a:r>
            <a:r>
              <a:rPr lang="en-US" sz="1200" dirty="0">
                <a:solidFill>
                  <a:schemeClr val="tx2"/>
                </a:solidFill>
                <a:latin typeface="Arial" panose="020B0604020202020204" pitchFamily="34" charset="0"/>
                <a:cs typeface="Arial" panose="020B0604020202020204" pitchFamily="34" charset="0"/>
                <a:hlinkClick r:id="rId3"/>
              </a:rPr>
              <a:t> User Manual</a:t>
            </a:r>
            <a:r>
              <a:rPr lang="en-US" sz="1200" dirty="0">
                <a:solidFill>
                  <a:schemeClr val="tx2"/>
                </a:solidFill>
                <a:latin typeface="Arial" panose="020B0604020202020204" pitchFamily="34" charset="0"/>
                <a:cs typeface="Arial" panose="020B0604020202020204" pitchFamily="34" charset="0"/>
              </a:rPr>
              <a:t> for explanation of each annotation field.</a:t>
            </a:r>
          </a:p>
        </p:txBody>
      </p:sp>
      <p:graphicFrame>
        <p:nvGraphicFramePr>
          <p:cNvPr id="6" name="Table 5"/>
          <p:cNvGraphicFramePr>
            <a:graphicFrameLocks noGrp="1"/>
          </p:cNvGraphicFramePr>
          <p:nvPr/>
        </p:nvGraphicFramePr>
        <p:xfrm>
          <a:off x="640080" y="1665465"/>
          <a:ext cx="10911535" cy="4729480"/>
        </p:xfrm>
        <a:graphic>
          <a:graphicData uri="http://schemas.openxmlformats.org/drawingml/2006/table">
            <a:tbl>
              <a:tblPr firstRow="1" bandRow="1">
                <a:tableStyleId>{5C22544A-7EE6-4342-B048-85BDC9FD1C3A}</a:tableStyleId>
              </a:tblPr>
              <a:tblGrid>
                <a:gridCol w="2727883"/>
                <a:gridCol w="2727883"/>
                <a:gridCol w="2727883"/>
                <a:gridCol w="2727886"/>
              </a:tblGrid>
              <a:tr h="177800">
                <a:tc>
                  <a:txBody>
                    <a:bodyPr/>
                    <a:lstStyle/>
                    <a:p>
                      <a:r>
                        <a:t>Name</a:t>
                      </a:r>
                    </a:p>
                  </a:txBody>
                  <a:tcPr/>
                </a:tc>
                <a:tc>
                  <a:txBody>
                    <a:bodyPr/>
                    <a:lstStyle/>
                    <a:p>
                      <a:r>
                        <a:t>Total</a:t>
                      </a:r>
                    </a:p>
                  </a:txBody>
                  <a:tcPr/>
                </a:tc>
                <a:tc>
                  <a:txBody>
                    <a:bodyPr/>
                    <a:lstStyle/>
                    <a:p>
                      <a:r>
                        <a:t>Unique</a:t>
                      </a:r>
                    </a:p>
                  </a:txBody>
                  <a:tcPr/>
                </a:tc>
                <a:tc>
                  <a:txBody>
                    <a:bodyPr/>
                    <a:lstStyle/>
                    <a:p>
                      <a:r>
                        <a:t>_Color_</a:t>
                      </a:r>
                    </a:p>
                  </a:txBody>
                  <a:tcPr/>
                </a:tc>
              </a:tr>
              <a:tr h="568960">
                <a:tc>
                  <a:txBody>
                    <a:bodyPr/>
                    <a:lstStyle/>
                    <a:p>
                      <a:r>
                        <a:t>down_common_genes</a:t>
                      </a:r>
                    </a:p>
                  </a:txBody>
                  <a:tcPr/>
                </a:tc>
                <a:tc>
                  <a:txBody>
                    <a:bodyPr/>
                    <a:lstStyle/>
                    <a:p>
                      <a:r>
                        <a:t>217</a:t>
                      </a:r>
                    </a:p>
                  </a:txBody>
                  <a:tcPr/>
                </a:tc>
                <a:tc>
                  <a:txBody>
                    <a:bodyPr/>
                    <a:lstStyle/>
                    <a:p>
                      <a:r>
                        <a:t>217</a:t>
                      </a:r>
                    </a:p>
                  </a:txBody>
                  <a:tcPr/>
                </a:tc>
                <a:tc>
                  <a:txBody>
                    <a:bodyPr/>
                    <a:lstStyle/>
                    <a:p>
                      <a:r>
                        <a:t>#E41A1C</a:t>
                      </a:r>
                    </a:p>
                  </a:txBody>
                  <a:tcPr>
                    <a:solidFill>
                      <a:srgbClr val="E41A1C"/>
                    </a:solidFill>
                  </a:tcPr>
                </a:tc>
              </a:tr>
              <a:tr h="568960">
                <a:tc>
                  <a:txBody>
                    <a:bodyPr/>
                    <a:lstStyle/>
                    <a:p>
                      <a:r>
                        <a:t>down_epi_only</a:t>
                      </a:r>
                    </a:p>
                  </a:txBody>
                  <a:tcPr/>
                </a:tc>
                <a:tc>
                  <a:txBody>
                    <a:bodyPr/>
                    <a:lstStyle/>
                    <a:p>
                      <a:r>
                        <a:t>374</a:t>
                      </a:r>
                    </a:p>
                  </a:txBody>
                  <a:tcPr/>
                </a:tc>
                <a:tc>
                  <a:txBody>
                    <a:bodyPr/>
                    <a:lstStyle/>
                    <a:p>
                      <a:r>
                        <a:t>374</a:t>
                      </a:r>
                    </a:p>
                  </a:txBody>
                  <a:tcPr/>
                </a:tc>
                <a:tc>
                  <a:txBody>
                    <a:bodyPr/>
                    <a:lstStyle/>
                    <a:p>
                      <a:r>
                        <a:t>#377EB8</a:t>
                      </a:r>
                    </a:p>
                  </a:txBody>
                  <a:tcPr>
                    <a:solidFill>
                      <a:srgbClr val="377EB8"/>
                    </a:solidFill>
                  </a:tcPr>
                </a:tc>
              </a:tr>
              <a:tr h="568960">
                <a:tc>
                  <a:txBody>
                    <a:bodyPr/>
                    <a:lstStyle/>
                    <a:p>
                      <a:r>
                        <a:t>down_mes_only</a:t>
                      </a:r>
                    </a:p>
                  </a:txBody>
                  <a:tcPr/>
                </a:tc>
                <a:tc>
                  <a:txBody>
                    <a:bodyPr/>
                    <a:lstStyle/>
                    <a:p>
                      <a:r>
                        <a:t>284</a:t>
                      </a:r>
                    </a:p>
                  </a:txBody>
                  <a:tcPr/>
                </a:tc>
                <a:tc>
                  <a:txBody>
                    <a:bodyPr/>
                    <a:lstStyle/>
                    <a:p>
                      <a:r>
                        <a:t>284</a:t>
                      </a:r>
                    </a:p>
                  </a:txBody>
                  <a:tcPr/>
                </a:tc>
                <a:tc>
                  <a:txBody>
                    <a:bodyPr/>
                    <a:lstStyle/>
                    <a:p>
                      <a:r>
                        <a:t>#4DAF4A</a:t>
                      </a:r>
                    </a:p>
                  </a:txBody>
                  <a:tcPr>
                    <a:solidFill>
                      <a:srgbClr val="4DAF4A"/>
                    </a:solidFill>
                  </a:tcPr>
                </a:tc>
              </a:tr>
              <a:tr h="568960">
                <a:tc>
                  <a:txBody>
                    <a:bodyPr/>
                    <a:lstStyle/>
                    <a:p>
                      <a:r>
                        <a:t>down_mes_up_epi</a:t>
                      </a:r>
                    </a:p>
                  </a:txBody>
                  <a:tcPr/>
                </a:tc>
                <a:tc>
                  <a:txBody>
                    <a:bodyPr/>
                    <a:lstStyle/>
                    <a:p>
                      <a:r>
                        <a:t>233</a:t>
                      </a:r>
                    </a:p>
                  </a:txBody>
                  <a:tcPr/>
                </a:tc>
                <a:tc>
                  <a:txBody>
                    <a:bodyPr/>
                    <a:lstStyle/>
                    <a:p>
                      <a:r>
                        <a:t>233</a:t>
                      </a:r>
                    </a:p>
                  </a:txBody>
                  <a:tcPr/>
                </a:tc>
                <a:tc>
                  <a:txBody>
                    <a:bodyPr/>
                    <a:lstStyle/>
                    <a:p>
                      <a:r>
                        <a:t>#984EA3</a:t>
                      </a:r>
                    </a:p>
                  </a:txBody>
                  <a:tcPr>
                    <a:solidFill>
                      <a:srgbClr val="984EA3"/>
                    </a:solidFill>
                  </a:tcPr>
                </a:tc>
              </a:tr>
              <a:tr h="568960">
                <a:tc>
                  <a:txBody>
                    <a:bodyPr/>
                    <a:lstStyle/>
                    <a:p>
                      <a:r>
                        <a:t>up_common_genes</a:t>
                      </a:r>
                    </a:p>
                  </a:txBody>
                  <a:tcPr/>
                </a:tc>
                <a:tc>
                  <a:txBody>
                    <a:bodyPr/>
                    <a:lstStyle/>
                    <a:p>
                      <a:r>
                        <a:t>236</a:t>
                      </a:r>
                    </a:p>
                  </a:txBody>
                  <a:tcPr/>
                </a:tc>
                <a:tc>
                  <a:txBody>
                    <a:bodyPr/>
                    <a:lstStyle/>
                    <a:p>
                      <a:r>
                        <a:t>236</a:t>
                      </a:r>
                    </a:p>
                  </a:txBody>
                  <a:tcPr/>
                </a:tc>
                <a:tc>
                  <a:txBody>
                    <a:bodyPr/>
                    <a:lstStyle/>
                    <a:p>
                      <a:r>
                        <a:t>#FF7F00</a:t>
                      </a:r>
                    </a:p>
                  </a:txBody>
                  <a:tcPr>
                    <a:solidFill>
                      <a:srgbClr val="FF7F00"/>
                    </a:solidFill>
                  </a:tcPr>
                </a:tc>
              </a:tr>
              <a:tr h="568960">
                <a:tc>
                  <a:txBody>
                    <a:bodyPr/>
                    <a:lstStyle/>
                    <a:p>
                      <a:r>
                        <a:t>up_epi_only</a:t>
                      </a:r>
                    </a:p>
                  </a:txBody>
                  <a:tcPr/>
                </a:tc>
                <a:tc>
                  <a:txBody>
                    <a:bodyPr/>
                    <a:lstStyle/>
                    <a:p>
                      <a:r>
                        <a:t>284</a:t>
                      </a:r>
                    </a:p>
                  </a:txBody>
                  <a:tcPr/>
                </a:tc>
                <a:tc>
                  <a:txBody>
                    <a:bodyPr/>
                    <a:lstStyle/>
                    <a:p>
                      <a:r>
                        <a:t>284</a:t>
                      </a:r>
                    </a:p>
                  </a:txBody>
                  <a:tcPr/>
                </a:tc>
                <a:tc>
                  <a:txBody>
                    <a:bodyPr/>
                    <a:lstStyle/>
                    <a:p>
                      <a:r>
                        <a:t>#FFFF33</a:t>
                      </a:r>
                    </a:p>
                  </a:txBody>
                  <a:tcPr>
                    <a:solidFill>
                      <a:srgbClr val="FFFF33"/>
                    </a:solidFill>
                  </a:tcPr>
                </a:tc>
              </a:tr>
              <a:tr h="568960">
                <a:tc>
                  <a:txBody>
                    <a:bodyPr/>
                    <a:lstStyle/>
                    <a:p>
                      <a:r>
                        <a:t>up_mes_down_epi</a:t>
                      </a:r>
                    </a:p>
                  </a:txBody>
                  <a:tcPr/>
                </a:tc>
                <a:tc>
                  <a:txBody>
                    <a:bodyPr/>
                    <a:lstStyle/>
                    <a:p>
                      <a:r>
                        <a:t>308</a:t>
                      </a:r>
                    </a:p>
                  </a:txBody>
                  <a:tcPr/>
                </a:tc>
                <a:tc>
                  <a:txBody>
                    <a:bodyPr/>
                    <a:lstStyle/>
                    <a:p>
                      <a:r>
                        <a:t>308</a:t>
                      </a:r>
                    </a:p>
                  </a:txBody>
                  <a:tcPr/>
                </a:tc>
                <a:tc>
                  <a:txBody>
                    <a:bodyPr/>
                    <a:lstStyle/>
                    <a:p>
                      <a:r>
                        <a:t>#A65628</a:t>
                      </a:r>
                    </a:p>
                  </a:txBody>
                  <a:tcPr>
                    <a:solidFill>
                      <a:srgbClr val="A65628"/>
                    </a:solidFill>
                  </a:tcPr>
                </a:tc>
              </a:tr>
              <a:tr h="568960">
                <a:tc>
                  <a:txBody>
                    <a:bodyPr/>
                    <a:lstStyle/>
                    <a:p>
                      <a:r>
                        <a:t>up_mes_only</a:t>
                      </a:r>
                    </a:p>
                  </a:txBody>
                  <a:tcPr/>
                </a:tc>
                <a:tc>
                  <a:txBody>
                    <a:bodyPr/>
                    <a:lstStyle/>
                    <a:p>
                      <a:r>
                        <a:t>257</a:t>
                      </a:r>
                    </a:p>
                  </a:txBody>
                  <a:tcPr/>
                </a:tc>
                <a:tc>
                  <a:txBody>
                    <a:bodyPr/>
                    <a:lstStyle/>
                    <a:p>
                      <a:r>
                        <a:t>257</a:t>
                      </a:r>
                    </a:p>
                  </a:txBody>
                  <a:tcPr/>
                </a:tc>
                <a:tc>
                  <a:txBody>
                    <a:bodyPr/>
                    <a:lstStyle/>
                    <a:p>
                      <a:r>
                        <a:t>#F781BF</a:t>
                      </a:r>
                    </a:p>
                  </a:txBody>
                  <a:tcPr>
                    <a:solidFill>
                      <a:srgbClr val="F781BF"/>
                    </a:solidFill>
                  </a:tcPr>
                </a:tc>
              </a:tr>
            </a:tbl>
          </a:graphicData>
        </a:graphic>
      </p:graphicFrame>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Overlap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ircosOverlapByGene.png"/>
          <p:cNvPicPr>
            <a:picLocks noChangeAspect="1"/>
          </p:cNvPicPr>
          <p:nvPr/>
        </p:nvPicPr>
        <p:blipFill>
          <a:blip r:embed="rId3"/>
          <a:stretch>
            <a:fillRect/>
          </a:stretch>
        </p:blipFill>
        <p:spPr>
          <a:xfrm>
            <a:off x="3535527" y="1665465"/>
            <a:ext cx="5120640" cy="5120640"/>
          </a:xfrm>
          <a:prstGeom prst="rect">
            <a:avLst/>
          </a:prstGeom>
        </p:spPr>
      </p:pic>
    </p:spTree>
    <p:extLst>
      <p:ext uri="{BB962C8B-B14F-4D97-AF65-F5344CB8AC3E}">
        <p14:creationId xmlns:p14="http://schemas.microsoft.com/office/powerpoint/2010/main" val="30452407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
            </a:r>
            <a:r>
              <a:rPr lang="en-US" sz="2000" b="1" dirty="0" err="1">
                <a:solidFill>
                  <a:srgbClr val="C00000"/>
                </a:solidFill>
                <a:latin typeface="Arial" panose="020B0604020202020204" pitchFamily="34" charset="0"/>
                <a:cs typeface="Arial" panose="020B0604020202020204" pitchFamily="34" charset="0"/>
              </a:rPr>
              <a:t/>
            </a:r>
            <a:endParaRPr lang="en-US" sz="20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Overlap Analysis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Expanded via Shared Enriched Ontologies</a:t>
            </a:r>
          </a:p>
        </p:txBody>
      </p:sp>
      <p:pic>
        <p:nvPicPr>
          <p:cNvPr id="3" name="Picture 2" descr="CircosOverlapByGO.png"/>
          <p:cNvPicPr>
            <a:picLocks noChangeAspect="1"/>
          </p:cNvPicPr>
          <p:nvPr/>
        </p:nvPicPr>
        <p:blipFill>
          <a:blip r:embed="rId3"/>
          <a:stretch>
            <a:fillRect/>
          </a:stretch>
        </p:blipFill>
        <p:spPr>
          <a:xfrm>
            <a:off x="3535527" y="1665465"/>
            <a:ext cx="5120640" cy="5120640"/>
          </a:xfrm>
          <a:prstGeom prst="rect">
            <a:avLst/>
          </a:prstGeom>
        </p:spPr>
      </p:pic>
    </p:spTree>
    <p:extLst>
      <p:ext uri="{BB962C8B-B14F-4D97-AF65-F5344CB8AC3E}">
        <p14:creationId xmlns:p14="http://schemas.microsoft.com/office/powerpoint/2010/main" val="6932698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2055188" y="1665465"/>
            <a:ext cx="8081318" cy="5120640"/>
          </a:xfrm>
          <a:prstGeom prst="rect">
            <a:avLst/>
          </a:prstGeom>
        </p:spPr>
      </p:pic>
    </p:spTree>
    <p:extLst>
      <p:ext uri="{BB962C8B-B14F-4D97-AF65-F5344CB8AC3E}">
        <p14:creationId xmlns:p14="http://schemas.microsoft.com/office/powerpoint/2010/main" val="3330464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716377" y="1665465"/>
            <a:ext cx="10758940" cy="5120640"/>
          </a:xfrm>
          <a:prstGeom prst="rect">
            <a:avLst/>
          </a:prstGeom>
        </p:spPr>
      </p:pic>
    </p:spTree>
    <p:extLst>
      <p:ext uri="{BB962C8B-B14F-4D97-AF65-F5344CB8AC3E}">
        <p14:creationId xmlns:p14="http://schemas.microsoft.com/office/powerpoint/2010/main" val="614239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2157432" y="1665465"/>
            <a:ext cx="7876831" cy="5120640"/>
          </a:xfrm>
          <a:prstGeom prst="rect">
            <a:avLst/>
          </a:prstGeom>
        </p:spPr>
      </p:pic>
    </p:spTree>
    <p:extLst>
      <p:ext uri="{BB962C8B-B14F-4D97-AF65-F5344CB8AC3E}">
        <p14:creationId xmlns:p14="http://schemas.microsoft.com/office/powerpoint/2010/main" val="3490378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Counts 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Counts.png"/>
          <p:cNvPicPr>
            <a:picLocks noChangeAspect="1"/>
          </p:cNvPicPr>
          <p:nvPr/>
        </p:nvPicPr>
        <p:blipFill>
          <a:blip r:embed="rId3"/>
          <a:stretch>
            <a:fillRect/>
          </a:stretch>
        </p:blipFill>
        <p:spPr>
          <a:xfrm>
            <a:off x="1269015" y="1665465"/>
            <a:ext cx="9653665" cy="5120640"/>
          </a:xfrm>
          <a:prstGeom prst="rect">
            <a:avLst/>
          </a:prstGeom>
        </p:spPr>
      </p:pic>
    </p:spTree>
    <p:extLst>
      <p:ext uri="{BB962C8B-B14F-4D97-AF65-F5344CB8AC3E}">
        <p14:creationId xmlns:p14="http://schemas.microsoft.com/office/powerpoint/2010/main" val="2945808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78375" y="1291130"/>
            <a:ext cx="7758754" cy="400110"/>
          </a:xfrm>
          <a:prstGeom prst="rect">
            <a:avLst/>
          </a:prstGeom>
          <a:noFill/>
        </p:spPr>
        <p:txBody>
          <a:bodyPr wrap="square" rtlCol="0">
            <a:spAutoFit/>
          </a:bodyPr>
          <a:lstStyle/>
          <a:p>
            <a:r>
              <a:t>Gene List: down_common_genes</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common_genes_PPIColorByCluster.png"/>
          <p:cNvPicPr>
            <a:picLocks noChangeAspect="1"/>
          </p:cNvPicPr>
          <p:nvPr/>
        </p:nvPicPr>
        <p:blipFill>
          <a:blip r:embed="rId3"/>
          <a:stretch>
            <a:fillRect/>
          </a:stretch>
        </p:blipFill>
        <p:spPr>
          <a:xfrm>
            <a:off x="1625781" y="1665465"/>
            <a:ext cx="8940133" cy="5120640"/>
          </a:xfrm>
          <a:prstGeom prst="rect">
            <a:avLst/>
          </a:prstGeom>
        </p:spPr>
      </p:pic>
    </p:spTree>
    <p:extLst>
      <p:ext uri="{BB962C8B-B14F-4D97-AF65-F5344CB8AC3E}">
        <p14:creationId xmlns:p14="http://schemas.microsoft.com/office/powerpoint/2010/main" val="1277164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down_common_genes</a:t>
            </a:r>
          </a:p>
        </p:txBody>
      </p:sp>
      <p:pic>
        <p:nvPicPr>
          <p:cNvPr id="4" name="Picture 3" descr="down_common_genes_MCODE_ALL_PPIColorByCluster.png"/>
          <p:cNvPicPr>
            <a:picLocks noChangeAspect="1"/>
          </p:cNvPicPr>
          <p:nvPr/>
        </p:nvPicPr>
        <p:blipFill>
          <a:blip r:embed="rId3"/>
          <a:stretch>
            <a:fillRect/>
          </a:stretch>
        </p:blipFill>
        <p:spPr>
          <a:xfrm>
            <a:off x="2458234" y="1665465"/>
            <a:ext cx="7275226" cy="5120640"/>
          </a:xfrm>
          <a:prstGeom prst="rect">
            <a:avLst/>
          </a:prstGeom>
        </p:spPr>
      </p:pic>
    </p:spTree>
    <p:extLst>
      <p:ext uri="{BB962C8B-B14F-4D97-AF65-F5344CB8AC3E}">
        <p14:creationId xmlns:p14="http://schemas.microsoft.com/office/powerpoint/2010/main" val="2358684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down_common_genes</a:t>
            </a:r>
          </a:p>
        </p:txBody>
      </p:sp>
      <p:graphicFrame>
        <p:nvGraphicFramePr>
          <p:cNvPr id="4" name="Table 3"/>
          <p:cNvGraphicFramePr>
            <a:graphicFrameLocks noGrp="1"/>
          </p:cNvGraphicFramePr>
          <p:nvPr/>
        </p:nvGraphicFramePr>
        <p:xfrm>
          <a:off x="640080" y="1665465"/>
          <a:ext cx="10911535" cy="444500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853440">
                <a:tc>
                  <a:txBody>
                    <a:bodyPr/>
                    <a:lstStyle/>
                    <a:p>
                      <a:r>
                        <a:t>down_common_genes</a:t>
                      </a:r>
                    </a:p>
                  </a:txBody>
                  <a:tcPr/>
                </a:tc>
                <a:tc>
                  <a:txBody>
                    <a:bodyPr/>
                    <a:lstStyle/>
                    <a:p>
                      <a:r>
                        <a:t>GO:0007167|enzyme-linked receptor protein signaling pathway|-10.7;GO:0071363|cellular response to growth factor stimulus|-8.5;GO:0070848|response to growth factor|-8.1</a:t>
                      </a:r>
                    </a:p>
                  </a:txBody>
                  <a:tcPr/>
                </a:tc>
              </a:tr>
              <a:tr h="853440">
                <a:tc>
                  <a:txBody>
                    <a:bodyPr/>
                    <a:lstStyle/>
                    <a:p>
                      <a:r>
                        <a:t>down_common_genes_MCODE_ALL</a:t>
                      </a:r>
                    </a:p>
                  </a:txBody>
                  <a:tcPr/>
                </a:tc>
                <a:tc>
                  <a:txBody>
                    <a:bodyPr/>
                    <a:lstStyle/>
                    <a:p>
                      <a:r>
                        <a:t>WP437|EGF EGFR signaling pathway|-8.9;hsa01521|EGFR tyrosine kinase inhibitor resistance|-8.6;WP4806|EGFR tyrosine kinase inhibitor resistance|-8.4</a:t>
                      </a:r>
                    </a:p>
                  </a:txBody>
                  <a:tcPr/>
                </a:tc>
              </a:tr>
              <a:tr h="853440">
                <a:tc>
                  <a:txBody>
                    <a:bodyPr/>
                    <a:lstStyle/>
                    <a:p>
                      <a:r>
                        <a:t>down_common_genes_SUB1_MCODE_1</a:t>
                      </a:r>
                    </a:p>
                  </a:txBody>
                  <a:tcPr/>
                </a:tc>
                <a:tc>
                  <a:txBody>
                    <a:bodyPr/>
                    <a:lstStyle/>
                    <a:p>
                      <a:r>
                        <a:t>hsa01521|EGFR tyrosine kinase inhibitor resistance|-11.2;WP4806|EGFR tyrosine kinase inhibitor resistance|-11.1;WP437|EGF EGFR signaling pathway|-9.7</a:t>
                      </a:r>
                    </a:p>
                  </a:txBody>
                  <a:tcPr/>
                </a:tc>
              </a:tr>
              <a:tr h="853440">
                <a:tc>
                  <a:txBody>
                    <a:bodyPr/>
                    <a:lstStyle/>
                    <a:p>
                      <a:r>
                        <a:t>down_common_genes_SUB1_MCODE_2</a:t>
                      </a:r>
                    </a:p>
                  </a:txBody>
                  <a:tcPr/>
                </a:tc>
                <a:tc>
                  <a:txBody>
                    <a:bodyPr/>
                    <a:lstStyle/>
                    <a:p>
                      <a:r>
                        <a:t>R-HSA-72702|Ribosomal scanning and start codon recognition|-9.7;R-HSA-72649|Translation initiation complex formation|-9.7;R-HSA-72662|Activation of the mRNA upon binding of the cap-binding complex and eIFs, and subsequent binding to 43S|-9.7</a:t>
                      </a:r>
                    </a:p>
                  </a:txBody>
                  <a:tcPr/>
                </a:tc>
              </a:tr>
              <a:tr h="853440">
                <a:tc>
                  <a:txBody>
                    <a:bodyPr/>
                    <a:lstStyle/>
                    <a:p>
                      <a:r>
                        <a:t>down_common_genes_SUB1_MCODE_4</a:t>
                      </a:r>
                    </a:p>
                  </a:txBody>
                  <a:tcPr/>
                </a:tc>
                <a:tc>
                  <a:txBody>
                    <a:bodyPr/>
                    <a:lstStyle/>
                    <a:p>
                      <a:r>
                        <a:t>hsa03020|RNA polymerase|-8.9;GO:0006354|DNA-templated transcription elongation|-8.4;GO:0006351|DNA-templated transcription|-5.3</a:t>
                      </a:r>
                    </a:p>
                  </a:txBody>
                  <a:tcPr/>
                </a:tc>
              </a:tr>
            </a:tbl>
          </a:graphicData>
        </a:graphic>
      </p:graphicFrame>
    </p:spTree>
    <p:extLst>
      <p:ext uri="{BB962C8B-B14F-4D97-AF65-F5344CB8AC3E}">
        <p14:creationId xmlns:p14="http://schemas.microsoft.com/office/powerpoint/2010/main" val="3323729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Network for Lists Merged</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Origin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in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Studies </a:t>
            </a:r>
            <a:endPar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7997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for Lists Merged</a:t>
            </a:r>
            <a:br>
              <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MCODE ID</a:t>
            </a:r>
          </a:p>
        </p:txBody>
      </p:sp>
    </p:spTree>
    <p:extLst>
      <p:ext uri="{BB962C8B-B14F-4D97-AF65-F5344CB8AC3E}">
        <p14:creationId xmlns:p14="http://schemas.microsoft.com/office/powerpoint/2010/main" val="2875820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524000" y="374650"/>
            <a:ext cx="8847740" cy="45878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000" b="1" dirty="0">
                <a:ln w="3175" cap="rnd">
                  <a:solidFill>
                    <a:schemeClr val="accent1">
                      <a:lumMod val="20000"/>
                      <a:lumOff val="80000"/>
                    </a:schemeClr>
                  </a:solidFill>
                  <a:round/>
                </a:ln>
                <a:solidFill>
                  <a:schemeClr val="bg1"/>
                </a:solidFill>
                <a:effectLst>
                  <a:glow rad="101600">
                    <a:schemeClr val="tx2">
                      <a:alpha val="60000"/>
                    </a:schemeClr>
                  </a:glow>
                </a:effectLst>
                <a:latin typeface="Arial" panose="020B0604020202020204" pitchFamily="34" charset="0"/>
                <a:cs typeface="Arial" panose="020B0604020202020204" pitchFamily="34" charset="0"/>
              </a:rPr>
              <a:t>Protein-protein Interaction Network</a:t>
            </a:r>
          </a:p>
        </p:txBody>
      </p:sp>
    </p:spTree>
    <p:extLst>
      <p:ext uri="{BB962C8B-B14F-4D97-AF65-F5344CB8AC3E}">
        <p14:creationId xmlns:p14="http://schemas.microsoft.com/office/powerpoint/2010/main" val="1528487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MCODE for Lists Merged</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Origin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in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Studies</a:t>
            </a:r>
            <a:endPar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1482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Autofit/>
          </a:bodyPr>
          <a:lstStyle/>
          <a:p>
            <a:pPr algn="l"/>
            <a:r>
              <a:rPr lang="en-US" sz="40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sz="40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200" b="1" dirty="0">
                <a:ln w="3175" cap="rnd">
                  <a:solidFill>
                    <a:schemeClr val="accent1">
                      <a:lumMod val="20000"/>
                      <a:lumOff val="80000"/>
                    </a:schemeClr>
                  </a:solidFill>
                  <a:round/>
                </a:ln>
                <a:latin typeface="Arial" panose="020B0604020202020204" pitchFamily="34" charset="0"/>
                <a:cs typeface="Arial" panose="020B0604020202020204" pitchFamily="34" charset="0"/>
              </a:rPr>
              <a:t>MCODE Components for Lists Merged</a:t>
            </a:r>
          </a:p>
        </p:txBody>
      </p:sp>
    </p:spTree>
    <p:extLst>
      <p:ext uri="{BB962C8B-B14F-4D97-AF65-F5344CB8AC3E}">
        <p14:creationId xmlns:p14="http://schemas.microsoft.com/office/powerpoint/2010/main" val="802182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up_mes_only</a:t>
            </a:r>
          </a:p>
        </p:txBody>
      </p:sp>
      <p:graphicFrame>
        <p:nvGraphicFramePr>
          <p:cNvPr id="4" name="Table 3"/>
          <p:cNvGraphicFramePr>
            <a:graphicFrameLocks noGrp="1"/>
          </p:cNvGraphicFramePr>
          <p:nvPr/>
        </p:nvGraphicFramePr>
        <p:xfrm>
          <a:off x="640080" y="1665465"/>
          <a:ext cx="10911535" cy="465836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640080">
                <a:tc>
                  <a:txBody>
                    <a:bodyPr/>
                    <a:lstStyle/>
                    <a:p>
                      <a:r>
                        <a:t>up_mes_only</a:t>
                      </a:r>
                    </a:p>
                  </a:txBody>
                  <a:tcPr/>
                </a:tc>
                <a:tc>
                  <a:txBody>
                    <a:bodyPr/>
                    <a:lstStyle/>
                    <a:p>
                      <a:r>
                        <a:t>M5913|HALLMARK INTERFERON GAMMA RESPONSE|-13.6;GO:0006886|intracellular protein transport|-11.5;GO:0009615|response to virus|-11.1</a:t>
                      </a:r>
                    </a:p>
                  </a:txBody>
                  <a:tcPr/>
                </a:tc>
              </a:tr>
              <a:tr h="640080">
                <a:tc>
                  <a:txBody>
                    <a:bodyPr/>
                    <a:lstStyle/>
                    <a:p>
                      <a:r>
                        <a:t>up_mes_only_MCODE_ALL</a:t>
                      </a:r>
                    </a:p>
                  </a:txBody>
                  <a:tcPr/>
                </a:tc>
                <a:tc>
                  <a:txBody>
                    <a:bodyPr/>
                    <a:lstStyle/>
                    <a:p>
                      <a:r>
                        <a:t>GO:0048193|Golgi vesicle transport|-10.6;R-HSA-8953854|Metabolism of RNA|-9.5;R-HSA-6811434|COPI-dependent Golgi-to-ER retrograde traffic|-8.8</a:t>
                      </a:r>
                    </a:p>
                  </a:txBody>
                  <a:tcPr/>
                </a:tc>
              </a:tr>
              <a:tr h="640080">
                <a:tc>
                  <a:txBody>
                    <a:bodyPr/>
                    <a:lstStyle/>
                    <a:p>
                      <a:r>
                        <a:t>up_mes_only_SUB1_MCODE_1</a:t>
                      </a:r>
                    </a:p>
                  </a:txBody>
                  <a:tcPr/>
                </a:tc>
                <a:tc>
                  <a:txBody>
                    <a:bodyPr/>
                    <a:lstStyle/>
                    <a:p>
                      <a:r>
                        <a:t>R-HSA-72163|mRNA Splicing - Major Pathway|-11.7;R-HSA-72172|mRNA Splicing|-11.6;R-HSA-72203|Processing of Capped Intron-Containing Pre-mRNA|-10.7</a:t>
                      </a:r>
                    </a:p>
                  </a:txBody>
                  <a:tcPr/>
                </a:tc>
              </a:tr>
              <a:tr h="640080">
                <a:tc>
                  <a:txBody>
                    <a:bodyPr/>
                    <a:lstStyle/>
                    <a:p>
                      <a:r>
                        <a:t>up_mes_only_SUB1_MCODE_2</a:t>
                      </a:r>
                    </a:p>
                  </a:txBody>
                  <a:tcPr/>
                </a:tc>
                <a:tc>
                  <a:txBody>
                    <a:bodyPr/>
                    <a:lstStyle/>
                    <a:p>
                      <a:r>
                        <a:t>R-HSA-6811434|COPI-dependent Golgi-to-ER retrograde traffic|-15.0;R-HSA-8856688|Golgi-to-ER retrograde transport|-14.2;R-HSA-6811442|Intra-Golgi and retrograde Golgi-to-ER traffic|-13.1</a:t>
                      </a:r>
                    </a:p>
                  </a:txBody>
                  <a:tcPr/>
                </a:tc>
              </a:tr>
              <a:tr h="640080">
                <a:tc>
                  <a:txBody>
                    <a:bodyPr/>
                    <a:lstStyle/>
                    <a:p>
                      <a:r>
                        <a:t>up_mes_only_SUB1_MCODE_3</a:t>
                      </a:r>
                    </a:p>
                  </a:txBody>
                  <a:tcPr/>
                </a:tc>
                <a:tc>
                  <a:txBody>
                    <a:bodyPr/>
                    <a:lstStyle/>
                    <a:p>
                      <a:r>
                        <a:t>WP2447|Amyotrophic lateral sclerosis ALS|-7.4;hsa05417|Lipid and atherosclerosis|-7.4;hsa05014|Amyotrophic lateral sclerosis|-6.5</a:t>
                      </a:r>
                    </a:p>
                  </a:txBody>
                  <a:tcPr/>
                </a:tc>
              </a:tr>
              <a:tr h="640080">
                <a:tc>
                  <a:txBody>
                    <a:bodyPr/>
                    <a:lstStyle/>
                    <a:p>
                      <a:r>
                        <a:t>up_mes_only_SUB1_MCODE_5</a:t>
                      </a:r>
                    </a:p>
                  </a:txBody>
                  <a:tcPr/>
                </a:tc>
                <a:tc>
                  <a:txBody>
                    <a:bodyPr/>
                    <a:lstStyle/>
                    <a:p>
                      <a:r>
                        <a:t>GO:0048193|Golgi vesicle transport|-6.1</a:t>
                      </a:r>
                    </a:p>
                  </a:txBody>
                  <a:tcPr/>
                </a:tc>
              </a:tr>
              <a:tr h="640080">
                <a:tc>
                  <a:txBody>
                    <a:bodyPr/>
                    <a:lstStyle/>
                    <a:p>
                      <a:r>
                        <a:t>up_mes_only_SUB1_MCODE_6</a:t>
                      </a:r>
                    </a:p>
                  </a:txBody>
                  <a:tcPr/>
                </a:tc>
                <a:tc>
                  <a:txBody>
                    <a:bodyPr/>
                    <a:lstStyle/>
                    <a:p>
                      <a:r>
                        <a:t>GO:0042274|ribosomal small subunit biogenesis|-7.4;GO:0042254|ribosome biogenesis|-6.0;GO:0022613|ribonucleoprotein complex biogenesis|-5.4</a:t>
                      </a:r>
                    </a:p>
                  </a:txBody>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up_mes_only</a:t>
            </a:r>
          </a:p>
        </p:txBody>
      </p:sp>
      <p:pic>
        <p:nvPicPr>
          <p:cNvPr id="4" name="Picture 3" descr="up_mes_only_MCODE_ALL_PPIColorByCluster.png"/>
          <p:cNvPicPr>
            <a:picLocks noChangeAspect="1"/>
          </p:cNvPicPr>
          <p:nvPr/>
        </p:nvPicPr>
        <p:blipFill>
          <a:blip r:embed="rId2"/>
          <a:stretch>
            <a:fillRect/>
          </a:stretch>
        </p:blipFill>
        <p:spPr>
          <a:xfrm>
            <a:off x="640080" y="1717229"/>
            <a:ext cx="10911535" cy="501711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up_mes_only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mes_only_PPIColorByCluster.png"/>
          <p:cNvPicPr>
            <a:picLocks noChangeAspect="1"/>
          </p:cNvPicPr>
          <p:nvPr/>
        </p:nvPicPr>
        <p:blipFill>
          <a:blip r:embed="rId2"/>
          <a:stretch>
            <a:fillRect/>
          </a:stretch>
        </p:blipFill>
        <p:spPr>
          <a:xfrm>
            <a:off x="1359955" y="1665465"/>
            <a:ext cx="9471784" cy="512064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up_mes_down_epi</a:t>
            </a:r>
          </a:p>
        </p:txBody>
      </p:sp>
      <p:graphicFrame>
        <p:nvGraphicFramePr>
          <p:cNvPr id="4" name="Table 3"/>
          <p:cNvGraphicFramePr>
            <a:graphicFrameLocks noGrp="1"/>
          </p:cNvGraphicFramePr>
          <p:nvPr/>
        </p:nvGraphicFramePr>
        <p:xfrm>
          <a:off x="640080" y="1665465"/>
          <a:ext cx="10911535" cy="4786376"/>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512064">
                <a:tc>
                  <a:txBody>
                    <a:bodyPr/>
                    <a:lstStyle/>
                    <a:p>
                      <a:r>
                        <a:t>up_mes_down_epi</a:t>
                      </a:r>
                    </a:p>
                  </a:txBody>
                  <a:tcPr/>
                </a:tc>
                <a:tc>
                  <a:txBody>
                    <a:bodyPr/>
                    <a:lstStyle/>
                    <a:p>
                      <a:r>
                        <a:t>M5924|HALLMARK MTORC1 SIGNALING|-38.5;WP4718|Cholesterol metabolism with Bloch and Kandutsch Russell pathways|-28.4;R-HSA-191273|Cholesterol biosynthesis|-25.9</a:t>
                      </a:r>
                    </a:p>
                  </a:txBody>
                  <a:tcPr/>
                </a:tc>
              </a:tr>
              <a:tr h="512064">
                <a:tc>
                  <a:txBody>
                    <a:bodyPr/>
                    <a:lstStyle/>
                    <a:p>
                      <a:r>
                        <a:t>up_mes_down_epi_MCODE_ALL</a:t>
                      </a:r>
                    </a:p>
                  </a:txBody>
                  <a:tcPr/>
                </a:tc>
                <a:tc>
                  <a:txBody>
                    <a:bodyPr/>
                    <a:lstStyle/>
                    <a:p>
                      <a:r>
                        <a:t>GO:0006457|protein folding|-18.8;M5924|HALLMARK MTORC1 SIGNALING|-18.0;WP197|Cholesterol biosynthesis pathway|-16.6</a:t>
                      </a:r>
                    </a:p>
                  </a:txBody>
                  <a:tcPr/>
                </a:tc>
              </a:tr>
              <a:tr h="512064">
                <a:tc>
                  <a:txBody>
                    <a:bodyPr/>
                    <a:lstStyle/>
                    <a:p>
                      <a:r>
                        <a:t>up_mes_down_epi_SUB1_MCODE_1</a:t>
                      </a:r>
                    </a:p>
                  </a:txBody>
                  <a:tcPr/>
                </a:tc>
                <a:tc>
                  <a:txBody>
                    <a:bodyPr/>
                    <a:lstStyle/>
                    <a:p>
                      <a:r>
                        <a:t>M5926|HALLMARK MYC TARGETS V1|-8.6;GO:0006888|endoplasmic reticulum to Golgi vesicle-mediated transport|-7.8;R-HSA-446203|Asparagine N-linked glycosylation|-7.5</a:t>
                      </a:r>
                    </a:p>
                  </a:txBody>
                  <a:tcPr/>
                </a:tc>
              </a:tr>
              <a:tr h="512064">
                <a:tc>
                  <a:txBody>
                    <a:bodyPr/>
                    <a:lstStyle/>
                    <a:p>
                      <a:r>
                        <a:t>up_mes_down_epi_SUB1_MCODE_2</a:t>
                      </a:r>
                    </a:p>
                  </a:txBody>
                  <a:tcPr/>
                </a:tc>
                <a:tc>
                  <a:txBody>
                    <a:bodyPr/>
                    <a:lstStyle/>
                    <a:p>
                      <a:r>
                        <a:t>GO:0006457|protein folding|-8.8;GO:0034976|response to endoplasmic reticulum stress|-6.9;GO:0051604|protein maturation|-6.7</a:t>
                      </a:r>
                    </a:p>
                  </a:txBody>
                  <a:tcPr/>
                </a:tc>
              </a:tr>
              <a:tr h="512064">
                <a:tc>
                  <a:txBody>
                    <a:bodyPr/>
                    <a:lstStyle/>
                    <a:p>
                      <a:r>
                        <a:t>up_mes_down_epi_SUB1_MCODE_3</a:t>
                      </a:r>
                    </a:p>
                  </a:txBody>
                  <a:tcPr/>
                </a:tc>
                <a:tc>
                  <a:txBody>
                    <a:bodyPr/>
                    <a:lstStyle/>
                    <a:p>
                      <a:r>
                        <a:t>R-HSA-5389840|Mitochondrial translation elongation|-19.4;R-HSA-5368287|Mitochondrial translation|-19.1;GO:0032543|mitochondrial translation|-18.4</a:t>
                      </a:r>
                    </a:p>
                  </a:txBody>
                  <a:tcPr/>
                </a:tc>
              </a:tr>
              <a:tr h="512064">
                <a:tc>
                  <a:txBody>
                    <a:bodyPr/>
                    <a:lstStyle/>
                    <a:p>
                      <a:r>
                        <a:t>up_mes_down_epi_SUB1_MCODE_4</a:t>
                      </a:r>
                    </a:p>
                  </a:txBody>
                  <a:tcPr/>
                </a:tc>
                <a:tc>
                  <a:txBody>
                    <a:bodyPr/>
                    <a:lstStyle/>
                    <a:p>
                      <a:r>
                        <a:t>R-HSA-163200|Respiratory electron transport, ATP synthesis by chemiosmotic coupling, and heat production by uncoupling proteins.|-6.4;GO:1902600|proton transmembrane transport|-6.3;GO:0046034|ATP metabolic process|-6.1</a:t>
                      </a:r>
                    </a:p>
                  </a:txBody>
                  <a:tcPr/>
                </a:tc>
              </a:tr>
              <a:tr h="512064">
                <a:tc>
                  <a:txBody>
                    <a:bodyPr/>
                    <a:lstStyle/>
                    <a:p>
                      <a:r>
                        <a:t>up_mes_down_epi_SUB1_MCODE_5</a:t>
                      </a:r>
                    </a:p>
                  </a:txBody>
                  <a:tcPr/>
                </a:tc>
                <a:tc>
                  <a:txBody>
                    <a:bodyPr/>
                    <a:lstStyle/>
                    <a:p>
                      <a:r>
                        <a:t>GO:1902653|secondary alcohol biosynthetic process|-8.9;GO:0006695|cholesterol biosynthetic process|-8.9;GO:0016126|sterol biosynthetic process|-8.6</a:t>
                      </a:r>
                    </a:p>
                  </a:txBody>
                  <a:tcPr/>
                </a:tc>
              </a:tr>
              <a:tr h="512064">
                <a:tc>
                  <a:txBody>
                    <a:bodyPr/>
                    <a:lstStyle/>
                    <a:p>
                      <a:r>
                        <a:t>up_mes_down_epi_SUB1_MCODE_6</a:t>
                      </a:r>
                    </a:p>
                  </a:txBody>
                  <a:tcPr/>
                </a:tc>
                <a:tc>
                  <a:txBody>
                    <a:bodyPr/>
                    <a:lstStyle/>
                    <a:p>
                      <a:r>
                        <a:t>GO:0098761|cellular response to interleukin-7|-8.6;GO:0098760|response to interleukin-7|-8.5;GO:0090407|organophosphate biosynthetic process|-5.5</a:t>
                      </a:r>
                    </a:p>
                  </a:txBody>
                  <a:tcPr/>
                </a:tc>
              </a:tr>
              <a:tr h="512064">
                <a:tc>
                  <a:txBody>
                    <a:bodyPr/>
                    <a:lstStyle/>
                    <a:p>
                      <a:r>
                        <a:t>up_mes_down_epi_SUB1_MCODE_7</a:t>
                      </a:r>
                    </a:p>
                  </a:txBody>
                  <a:tcPr/>
                </a:tc>
                <a:tc>
                  <a:txBody>
                    <a:bodyPr/>
                    <a:lstStyle/>
                    <a:p>
                      <a:r>
                        <a:t>WP197|Cholesterol biosynthesis pathway|-13.4;WP5193|Cholesterol synthesis disorders|-13.1;hsa00100|Steroid biosynthesis|-12.9</a:t>
                      </a:r>
                    </a:p>
                  </a:txBody>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up_mes_down_epi</a:t>
            </a:r>
          </a:p>
        </p:txBody>
      </p:sp>
      <p:pic>
        <p:nvPicPr>
          <p:cNvPr id="4" name="Picture 3" descr="up_mes_down_epi_MCODE_ALL_PPIColorByCluster.png"/>
          <p:cNvPicPr>
            <a:picLocks noChangeAspect="1"/>
          </p:cNvPicPr>
          <p:nvPr/>
        </p:nvPicPr>
        <p:blipFill>
          <a:blip r:embed="rId2"/>
          <a:stretch>
            <a:fillRect/>
          </a:stretch>
        </p:blipFill>
        <p:spPr>
          <a:xfrm>
            <a:off x="765345" y="1665465"/>
            <a:ext cx="10661004" cy="512064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up_mes_down_epi</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mes_down_epi_PPIColorByCluster.png"/>
          <p:cNvPicPr>
            <a:picLocks noChangeAspect="1"/>
          </p:cNvPicPr>
          <p:nvPr/>
        </p:nvPicPr>
        <p:blipFill>
          <a:blip r:embed="rId2"/>
          <a:stretch>
            <a:fillRect/>
          </a:stretch>
        </p:blipFill>
        <p:spPr>
          <a:xfrm>
            <a:off x="1835643" y="1665465"/>
            <a:ext cx="8520409" cy="512064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up_epi_only</a:t>
            </a:r>
          </a:p>
        </p:txBody>
      </p:sp>
      <p:graphicFrame>
        <p:nvGraphicFramePr>
          <p:cNvPr id="4" name="Table 3"/>
          <p:cNvGraphicFramePr>
            <a:graphicFrameLocks noGrp="1"/>
          </p:cNvGraphicFramePr>
          <p:nvPr/>
        </p:nvGraphicFramePr>
        <p:xfrm>
          <a:off x="640080" y="1665465"/>
          <a:ext cx="10911535" cy="465836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640080">
                <a:tc>
                  <a:txBody>
                    <a:bodyPr/>
                    <a:lstStyle/>
                    <a:p>
                      <a:r>
                        <a:t>up_epi_only</a:t>
                      </a:r>
                    </a:p>
                  </a:txBody>
                  <a:tcPr/>
                </a:tc>
                <a:tc>
                  <a:txBody>
                    <a:bodyPr/>
                    <a:lstStyle/>
                    <a:p>
                      <a:r>
                        <a:t>hsa05132|Salmonella infection|-16.3;GO:0007264|small GTPase-mediated signal transduction|-12.4;GO:0030029|actin filament-based process|-12.4</a:t>
                      </a:r>
                    </a:p>
                  </a:txBody>
                  <a:tcPr/>
                </a:tc>
              </a:tr>
              <a:tr h="640080">
                <a:tc>
                  <a:txBody>
                    <a:bodyPr/>
                    <a:lstStyle/>
                    <a:p>
                      <a:r>
                        <a:t>up_epi_only_MCODE_ALL</a:t>
                      </a:r>
                    </a:p>
                  </a:txBody>
                  <a:tcPr/>
                </a:tc>
                <a:tc>
                  <a:txBody>
                    <a:bodyPr/>
                    <a:lstStyle/>
                    <a:p>
                      <a:r>
                        <a:t>hsa04071|Sphingolipid signaling pathway|-10.5;hsa04728|Dopaminergic synapse|-10.2;M55|PID S1P S1P3 PATHWAY|-10.0</a:t>
                      </a:r>
                    </a:p>
                  </a:txBody>
                  <a:tcPr/>
                </a:tc>
              </a:tr>
              <a:tr h="640080">
                <a:tc>
                  <a:txBody>
                    <a:bodyPr/>
                    <a:lstStyle/>
                    <a:p>
                      <a:r>
                        <a:t>up_epi_only_SUB1_MCODE_1</a:t>
                      </a:r>
                    </a:p>
                  </a:txBody>
                  <a:tcPr/>
                </a:tc>
                <a:tc>
                  <a:txBody>
                    <a:bodyPr/>
                    <a:lstStyle/>
                    <a:p>
                      <a:r>
                        <a:t>R-HSA-388396|GPCR downstream signalling|-13.0;hsa04071|Sphingolipid signaling pathway|-12.8;hsa04728|Dopaminergic synapse|-12.6</a:t>
                      </a:r>
                    </a:p>
                  </a:txBody>
                  <a:tcPr/>
                </a:tc>
              </a:tr>
              <a:tr h="640080">
                <a:tc>
                  <a:txBody>
                    <a:bodyPr/>
                    <a:lstStyle/>
                    <a:p>
                      <a:r>
                        <a:t>up_epi_only_SUB1_MCODE_2</a:t>
                      </a:r>
                    </a:p>
                  </a:txBody>
                  <a:tcPr/>
                </a:tc>
                <a:tc>
                  <a:txBody>
                    <a:bodyPr/>
                    <a:lstStyle/>
                    <a:p>
                      <a:r>
                        <a:t>hsa03022|Basal transcription factors|-7.5;GO:0006352|DNA-templated transcription initiation|-5.9;GO:0006366|transcription by RNA polymerase II|-4.7</a:t>
                      </a:r>
                    </a:p>
                  </a:txBody>
                  <a:tcPr/>
                </a:tc>
              </a:tr>
              <a:tr h="640080">
                <a:tc>
                  <a:txBody>
                    <a:bodyPr/>
                    <a:lstStyle/>
                    <a:p>
                      <a:r>
                        <a:t>up_epi_only_SUB1_MCODE_3</a:t>
                      </a:r>
                    </a:p>
                  </a:txBody>
                  <a:tcPr/>
                </a:tc>
                <a:tc>
                  <a:txBody>
                    <a:bodyPr/>
                    <a:lstStyle/>
                    <a:p>
                      <a:r>
                        <a:t>GO:0008380|RNA splicing|-7.5;GO:0006397|mRNA processing|-7.2;GO:0016071|mRNA metabolic process|-6.7</a:t>
                      </a:r>
                    </a:p>
                  </a:txBody>
                  <a:tcPr/>
                </a:tc>
              </a:tr>
              <a:tr h="640080">
                <a:tc>
                  <a:txBody>
                    <a:bodyPr/>
                    <a:lstStyle/>
                    <a:p>
                      <a:r>
                        <a:t>up_epi_only_SUB1_MCODE_4</a:t>
                      </a:r>
                    </a:p>
                  </a:txBody>
                  <a:tcPr/>
                </a:tc>
                <a:tc>
                  <a:txBody>
                    <a:bodyPr/>
                    <a:lstStyle/>
                    <a:p>
                      <a:r>
                        <a:t>R-HSA-983189|Kinesins|-8.2;R-HSA-6811434|COPI-dependent Golgi-to-ER retrograde traffic|-7.5;R-HSA-2132295|MHC class II antigen presentation|-7.2</a:t>
                      </a:r>
                    </a:p>
                  </a:txBody>
                  <a:tcPr/>
                </a:tc>
              </a:tr>
              <a:tr h="640080">
                <a:tc>
                  <a:txBody>
                    <a:bodyPr/>
                    <a:lstStyle/>
                    <a:p>
                      <a:r>
                        <a:t>up_epi_only_SUB1_MCODE_5</a:t>
                      </a:r>
                    </a:p>
                  </a:txBody>
                  <a:tcPr/>
                </a:tc>
                <a:tc>
                  <a:txBody>
                    <a:bodyPr/>
                    <a:lstStyle/>
                    <a:p>
                      <a:r>
                        <a:t>R-HSA-8951664|Neddylation|-6.3</a:t>
                      </a:r>
                    </a:p>
                  </a:txBody>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up_epi_only</a:t>
            </a:r>
          </a:p>
        </p:txBody>
      </p:sp>
      <p:pic>
        <p:nvPicPr>
          <p:cNvPr id="4" name="Picture 3" descr="up_epi_only_MCODE_ALL_PPIColorByCluster.png"/>
          <p:cNvPicPr>
            <a:picLocks noChangeAspect="1"/>
          </p:cNvPicPr>
          <p:nvPr/>
        </p:nvPicPr>
        <p:blipFill>
          <a:blip r:embed="rId2"/>
          <a:stretch>
            <a:fillRect/>
          </a:stretch>
        </p:blipFill>
        <p:spPr>
          <a:xfrm>
            <a:off x="1709726" y="1665465"/>
            <a:ext cx="8772243" cy="512064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up_epi_only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epi_only_PPIColorByCluster.png"/>
          <p:cNvPicPr>
            <a:picLocks noChangeAspect="1"/>
          </p:cNvPicPr>
          <p:nvPr/>
        </p:nvPicPr>
        <p:blipFill>
          <a:blip r:embed="rId2"/>
          <a:stretch>
            <a:fillRect/>
          </a:stretch>
        </p:blipFill>
        <p:spPr>
          <a:xfrm>
            <a:off x="1178074" y="1665465"/>
            <a:ext cx="9835546" cy="512064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up_common_genes</a:t>
            </a:r>
          </a:p>
        </p:txBody>
      </p:sp>
      <p:graphicFrame>
        <p:nvGraphicFramePr>
          <p:cNvPr id="4" name="Table 3"/>
          <p:cNvGraphicFramePr>
            <a:graphicFrameLocks noGrp="1"/>
          </p:cNvGraphicFramePr>
          <p:nvPr/>
        </p:nvGraphicFramePr>
        <p:xfrm>
          <a:off x="640080" y="1665465"/>
          <a:ext cx="10911535" cy="45669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731520">
                <a:tc>
                  <a:txBody>
                    <a:bodyPr/>
                    <a:lstStyle/>
                    <a:p>
                      <a:r>
                        <a:t>up_common_genes</a:t>
                      </a:r>
                    </a:p>
                  </a:txBody>
                  <a:tcPr/>
                </a:tc>
                <a:tc>
                  <a:txBody>
                    <a:bodyPr/>
                    <a:lstStyle/>
                    <a:p>
                      <a:r>
                        <a:t>R-HSA-1280215|Cytokine Signaling in Immune system|-54.8;M5890|HALLMARK TNFA SIGNALING VIA NFKB|-40.0;R-HSA-449147|Signaling by Interleukins|-38.8</a:t>
                      </a:r>
                    </a:p>
                  </a:txBody>
                  <a:tcPr/>
                </a:tc>
              </a:tr>
              <a:tr h="731520">
                <a:tc>
                  <a:txBody>
                    <a:bodyPr/>
                    <a:lstStyle/>
                    <a:p>
                      <a:r>
                        <a:t>up_common_genes_MCODE_ALL</a:t>
                      </a:r>
                    </a:p>
                  </a:txBody>
                  <a:tcPr/>
                </a:tc>
                <a:tc>
                  <a:txBody>
                    <a:bodyPr/>
                    <a:lstStyle/>
                    <a:p>
                      <a:r>
                        <a:t>R-HSA-1236974|ER-Phagosome pathway|-45.8;hsa05169|Epstein-Barr virus infection|-44.5;R-HSA-5668541|TNFR2 non-canonical NF-kB pathway|-44.4</a:t>
                      </a:r>
                    </a:p>
                  </a:txBody>
                  <a:tcPr/>
                </a:tc>
              </a:tr>
              <a:tr h="731520">
                <a:tc>
                  <a:txBody>
                    <a:bodyPr/>
                    <a:lstStyle/>
                    <a:p>
                      <a:r>
                        <a:t>up_common_genes_SUB1_MCODE_1</a:t>
                      </a:r>
                    </a:p>
                  </a:txBody>
                  <a:tcPr/>
                </a:tc>
                <a:tc>
                  <a:txBody>
                    <a:bodyPr/>
                    <a:lstStyle/>
                    <a:p>
                      <a:r>
                        <a:t>R-HSA-5668541|TNFR2 non-canonical NF-kB pathway|-50.6;R-HSA-1169091|Activation of NF-kappaB in B cells|-48.5;R-HSA-5676590|NIK--&gt;noncanonical NF-kB signaling|-46.6</a:t>
                      </a:r>
                    </a:p>
                  </a:txBody>
                  <a:tcPr/>
                </a:tc>
              </a:tr>
              <a:tr h="731520">
                <a:tc>
                  <a:txBody>
                    <a:bodyPr/>
                    <a:lstStyle/>
                    <a:p>
                      <a:r>
                        <a:t>up_common_genes_SUB1_MCODE_2</a:t>
                      </a:r>
                    </a:p>
                  </a:txBody>
                  <a:tcPr/>
                </a:tc>
                <a:tc>
                  <a:txBody>
                    <a:bodyPr/>
                    <a:lstStyle/>
                    <a:p>
                      <a:r>
                        <a:t>R-HSA-380108|Chemokine receptors bind chemokines|-10.2;WP5039|SARS CoV 2 innate immunity evasion and cell specific immune response|-10.0;R-HSA-418594|G alpha (i) signalling events|-9.9</a:t>
                      </a:r>
                    </a:p>
                  </a:txBody>
                  <a:tcPr/>
                </a:tc>
              </a:tr>
              <a:tr h="731520">
                <a:tc>
                  <a:txBody>
                    <a:bodyPr/>
                    <a:lstStyle/>
                    <a:p>
                      <a:r>
                        <a:t>up_common_genes_SUB1_MCODE_3</a:t>
                      </a:r>
                    </a:p>
                  </a:txBody>
                  <a:tcPr/>
                </a:tc>
                <a:tc>
                  <a:txBody>
                    <a:bodyPr/>
                    <a:lstStyle/>
                    <a:p>
                      <a:r>
                        <a:t>GO:0019885|antigen processing and presentation of endogenous peptide antigen via MHC class I|-15.8;GO:0002483|antigen processing and presentation of endogenous peptide antigen|-15.6;R-HSA-983170|Antigen Presentation: Folding, assembly and peptide loading of class I MHC|-15.3</a:t>
                      </a:r>
                    </a:p>
                  </a:txBody>
                  <a:tcPr/>
                </a:tc>
              </a:tr>
              <a:tr h="731520">
                <a:tc>
                  <a:txBody>
                    <a:bodyPr/>
                    <a:lstStyle/>
                    <a:p>
                      <a:r>
                        <a:t>up_common_genes_SUB1_MCODE_4</a:t>
                      </a:r>
                    </a:p>
                  </a:txBody>
                  <a:tcPr/>
                </a:tc>
                <a:tc>
                  <a:txBody>
                    <a:bodyPr/>
                    <a:lstStyle/>
                    <a:p>
                      <a:r>
                        <a:t>WP3865|Novel intracellular components of RIG I like receptor pathway|-8.1;hsa04622|RIG-I-like receptor signaling pathway|-7.9;WP4655|Cytosolic DNA sensing pathway|-7.9</a:t>
                      </a:r>
                    </a:p>
                  </a:txBody>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up_common_genes</a:t>
            </a:r>
          </a:p>
        </p:txBody>
      </p:sp>
      <p:pic>
        <p:nvPicPr>
          <p:cNvPr id="4" name="Picture 3" descr="up_common_genes_MCODE_ALL_PPIColorByCluster.png"/>
          <p:cNvPicPr>
            <a:picLocks noChangeAspect="1"/>
          </p:cNvPicPr>
          <p:nvPr/>
        </p:nvPicPr>
        <p:blipFill>
          <a:blip r:embed="rId2"/>
          <a:stretch>
            <a:fillRect/>
          </a:stretch>
        </p:blipFill>
        <p:spPr>
          <a:xfrm>
            <a:off x="640080" y="2724491"/>
            <a:ext cx="10911535" cy="3002588"/>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up_common_genes</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common_genes_PPIColorByCluster.png"/>
          <p:cNvPicPr>
            <a:picLocks noChangeAspect="1"/>
          </p:cNvPicPr>
          <p:nvPr/>
        </p:nvPicPr>
        <p:blipFill>
          <a:blip r:embed="rId2"/>
          <a:stretch>
            <a:fillRect/>
          </a:stretch>
        </p:blipFill>
        <p:spPr>
          <a:xfrm>
            <a:off x="2437248" y="1665465"/>
            <a:ext cx="7317198" cy="512064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down_mes_up_epi</a:t>
            </a:r>
          </a:p>
        </p:txBody>
      </p:sp>
      <p:graphicFrame>
        <p:nvGraphicFramePr>
          <p:cNvPr id="4" name="Table 3"/>
          <p:cNvGraphicFramePr>
            <a:graphicFrameLocks noGrp="1"/>
          </p:cNvGraphicFramePr>
          <p:nvPr/>
        </p:nvGraphicFramePr>
        <p:xfrm>
          <a:off x="640080" y="1665465"/>
          <a:ext cx="10911535" cy="40182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1280160">
                <a:tc>
                  <a:txBody>
                    <a:bodyPr/>
                    <a:lstStyle/>
                    <a:p>
                      <a:r>
                        <a:t>down_mes_up_epi</a:t>
                      </a:r>
                    </a:p>
                  </a:txBody>
                  <a:tcPr/>
                </a:tc>
                <a:tc>
                  <a:txBody>
                    <a:bodyPr/>
                    <a:lstStyle/>
                    <a:p>
                      <a:r>
                        <a:t>GO:0032989|cellular anatomical entity morphogenesis|-13.1;GO:0048812|neuron projection morphogenesis|-11.7;GO:0120039|plasma membrane bounded cell projection morphogenesis|-11.6</a:t>
                      </a:r>
                    </a:p>
                  </a:txBody>
                  <a:tcPr/>
                </a:tc>
              </a:tr>
              <a:tr h="1280160">
                <a:tc>
                  <a:txBody>
                    <a:bodyPr/>
                    <a:lstStyle/>
                    <a:p>
                      <a:r>
                        <a:t>down_mes_up_epi_MCODE_ALL</a:t>
                      </a:r>
                    </a:p>
                  </a:txBody>
                  <a:tcPr/>
                </a:tc>
                <a:tc>
                  <a:txBody>
                    <a:bodyPr/>
                    <a:lstStyle/>
                    <a:p>
                      <a:r>
                        <a:t>R-HSA-422356|Regulation of insulin secretion|-7.2;R-HSA-163685|Integration of energy metabolism|-6.8;WP536|Calcium regulation in cardiac cells|-6.3</a:t>
                      </a:r>
                    </a:p>
                  </a:txBody>
                  <a:tcPr/>
                </a:tc>
              </a:tr>
              <a:tr h="1280160">
                <a:tc>
                  <a:txBody>
                    <a:bodyPr/>
                    <a:lstStyle/>
                    <a:p>
                      <a:r>
                        <a:t>down_mes_up_epi_SUB1_MCODE_1</a:t>
                      </a:r>
                    </a:p>
                  </a:txBody>
                  <a:tcPr/>
                </a:tc>
                <a:tc>
                  <a:txBody>
                    <a:bodyPr/>
                    <a:lstStyle/>
                    <a:p>
                      <a:r>
                        <a:t>R-HSA-422356|Regulation of insulin secretion|-7.2;R-HSA-163685|Integration of energy metabolism|-6.8;WP536|Calcium regulation in cardiac cells|-6.3</a:t>
                      </a:r>
                    </a:p>
                  </a:txBody>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down_mes_up_epi</a:t>
            </a:r>
          </a:p>
        </p:txBody>
      </p:sp>
      <p:pic>
        <p:nvPicPr>
          <p:cNvPr id="4" name="Picture 3" descr="down_mes_up_epi_MCODE_ALL_PPIColorByCluster.png"/>
          <p:cNvPicPr>
            <a:picLocks noChangeAspect="1"/>
          </p:cNvPicPr>
          <p:nvPr/>
        </p:nvPicPr>
        <p:blipFill>
          <a:blip r:embed="rId2"/>
          <a:stretch>
            <a:fillRect/>
          </a:stretch>
        </p:blipFill>
        <p:spPr>
          <a:xfrm>
            <a:off x="2507202" y="1665465"/>
            <a:ext cx="7177290" cy="512064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down_mes_up_epi</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mes_up_epi_PPIColorByCluster.png"/>
          <p:cNvPicPr>
            <a:picLocks noChangeAspect="1"/>
          </p:cNvPicPr>
          <p:nvPr/>
        </p:nvPicPr>
        <p:blipFill>
          <a:blip r:embed="rId2"/>
          <a:stretch>
            <a:fillRect/>
          </a:stretch>
        </p:blipFill>
        <p:spPr>
          <a:xfrm>
            <a:off x="709382" y="1665465"/>
            <a:ext cx="10772931" cy="512064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down_mes_only</a:t>
            </a:r>
          </a:p>
        </p:txBody>
      </p:sp>
      <p:graphicFrame>
        <p:nvGraphicFramePr>
          <p:cNvPr id="4" name="Table 3"/>
          <p:cNvGraphicFramePr>
            <a:graphicFrameLocks noGrp="1"/>
          </p:cNvGraphicFramePr>
          <p:nvPr/>
        </p:nvGraphicFramePr>
        <p:xfrm>
          <a:off x="640080" y="1665465"/>
          <a:ext cx="10911535" cy="465836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640080">
                <a:tc>
                  <a:txBody>
                    <a:bodyPr/>
                    <a:lstStyle/>
                    <a:p>
                      <a:r>
                        <a:t>down_mes_only</a:t>
                      </a:r>
                    </a:p>
                  </a:txBody>
                  <a:tcPr/>
                </a:tc>
                <a:tc>
                  <a:txBody>
                    <a:bodyPr/>
                    <a:lstStyle/>
                    <a:p>
                      <a:r>
                        <a:t>GO:0060562|epithelial tube morphogenesis|-11.0;GO:0120039|plasma membrane bounded cell projection morphogenesis|-10.9;GO:0048858|cell projection morphogenesis|-10.8</a:t>
                      </a:r>
                    </a:p>
                  </a:txBody>
                  <a:tcPr/>
                </a:tc>
              </a:tr>
              <a:tr h="640080">
                <a:tc>
                  <a:txBody>
                    <a:bodyPr/>
                    <a:lstStyle/>
                    <a:p>
                      <a:r>
                        <a:t>down_mes_only_MCODE_ALL</a:t>
                      </a:r>
                    </a:p>
                  </a:txBody>
                  <a:tcPr/>
                </a:tc>
                <a:tc>
                  <a:txBody>
                    <a:bodyPr/>
                    <a:lstStyle/>
                    <a:p>
                      <a:r>
                        <a:t>R-HSA-3928665|EPH-ephrin mediated repulsion of cells|-9.4;R-HSA-1368082|RORA activates gene expression|-9.1;R-HSA-1368108|BMAL1:CLOCK,NPAS2 activates circadian gene expression|-8.4</a:t>
                      </a:r>
                    </a:p>
                  </a:txBody>
                  <a:tcPr/>
                </a:tc>
              </a:tr>
              <a:tr h="640080">
                <a:tc>
                  <a:txBody>
                    <a:bodyPr/>
                    <a:lstStyle/>
                    <a:p>
                      <a:r>
                        <a:t>down_mes_only_SUB1_MCODE_1</a:t>
                      </a:r>
                    </a:p>
                  </a:txBody>
                  <a:tcPr/>
                </a:tc>
                <a:tc>
                  <a:txBody>
                    <a:bodyPr/>
                    <a:lstStyle/>
                    <a:p>
                      <a:r>
                        <a:t>R-HSA-1368082|RORA activates gene expression|-11.9;R-HSA-5619507|Activation of HOX genes during differentiation|-11.3;R-HSA-5617472|Activation of anterior HOX genes in hindbrain development during early embryogenesis|-11.3</a:t>
                      </a:r>
                    </a:p>
                  </a:txBody>
                  <a:tcPr/>
                </a:tc>
              </a:tr>
              <a:tr h="640080">
                <a:tc>
                  <a:txBody>
                    <a:bodyPr/>
                    <a:lstStyle/>
                    <a:p>
                      <a:r>
                        <a:t>down_mes_only_SUB1_MCODE_2</a:t>
                      </a:r>
                    </a:p>
                  </a:txBody>
                  <a:tcPr/>
                </a:tc>
                <a:tc>
                  <a:txBody>
                    <a:bodyPr/>
                    <a:lstStyle/>
                    <a:p>
                      <a:r>
                        <a:t>R-HSA-3928663|EPHA-mediated growth cone collapse|-12.1;M177|PID EPHA FWDPATHWAY|-11.9;GO:0048013|ephrin receptor signaling pathway|-11.2</a:t>
                      </a:r>
                    </a:p>
                  </a:txBody>
                  <a:tcPr/>
                </a:tc>
              </a:tr>
              <a:tr h="640080">
                <a:tc>
                  <a:txBody>
                    <a:bodyPr/>
                    <a:lstStyle/>
                    <a:p>
                      <a:r>
                        <a:t>down_mes_only_SUB1_MCODE_3</a:t>
                      </a:r>
                    </a:p>
                  </a:txBody>
                  <a:tcPr/>
                </a:tc>
                <a:tc>
                  <a:txBody>
                    <a:bodyPr/>
                    <a:lstStyle/>
                    <a:p>
                      <a:r>
                        <a:t>R-HSA-380972|Energy dependent regulation of mTOR by LKB1-AMPK|-8.5;WP1471|Target of rapamycin signaling|-8.2;R-HSA-165159|MTOR signalling|-8.0</a:t>
                      </a:r>
                    </a:p>
                  </a:txBody>
                  <a:tcPr/>
                </a:tc>
              </a:tr>
              <a:tr h="640080">
                <a:tc>
                  <a:txBody>
                    <a:bodyPr/>
                    <a:lstStyle/>
                    <a:p>
                      <a:r>
                        <a:t>down_mes_only_SUB1_MCODE_5</a:t>
                      </a:r>
                    </a:p>
                  </a:txBody>
                  <a:tcPr/>
                </a:tc>
                <a:tc>
                  <a:txBody>
                    <a:bodyPr/>
                    <a:lstStyle/>
                    <a:p>
                      <a:r>
                        <a:t>R-HSA-8856825|Cargo recognition for clathrin-mediated endocytosis|-7.4;R-HSA-8856828|Clathrin-mediated endocytosis|-7.0;GO:0006898|receptor-mediated endocytosis|-6.8</a:t>
                      </a:r>
                    </a:p>
                  </a:txBody>
                  <a:tcPr/>
                </a:tc>
              </a:tr>
              <a:tr h="640080">
                <a:tc>
                  <a:txBody>
                    <a:bodyPr/>
                    <a:lstStyle/>
                    <a:p>
                      <a:r>
                        <a:t>down_mes_only_SUB2_MCODE_6</a:t>
                      </a:r>
                    </a:p>
                  </a:txBody>
                  <a:tcPr/>
                </a:tc>
                <a:tc>
                  <a:txBody>
                    <a:bodyPr/>
                    <a:lstStyle/>
                    <a:p>
                      <a:r>
                        <a:t>R-HSA-8948216|Collagen chain trimerization|-8.5;M3005|NABA COLLAGENS|-8.5;R-HSA-1650814|Collagen biosynthesis and modifying enzymes|-8.0</a:t>
                      </a:r>
                    </a:p>
                  </a:txBody>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down_mes_only</a:t>
            </a:r>
          </a:p>
        </p:txBody>
      </p:sp>
      <p:pic>
        <p:nvPicPr>
          <p:cNvPr id="4" name="Picture 3" descr="down_mes_only_MCODE_ALL_PPIColorByCluster.png"/>
          <p:cNvPicPr>
            <a:picLocks noChangeAspect="1"/>
          </p:cNvPicPr>
          <p:nvPr/>
        </p:nvPicPr>
        <p:blipFill>
          <a:blip r:embed="rId2"/>
          <a:stretch>
            <a:fillRect/>
          </a:stretch>
        </p:blipFill>
        <p:spPr>
          <a:xfrm>
            <a:off x="695391" y="1665465"/>
            <a:ext cx="10800912" cy="512064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down_mes_only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mes_only_PPIColorByCluster.png"/>
          <p:cNvPicPr>
            <a:picLocks noChangeAspect="1"/>
          </p:cNvPicPr>
          <p:nvPr/>
        </p:nvPicPr>
        <p:blipFill>
          <a:blip r:embed="rId2"/>
          <a:stretch>
            <a:fillRect/>
          </a:stretch>
        </p:blipFill>
        <p:spPr>
          <a:xfrm>
            <a:off x="947226" y="1665465"/>
            <a:ext cx="10297243" cy="512064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down_epi_only</a:t>
            </a:r>
          </a:p>
        </p:txBody>
      </p:sp>
      <p:graphicFrame>
        <p:nvGraphicFramePr>
          <p:cNvPr id="4" name="Table 3"/>
          <p:cNvGraphicFramePr>
            <a:graphicFrameLocks noGrp="1"/>
          </p:cNvGraphicFramePr>
          <p:nvPr/>
        </p:nvGraphicFramePr>
        <p:xfrm>
          <a:off x="640080" y="1665465"/>
          <a:ext cx="10911535" cy="48717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426720">
                <a:tc>
                  <a:txBody>
                    <a:bodyPr/>
                    <a:lstStyle/>
                    <a:p>
                      <a:r>
                        <a:t>down_epi_only</a:t>
                      </a:r>
                    </a:p>
                  </a:txBody>
                  <a:tcPr/>
                </a:tc>
                <a:tc>
                  <a:txBody>
                    <a:bodyPr/>
                    <a:lstStyle/>
                    <a:p>
                      <a:r>
                        <a:t>GO:0044282|small molecule catabolic process|-13.3;GO:0019752|carboxylic acid metabolic process|-11.5;GO:1901615|organic hydroxy compound metabolic process|-11.5</a:t>
                      </a:r>
                    </a:p>
                  </a:txBody>
                  <a:tcPr/>
                </a:tc>
              </a:tr>
              <a:tr h="426720">
                <a:tc>
                  <a:txBody>
                    <a:bodyPr/>
                    <a:lstStyle/>
                    <a:p>
                      <a:r>
                        <a:t>down_epi_only_MCODE_ALL</a:t>
                      </a:r>
                    </a:p>
                  </a:txBody>
                  <a:tcPr/>
                </a:tc>
                <a:tc>
                  <a:txBody>
                    <a:bodyPr/>
                    <a:lstStyle/>
                    <a:p>
                      <a:r>
                        <a:t>GO:0034381|plasma lipoprotein particle clearance|-10.0;GO:0019752|carboxylic acid metabolic process|-8.7;GO:0006721|terpenoid metabolic process|-8.6</a:t>
                      </a:r>
                    </a:p>
                  </a:txBody>
                  <a:tcPr/>
                </a:tc>
              </a:tr>
              <a:tr h="426720">
                <a:tc>
                  <a:txBody>
                    <a:bodyPr/>
                    <a:lstStyle/>
                    <a:p>
                      <a:r>
                        <a:t>down_epi_only_SUB1_MCODE_1</a:t>
                      </a:r>
                    </a:p>
                  </a:txBody>
                  <a:tcPr/>
                </a:tc>
                <a:tc>
                  <a:txBody>
                    <a:bodyPr/>
                    <a:lstStyle/>
                    <a:p>
                      <a:r>
                        <a:t>GO:0034381|plasma lipoprotein particle clearance|-14.9;hsa04979|Cholesterol metabolism|-13.2;GO:0097006|regulation of plasma lipoprotein particle levels|-12.8</a:t>
                      </a:r>
                    </a:p>
                  </a:txBody>
                  <a:tcPr/>
                </a:tc>
              </a:tr>
              <a:tr h="426720">
                <a:tc>
                  <a:txBody>
                    <a:bodyPr/>
                    <a:lstStyle/>
                    <a:p>
                      <a:r>
                        <a:t>down_epi_only_SUB1_MCODE_2</a:t>
                      </a:r>
                    </a:p>
                  </a:txBody>
                  <a:tcPr/>
                </a:tc>
                <a:tc>
                  <a:txBody>
                    <a:bodyPr/>
                    <a:lstStyle/>
                    <a:p>
                      <a:r>
                        <a:t>R-HSA-913709|O-linked glycosylation of mucins|-13.4;R-HSA-5173105|O-linked glycosylation|-12.2;R-HSA-5083625|Defective GALNT3 causes HFTC|-8.8</a:t>
                      </a:r>
                    </a:p>
                  </a:txBody>
                  <a:tcPr/>
                </a:tc>
              </a:tr>
              <a:tr h="426720">
                <a:tc>
                  <a:txBody>
                    <a:bodyPr/>
                    <a:lstStyle/>
                    <a:p>
                      <a:r>
                        <a:t>down_epi_only_SUB1_MCODE_3</a:t>
                      </a:r>
                    </a:p>
                  </a:txBody>
                  <a:tcPr/>
                </a:tc>
                <a:tc>
                  <a:txBody>
                    <a:bodyPr/>
                    <a:lstStyle/>
                    <a:p>
                      <a:r>
                        <a:t>GO:0006631|fatty acid metabolic process|-4.9;GO:0032787|monocarboxylic acid metabolic process|-4.3;GO:0019752|carboxylic acid metabolic process|-3.8</a:t>
                      </a:r>
                    </a:p>
                  </a:txBody>
                  <a:tcPr/>
                </a:tc>
              </a:tr>
              <a:tr h="426720">
                <a:tc>
                  <a:txBody>
                    <a:bodyPr/>
                    <a:lstStyle/>
                    <a:p>
                      <a:r>
                        <a:t>down_epi_only_SUB1_MCODE_4</a:t>
                      </a:r>
                    </a:p>
                  </a:txBody>
                  <a:tcPr/>
                </a:tc>
                <a:tc>
                  <a:txBody>
                    <a:bodyPr/>
                    <a:lstStyle/>
                    <a:p>
                      <a:r>
                        <a:t>hsa00830|Retinol metabolism|-7.0;GO:0001523|retinoid metabolic process|-6.7;GO:0016101|diterpenoid metabolic process|-6.6</a:t>
                      </a:r>
                    </a:p>
                  </a:txBody>
                  <a:tcPr/>
                </a:tc>
              </a:tr>
              <a:tr h="426720">
                <a:tc>
                  <a:txBody>
                    <a:bodyPr/>
                    <a:lstStyle/>
                    <a:p>
                      <a:r>
                        <a:t>down_epi_only_SUB1_MCODE_5</a:t>
                      </a:r>
                    </a:p>
                  </a:txBody>
                  <a:tcPr/>
                </a:tc>
                <a:tc>
                  <a:txBody>
                    <a:bodyPr/>
                    <a:lstStyle/>
                    <a:p>
                      <a:r>
                        <a:t>R-HSA-432722|Golgi Associated Vesicle Biogenesis|-7.6;R-HSA-199992|trans-Golgi Network Vesicle Budding|-7.3;R-HSA-199991|Membrane Trafficking|-4.4</a:t>
                      </a:r>
                    </a:p>
                  </a:txBody>
                  <a:tcPr/>
                </a:tc>
              </a:tr>
              <a:tr h="426720">
                <a:tc>
                  <a:txBody>
                    <a:bodyPr/>
                    <a:lstStyle/>
                    <a:p>
                      <a:r>
                        <a:t>down_epi_only_SUB1_MCODE_6</a:t>
                      </a:r>
                    </a:p>
                  </a:txBody>
                  <a:tcPr/>
                </a:tc>
                <a:tc>
                  <a:txBody>
                    <a:bodyPr/>
                    <a:lstStyle/>
                    <a:p>
                      <a:r>
                        <a:t>hsa05204|Chemical carcinogenesis - DNA adducts|-10.6;GO:0006805|xenobiotic metabolic process|-9.5;WP702|Metapathway biotransformation Phase I and II|-8.9</a:t>
                      </a:r>
                    </a:p>
                  </a:txBody>
                  <a:tcPr/>
                </a:tc>
              </a:tr>
              <a:tr h="426720">
                <a:tc>
                  <a:txBody>
                    <a:bodyPr/>
                    <a:lstStyle/>
                    <a:p>
                      <a:r>
                        <a:t>down_epi_only_SUB1_MCODE_7</a:t>
                      </a:r>
                    </a:p>
                  </a:txBody>
                  <a:tcPr/>
                </a:tc>
                <a:tc>
                  <a:txBody>
                    <a:bodyPr/>
                    <a:lstStyle/>
                    <a:p>
                      <a:r>
                        <a:t>WP5292|Glycosphingolipid metabolism|-9.5;hsa00600|Sphingolipid metabolism|-8.3;R-HSA-1660662|Glycosphingolipid metabolism|-8.2</a:t>
                      </a:r>
                    </a:p>
                  </a:txBody>
                  <a:tcPr/>
                </a:tc>
              </a:tr>
              <a:tr h="426720">
                <a:tc>
                  <a:txBody>
                    <a:bodyPr/>
                    <a:lstStyle/>
                    <a:p>
                      <a:r>
                        <a:t>down_epi_only_SUB1_MCODE_8</a:t>
                      </a:r>
                    </a:p>
                  </a:txBody>
                  <a:tcPr/>
                </a:tc>
                <a:tc>
                  <a:txBody>
                    <a:bodyPr/>
                    <a:lstStyle/>
                    <a:p>
                      <a:r>
                        <a:t>R-HSA-71291|Metabolism of amino acids and derivatives|-5.8;GO:0019752|carboxylic acid metabolic process|-4.8</a:t>
                      </a:r>
                    </a:p>
                  </a:txBody>
                  <a:tcPr/>
                </a:tc>
              </a:tr>
              <a:tr h="426720">
                <a:tc>
                  <a:txBody>
                    <a:bodyPr/>
                    <a:lstStyle/>
                    <a:p>
                      <a:r>
                        <a:t>down_epi_only_SUB4_MCODE_9</a:t>
                      </a:r>
                    </a:p>
                  </a:txBody>
                  <a:tcPr/>
                </a:tc>
                <a:tc>
                  <a:txBody>
                    <a:bodyPr/>
                    <a:lstStyle/>
                    <a:p>
                      <a:r>
                        <a:t>hsa04530|Tight junction|-6.8;GO:0045216|cell-cell junction organization|-6.7;GO:0034330|cell junction organization|-5.3</a:t>
                      </a:r>
                    </a:p>
                  </a:txBody>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down_epi_only</a:t>
            </a:r>
          </a:p>
        </p:txBody>
      </p:sp>
      <p:pic>
        <p:nvPicPr>
          <p:cNvPr id="4" name="Picture 3" descr="down_epi_only_MCODE_ALL_PPIColorByCluster.png"/>
          <p:cNvPicPr>
            <a:picLocks noChangeAspect="1"/>
          </p:cNvPicPr>
          <p:nvPr/>
        </p:nvPicPr>
        <p:blipFill>
          <a:blip r:embed="rId2"/>
          <a:stretch>
            <a:fillRect/>
          </a:stretch>
        </p:blipFill>
        <p:spPr>
          <a:xfrm>
            <a:off x="1674748" y="1665465"/>
            <a:ext cx="8842198" cy="512064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down_epi_only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epi_only_PPIColorByCluster.png"/>
          <p:cNvPicPr>
            <a:picLocks noChangeAspect="1"/>
          </p:cNvPicPr>
          <p:nvPr/>
        </p:nvPicPr>
        <p:blipFill>
          <a:blip r:embed="rId2"/>
          <a:stretch>
            <a:fillRect/>
          </a:stretch>
        </p:blipFill>
        <p:spPr>
          <a:xfrm>
            <a:off x="640080" y="1763627"/>
            <a:ext cx="10911535" cy="492431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1766</TotalTime>
  <Words>1993</Words>
  <Application>Microsoft Office PowerPoint</Application>
  <PresentationFormat>Widescreen</PresentationFormat>
  <Paragraphs>123</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宋体</vt:lpstr>
      <vt:lpstr>Arial</vt:lpstr>
      <vt:lpstr>Calibri</vt:lpstr>
      <vt:lpstr>Office Theme</vt:lpstr>
      <vt:lpstr>PowerPoint Presentation</vt:lpstr>
      <vt:lpstr>Gene List Summary</vt:lpstr>
      <vt:lpstr>Gene Overlap Analysis</vt:lpstr>
      <vt:lpstr>Membership Analysis</vt:lpstr>
      <vt:lpstr>Gene Overlap Analysis Expanded via Shared Enriched Ontologies</vt:lpstr>
      <vt:lpstr>Enriched Ontology Clusters Across Studies</vt:lpstr>
      <vt:lpstr>Enriched Ontology Clusters Colored by Cluster ID</vt:lpstr>
      <vt:lpstr>Enriched Ontology Clusters Colored by p-Value</vt:lpstr>
      <vt:lpstr>Enriched Ontology Clusters Pied by Gene Counts Across Studies</vt:lpstr>
      <vt:lpstr>Protein-protein Interaction Network</vt:lpstr>
      <vt:lpstr>PPI MCODE Components</vt:lpstr>
      <vt:lpstr>Biological Interpretation PPI Network &amp; MCODE Components</vt:lpstr>
      <vt:lpstr>PPI Network for Lists Merged Pied by Gene Origin in Studies </vt:lpstr>
      <vt:lpstr>PPI Network for Lists Merged Colored by MCODE ID</vt:lpstr>
      <vt:lpstr>PowerPoint Presentation</vt:lpstr>
      <vt:lpstr>MCODE for Lists Merged Pied by Gene Origin in Studies</vt:lpstr>
      <vt:lpstr>Biological Interpretation MCODE Components for Lists Merged</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2021-12-03T05:56:47Z</dcterms:modified>
</cp:coreProperties>
</file>