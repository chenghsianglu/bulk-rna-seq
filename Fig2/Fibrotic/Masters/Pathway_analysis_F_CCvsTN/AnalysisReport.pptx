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300" r:id="rId46"/>
    <p:sldId id="299" r:id="rId45"/>
    <p:sldId id="298" r:id="rId44"/>
    <p:sldId id="297" r:id="rId43"/>
    <p:sldId id="296" r:id="rId42"/>
    <p:sldId id="295" r:id="rId41"/>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6,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568960">
                <a:tc>
                  <a:txBody>
                    <a:bodyPr/>
                    <a:lstStyle/>
                    <a:p>
                      <a:r>
                        <a:t>down_common_genes</a:t>
                      </a:r>
                    </a:p>
                  </a:txBody>
                  <a:tcPr/>
                </a:tc>
                <a:tc>
                  <a:txBody>
                    <a:bodyPr/>
                    <a:lstStyle/>
                    <a:p>
                      <a:r>
                        <a:t>250</a:t>
                      </a:r>
                    </a:p>
                  </a:txBody>
                  <a:tcPr/>
                </a:tc>
                <a:tc>
                  <a:txBody>
                    <a:bodyPr/>
                    <a:lstStyle/>
                    <a:p>
                      <a:r>
                        <a:t>250</a:t>
                      </a:r>
                    </a:p>
                  </a:txBody>
                  <a:tcPr/>
                </a:tc>
                <a:tc>
                  <a:txBody>
                    <a:bodyPr/>
                    <a:lstStyle/>
                    <a:p>
                      <a:r>
                        <a:t>#E41A1C</a:t>
                      </a:r>
                    </a:p>
                  </a:txBody>
                  <a:tcPr>
                    <a:solidFill>
                      <a:srgbClr val="E41A1C"/>
                    </a:solidFill>
                  </a:tcPr>
                </a:tc>
              </a:tr>
              <a:tr h="568960">
                <a:tc>
                  <a:txBody>
                    <a:bodyPr/>
                    <a:lstStyle/>
                    <a:p>
                      <a:r>
                        <a:t>down_epi_only</a:t>
                      </a:r>
                    </a:p>
                  </a:txBody>
                  <a:tcPr/>
                </a:tc>
                <a:tc>
                  <a:txBody>
                    <a:bodyPr/>
                    <a:lstStyle/>
                    <a:p>
                      <a:r>
                        <a:t>323</a:t>
                      </a:r>
                    </a:p>
                  </a:txBody>
                  <a:tcPr/>
                </a:tc>
                <a:tc>
                  <a:txBody>
                    <a:bodyPr/>
                    <a:lstStyle/>
                    <a:p>
                      <a:r>
                        <a:t>323</a:t>
                      </a:r>
                    </a:p>
                  </a:txBody>
                  <a:tcPr/>
                </a:tc>
                <a:tc>
                  <a:txBody>
                    <a:bodyPr/>
                    <a:lstStyle/>
                    <a:p>
                      <a:r>
                        <a:t>#377EB8</a:t>
                      </a:r>
                    </a:p>
                  </a:txBody>
                  <a:tcPr>
                    <a:solidFill>
                      <a:srgbClr val="377EB8"/>
                    </a:solidFill>
                  </a:tcPr>
                </a:tc>
              </a:tr>
              <a:tr h="568960">
                <a:tc>
                  <a:txBody>
                    <a:bodyPr/>
                    <a:lstStyle/>
                    <a:p>
                      <a:r>
                        <a:t>down_mes_only</a:t>
                      </a:r>
                    </a:p>
                  </a:txBody>
                  <a:tcPr/>
                </a:tc>
                <a:tc>
                  <a:txBody>
                    <a:bodyPr/>
                    <a:lstStyle/>
                    <a:p>
                      <a:r>
                        <a:t>282</a:t>
                      </a:r>
                    </a:p>
                  </a:txBody>
                  <a:tcPr/>
                </a:tc>
                <a:tc>
                  <a:txBody>
                    <a:bodyPr/>
                    <a:lstStyle/>
                    <a:p>
                      <a:r>
                        <a:t>282</a:t>
                      </a:r>
                    </a:p>
                  </a:txBody>
                  <a:tcPr/>
                </a:tc>
                <a:tc>
                  <a:txBody>
                    <a:bodyPr/>
                    <a:lstStyle/>
                    <a:p>
                      <a:r>
                        <a:t>#4DAF4A</a:t>
                      </a:r>
                    </a:p>
                  </a:txBody>
                  <a:tcPr>
                    <a:solidFill>
                      <a:srgbClr val="4DAF4A"/>
                    </a:solidFill>
                  </a:tcPr>
                </a:tc>
              </a:tr>
              <a:tr h="568960">
                <a:tc>
                  <a:txBody>
                    <a:bodyPr/>
                    <a:lstStyle/>
                    <a:p>
                      <a:r>
                        <a:t>down_mes_up_epi</a:t>
                      </a:r>
                    </a:p>
                  </a:txBody>
                  <a:tcPr/>
                </a:tc>
                <a:tc>
                  <a:txBody>
                    <a:bodyPr/>
                    <a:lstStyle/>
                    <a:p>
                      <a:r>
                        <a:t>221</a:t>
                      </a:r>
                    </a:p>
                  </a:txBody>
                  <a:tcPr/>
                </a:tc>
                <a:tc>
                  <a:txBody>
                    <a:bodyPr/>
                    <a:lstStyle/>
                    <a:p>
                      <a:r>
                        <a:t>221</a:t>
                      </a:r>
                    </a:p>
                  </a:txBody>
                  <a:tcPr/>
                </a:tc>
                <a:tc>
                  <a:txBody>
                    <a:bodyPr/>
                    <a:lstStyle/>
                    <a:p>
                      <a:r>
                        <a:t>#984EA3</a:t>
                      </a:r>
                    </a:p>
                  </a:txBody>
                  <a:tcPr>
                    <a:solidFill>
                      <a:srgbClr val="984EA3"/>
                    </a:solidFill>
                  </a:tcPr>
                </a:tc>
              </a:tr>
              <a:tr h="568960">
                <a:tc>
                  <a:txBody>
                    <a:bodyPr/>
                    <a:lstStyle/>
                    <a:p>
                      <a:r>
                        <a:t>up_common_genes</a:t>
                      </a:r>
                    </a:p>
                  </a:txBody>
                  <a:tcPr/>
                </a:tc>
                <a:tc>
                  <a:txBody>
                    <a:bodyPr/>
                    <a:lstStyle/>
                    <a:p>
                      <a:r>
                        <a:t>266</a:t>
                      </a:r>
                    </a:p>
                  </a:txBody>
                  <a:tcPr/>
                </a:tc>
                <a:tc>
                  <a:txBody>
                    <a:bodyPr/>
                    <a:lstStyle/>
                    <a:p>
                      <a:r>
                        <a:t>266</a:t>
                      </a:r>
                    </a:p>
                  </a:txBody>
                  <a:tcPr/>
                </a:tc>
                <a:tc>
                  <a:txBody>
                    <a:bodyPr/>
                    <a:lstStyle/>
                    <a:p>
                      <a:r>
                        <a:t>#FF7F00</a:t>
                      </a:r>
                    </a:p>
                  </a:txBody>
                  <a:tcPr>
                    <a:solidFill>
                      <a:srgbClr val="FF7F00"/>
                    </a:solidFill>
                  </a:tcPr>
                </a:tc>
              </a:tr>
              <a:tr h="568960">
                <a:tc>
                  <a:txBody>
                    <a:bodyPr/>
                    <a:lstStyle/>
                    <a:p>
                      <a:r>
                        <a:t>up_epi_only</a:t>
                      </a:r>
                    </a:p>
                  </a:txBody>
                  <a:tcPr/>
                </a:tc>
                <a:tc>
                  <a:txBody>
                    <a:bodyPr/>
                    <a:lstStyle/>
                    <a:p>
                      <a:r>
                        <a:t>261</a:t>
                      </a:r>
                    </a:p>
                  </a:txBody>
                  <a:tcPr/>
                </a:tc>
                <a:tc>
                  <a:txBody>
                    <a:bodyPr/>
                    <a:lstStyle/>
                    <a:p>
                      <a:r>
                        <a:t>261</a:t>
                      </a:r>
                    </a:p>
                  </a:txBody>
                  <a:tcPr/>
                </a:tc>
                <a:tc>
                  <a:txBody>
                    <a:bodyPr/>
                    <a:lstStyle/>
                    <a:p>
                      <a:r>
                        <a:t>#FFFF33</a:t>
                      </a:r>
                    </a:p>
                  </a:txBody>
                  <a:tcPr>
                    <a:solidFill>
                      <a:srgbClr val="FFFF33"/>
                    </a:solidFill>
                  </a:tcPr>
                </a:tc>
              </a:tr>
              <a:tr h="568960">
                <a:tc>
                  <a:txBody>
                    <a:bodyPr/>
                    <a:lstStyle/>
                    <a:p>
                      <a:r>
                        <a:t>up_mes_down_epi</a:t>
                      </a:r>
                    </a:p>
                  </a:txBody>
                  <a:tcPr/>
                </a:tc>
                <a:tc>
                  <a:txBody>
                    <a:bodyPr/>
                    <a:lstStyle/>
                    <a:p>
                      <a:r>
                        <a:t>279</a:t>
                      </a:r>
                    </a:p>
                  </a:txBody>
                  <a:tcPr/>
                </a:tc>
                <a:tc>
                  <a:txBody>
                    <a:bodyPr/>
                    <a:lstStyle/>
                    <a:p>
                      <a:r>
                        <a:t>279</a:t>
                      </a:r>
                    </a:p>
                  </a:txBody>
                  <a:tcPr/>
                </a:tc>
                <a:tc>
                  <a:txBody>
                    <a:bodyPr/>
                    <a:lstStyle/>
                    <a:p>
                      <a:r>
                        <a:t>#A65628</a:t>
                      </a:r>
                    </a:p>
                  </a:txBody>
                  <a:tcPr>
                    <a:solidFill>
                      <a:srgbClr val="A65628"/>
                    </a:solidFill>
                  </a:tcPr>
                </a:tc>
              </a:tr>
              <a:tr h="568960">
                <a:tc>
                  <a:txBody>
                    <a:bodyPr/>
                    <a:lstStyle/>
                    <a:p>
                      <a:r>
                        <a:t>up_mes_only</a:t>
                      </a:r>
                    </a:p>
                  </a:txBody>
                  <a:tcPr/>
                </a:tc>
                <a:tc>
                  <a:txBody>
                    <a:bodyPr/>
                    <a:lstStyle/>
                    <a:p>
                      <a:r>
                        <a:t>324</a:t>
                      </a:r>
                    </a:p>
                  </a:txBody>
                  <a:tcPr/>
                </a:tc>
                <a:tc>
                  <a:txBody>
                    <a:bodyPr/>
                    <a:lstStyle/>
                    <a:p>
                      <a:r>
                        <a:t>324</a:t>
                      </a:r>
                    </a:p>
                  </a:txBody>
                  <a:tcPr/>
                </a:tc>
                <a:tc>
                  <a:txBody>
                    <a:bodyPr/>
                    <a:lstStyle/>
                    <a:p>
                      <a:r>
                        <a:t>#F781BF</a:t>
                      </a:r>
                    </a:p>
                  </a:txBody>
                  <a:tcPr>
                    <a:solidFill>
                      <a:srgbClr val="F781BF"/>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2453076" y="1665465"/>
            <a:ext cx="7285543"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407196"/>
            <a:ext cx="10911535" cy="3637178"/>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1784696"/>
            <a:ext cx="10911535" cy="4882178"/>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640080" y="1784696"/>
            <a:ext cx="10911535" cy="4882178"/>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common_genes_PPIColorByCluster.png"/>
          <p:cNvPicPr>
            <a:picLocks noChangeAspect="1"/>
          </p:cNvPicPr>
          <p:nvPr/>
        </p:nvPicPr>
        <p:blipFill>
          <a:blip r:embed="rId3"/>
          <a:stretch>
            <a:fillRect/>
          </a:stretch>
        </p:blipFill>
        <p:spPr>
          <a:xfrm>
            <a:off x="2297340" y="1665465"/>
            <a:ext cx="7597015"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pic>
        <p:nvPicPr>
          <p:cNvPr id="4" name="Picture 3" descr="down_common_genes_MCODE_ALL_PPIColorByCluster.png"/>
          <p:cNvPicPr>
            <a:picLocks noChangeAspect="1"/>
          </p:cNvPicPr>
          <p:nvPr/>
        </p:nvPicPr>
        <p:blipFill>
          <a:blip r:embed="rId3"/>
          <a:stretch>
            <a:fillRect/>
          </a:stretch>
        </p:blipFill>
        <p:spPr>
          <a:xfrm>
            <a:off x="640080" y="1688542"/>
            <a:ext cx="10911535" cy="5074487"/>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down_common_genes</a:t>
                      </a:r>
                    </a:p>
                  </a:txBody>
                  <a:tcPr/>
                </a:tc>
                <a:tc>
                  <a:txBody>
                    <a:bodyPr/>
                    <a:lstStyle/>
                    <a:p>
                      <a:r>
                        <a:t>R-HSA-8978868|Fatty acid metabolism|-8.5;GO:0046395|carboxylic acid catabolic process|-8.3;GO:0016054|organic acid catabolic process|-8.3</a:t>
                      </a:r>
                    </a:p>
                  </a:txBody>
                  <a:tcPr/>
                </a:tc>
              </a:tr>
              <a:tr h="853440">
                <a:tc>
                  <a:txBody>
                    <a:bodyPr/>
                    <a:lstStyle/>
                    <a:p>
                      <a:r>
                        <a:t>down_common_genes_MCODE_ALL</a:t>
                      </a:r>
                    </a:p>
                  </a:txBody>
                  <a:tcPr/>
                </a:tc>
                <a:tc>
                  <a:txBody>
                    <a:bodyPr/>
                    <a:lstStyle/>
                    <a:p>
                      <a:r>
                        <a:t>hsa04020|Calcium signaling pathway|-9.1;hsa04070|Phosphatidylinositol signaling system|-7.9;R-HSA-1483249|Inositol phosphate metabolism|-7.2</a:t>
                      </a:r>
                    </a:p>
                  </a:txBody>
                  <a:tcPr/>
                </a:tc>
              </a:tr>
              <a:tr h="853440">
                <a:tc>
                  <a:txBody>
                    <a:bodyPr/>
                    <a:lstStyle/>
                    <a:p>
                      <a:r>
                        <a:t>down_common_genes_SUB1_MCODE_1</a:t>
                      </a:r>
                    </a:p>
                  </a:txBody>
                  <a:tcPr/>
                </a:tc>
                <a:tc>
                  <a:txBody>
                    <a:bodyPr/>
                    <a:lstStyle/>
                    <a:p>
                      <a:r>
                        <a:t>hsa04020|Calcium signaling pathway|-12.1;hsa04070|Phosphatidylinositol signaling system|-9.9;hsa04151|PI3K-Akt signaling pathway|-8.9</a:t>
                      </a:r>
                    </a:p>
                  </a:txBody>
                  <a:tcPr/>
                </a:tc>
              </a:tr>
              <a:tr h="853440">
                <a:tc>
                  <a:txBody>
                    <a:bodyPr/>
                    <a:lstStyle/>
                    <a:p>
                      <a:r>
                        <a:t>down_common_genes_SUB1_MCODE_2</a:t>
                      </a:r>
                    </a:p>
                  </a:txBody>
                  <a:tcPr/>
                </a:tc>
                <a:tc>
                  <a:txBody>
                    <a:bodyPr/>
                    <a:lstStyle/>
                    <a:p>
                      <a:r>
                        <a:t>GO:0072329|monocarboxylic acid catabolic process|-6.7;GO:0046395|carboxylic acid catabolic process|-5.8;GO:0016054|organic acid catabolic process|-5.8</a:t>
                      </a:r>
                    </a:p>
                  </a:txBody>
                  <a:tcPr/>
                </a:tc>
              </a:tr>
              <a:tr h="853440">
                <a:tc>
                  <a:txBody>
                    <a:bodyPr/>
                    <a:lstStyle/>
                    <a:p>
                      <a:r>
                        <a:t>down_common_genes_SUB1_MCODE_4</a:t>
                      </a:r>
                    </a:p>
                  </a:txBody>
                  <a:tcPr/>
                </a:tc>
                <a:tc>
                  <a:txBody>
                    <a:bodyPr/>
                    <a:lstStyle/>
                    <a:p>
                      <a:r>
                        <a:t>GO:0009435|NAD biosynthetic process|-9.3;GO:0019359|nicotinamide nucleotide biosynthetic process|-9.2;GO:0019363|pyridine nucleotide biosynthetic process|-9.2</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up_mes_only</a:t>
                      </a:r>
                    </a:p>
                  </a:txBody>
                  <a:tcPr/>
                </a:tc>
                <a:tc>
                  <a:txBody>
                    <a:bodyPr/>
                    <a:lstStyle/>
                    <a:p>
                      <a:r>
                        <a:t>GO:0006888|endoplasmic reticulum to Golgi vesicle-mediated transport|-12.0;GO:0006886|intracellular protein transport|-11.2;R-HSA-72766|Translation|-11.2</a:t>
                      </a:r>
                    </a:p>
                  </a:txBody>
                  <a:tcPr/>
                </a:tc>
              </a:tr>
              <a:tr h="640080">
                <a:tc>
                  <a:txBody>
                    <a:bodyPr/>
                    <a:lstStyle/>
                    <a:p>
                      <a:r>
                        <a:t>up_mes_only_MCODE_ALL</a:t>
                      </a:r>
                    </a:p>
                  </a:txBody>
                  <a:tcPr/>
                </a:tc>
                <a:tc>
                  <a:txBody>
                    <a:bodyPr/>
                    <a:lstStyle/>
                    <a:p>
                      <a:r>
                        <a:t>R-HSA-446203|Asparagine N-linked glycosylation|-16.1;GO:0022613|ribonucleoprotein complex biogenesis|-15.3;GO:0006888|endoplasmic reticulum to Golgi vesicle-mediated transport|-15.2</a:t>
                      </a:r>
                    </a:p>
                  </a:txBody>
                  <a:tcPr/>
                </a:tc>
              </a:tr>
              <a:tr h="640080">
                <a:tc>
                  <a:txBody>
                    <a:bodyPr/>
                    <a:lstStyle/>
                    <a:p>
                      <a:r>
                        <a:t>up_mes_only_SUB1_MCODE_1</a:t>
                      </a:r>
                    </a:p>
                  </a:txBody>
                  <a:tcPr/>
                </a:tc>
                <a:tc>
                  <a:txBody>
                    <a:bodyPr/>
                    <a:lstStyle/>
                    <a:p>
                      <a:r>
                        <a:t>R-HSA-199977|ER to Golgi Anterograde Transport|-21.0;R-HSA-948021|Transport to the Golgi and subsequent modification|-20.0;GO:0006888|endoplasmic reticulum to Golgi vesicle-mediated transport|-17.5</a:t>
                      </a:r>
                    </a:p>
                  </a:txBody>
                  <a:tcPr/>
                </a:tc>
              </a:tr>
              <a:tr h="640080">
                <a:tc>
                  <a:txBody>
                    <a:bodyPr/>
                    <a:lstStyle/>
                    <a:p>
                      <a:r>
                        <a:t>up_mes_only_SUB1_MCODE_2</a:t>
                      </a:r>
                    </a:p>
                  </a:txBody>
                  <a:tcPr/>
                </a:tc>
                <a:tc>
                  <a:txBody>
                    <a:bodyPr/>
                    <a:lstStyle/>
                    <a:p>
                      <a:r>
                        <a:t>R-HSA-72766|Translation|-7.3;GO:0030490|maturation of SSU-rRNA|-5.1;M5905|HALLMARK ADIPOGENESIS|-4.9</a:t>
                      </a:r>
                    </a:p>
                  </a:txBody>
                  <a:tcPr/>
                </a:tc>
              </a:tr>
              <a:tr h="640080">
                <a:tc>
                  <a:txBody>
                    <a:bodyPr/>
                    <a:lstStyle/>
                    <a:p>
                      <a:r>
                        <a:t>up_mes_only_SUB1_MCODE_3</a:t>
                      </a:r>
                    </a:p>
                  </a:txBody>
                  <a:tcPr/>
                </a:tc>
                <a:tc>
                  <a:txBody>
                    <a:bodyPr/>
                    <a:lstStyle/>
                    <a:p>
                      <a:r>
                        <a:t>R-HSA-5419276|Mitochondrial translation termination|-7.5;R-HSA-5368287|Mitochondrial translation|-7.4;GO:0032543|mitochondrial translation|-7.1</a:t>
                      </a:r>
                    </a:p>
                  </a:txBody>
                  <a:tcPr/>
                </a:tc>
              </a:tr>
              <a:tr h="640080">
                <a:tc>
                  <a:txBody>
                    <a:bodyPr/>
                    <a:lstStyle/>
                    <a:p>
                      <a:r>
                        <a:t>up_mes_only_SUB1_MCODE_5</a:t>
                      </a:r>
                    </a:p>
                  </a:txBody>
                  <a:tcPr/>
                </a:tc>
                <a:tc>
                  <a:txBody>
                    <a:bodyPr/>
                    <a:lstStyle/>
                    <a:p>
                      <a:r>
                        <a:t>GO:0006412|translation|-6.4;GO:0043043|peptide biosynthetic process|-6.3;GO:0043604|amide biosynthetic process|-5.8</a:t>
                      </a:r>
                    </a:p>
                  </a:txBody>
                  <a:tcPr/>
                </a:tc>
              </a:tr>
              <a:tr h="640080">
                <a:tc>
                  <a:txBody>
                    <a:bodyPr/>
                    <a:lstStyle/>
                    <a:p>
                      <a:r>
                        <a:t>up_mes_only_SUB1_MCODE_7</a:t>
                      </a:r>
                    </a:p>
                  </a:txBody>
                  <a:tcPr/>
                </a:tc>
                <a:tc>
                  <a:txBody>
                    <a:bodyPr/>
                    <a:lstStyle/>
                    <a:p>
                      <a:r>
                        <a:t>hsa04141|Protein processing in endoplasmic reticulum|-6.8</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pic>
        <p:nvPicPr>
          <p:cNvPr id="4" name="Picture 3" descr="up_mes_only_MCODE_ALL_PPIColorByCluster.png"/>
          <p:cNvPicPr>
            <a:picLocks noChangeAspect="1"/>
          </p:cNvPicPr>
          <p:nvPr/>
        </p:nvPicPr>
        <p:blipFill>
          <a:blip r:embed="rId2"/>
          <a:stretch>
            <a:fillRect/>
          </a:stretch>
        </p:blipFill>
        <p:spPr>
          <a:xfrm>
            <a:off x="640080" y="1844723"/>
            <a:ext cx="10911535" cy="476212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only_PPIColorByCluster.png"/>
          <p:cNvPicPr>
            <a:picLocks noChangeAspect="1"/>
          </p:cNvPicPr>
          <p:nvPr/>
        </p:nvPicPr>
        <p:blipFill>
          <a:blip r:embed="rId2"/>
          <a:stretch>
            <a:fillRect/>
          </a:stretch>
        </p:blipFill>
        <p:spPr>
          <a:xfrm>
            <a:off x="2605138" y="1665465"/>
            <a:ext cx="6981419"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graphicFrame>
        <p:nvGraphicFramePr>
          <p:cNvPr id="4" name="Table 3"/>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up_mes_down_epi</a:t>
                      </a:r>
                    </a:p>
                  </a:txBody>
                  <a:tcPr/>
                </a:tc>
                <a:tc>
                  <a:txBody>
                    <a:bodyPr/>
                    <a:lstStyle/>
                    <a:p>
                      <a:r>
                        <a:t>M5924|HALLMARK MTORC1 SIGNALING|-28.6;WP4718|Cholesterol metabolism with Bloch and Kandutsch Russell pathways|-24.3;GO:0016126|sterol biosynthetic process|-21.1</a:t>
                      </a:r>
                    </a:p>
                  </a:txBody>
                  <a:tcPr/>
                </a:tc>
              </a:tr>
              <a:tr h="512064">
                <a:tc>
                  <a:txBody>
                    <a:bodyPr/>
                    <a:lstStyle/>
                    <a:p>
                      <a:r>
                        <a:t>up_mes_down_epi_MCODE_ALL</a:t>
                      </a:r>
                    </a:p>
                  </a:txBody>
                  <a:tcPr/>
                </a:tc>
                <a:tc>
                  <a:txBody>
                    <a:bodyPr/>
                    <a:lstStyle/>
                    <a:p>
                      <a:r>
                        <a:t>WP4718|Cholesterol metabolism with Bloch and Kandutsch Russell pathways|-13.8;M5924|HALLMARK MTORC1 SIGNALING|-13.2;WP5329|Cholesterol biosynthesis pathway in hepatocytes|-11.9</a:t>
                      </a:r>
                    </a:p>
                  </a:txBody>
                  <a:tcPr/>
                </a:tc>
              </a:tr>
              <a:tr h="512064">
                <a:tc>
                  <a:txBody>
                    <a:bodyPr/>
                    <a:lstStyle/>
                    <a:p>
                      <a:r>
                        <a:t>up_mes_down_epi_SUB1_MCODE_1</a:t>
                      </a:r>
                    </a:p>
                  </a:txBody>
                  <a:tcPr/>
                </a:tc>
                <a:tc>
                  <a:txBody>
                    <a:bodyPr/>
                    <a:lstStyle/>
                    <a:p>
                      <a:r>
                        <a:t>GO:0098761|cellular response to interleukin-7|-7.4;GO:0098760|response to interleukin-7|-7.3;R-HSA-5368286|Mitochondrial translation initiation|-6.9</a:t>
                      </a:r>
                    </a:p>
                  </a:txBody>
                  <a:tcPr/>
                </a:tc>
              </a:tr>
              <a:tr h="512064">
                <a:tc>
                  <a:txBody>
                    <a:bodyPr/>
                    <a:lstStyle/>
                    <a:p>
                      <a:r>
                        <a:t>up_mes_down_epi_SUB1_MCODE_2</a:t>
                      </a:r>
                    </a:p>
                  </a:txBody>
                  <a:tcPr/>
                </a:tc>
                <a:tc>
                  <a:txBody>
                    <a:bodyPr/>
                    <a:lstStyle/>
                    <a:p>
                      <a:r>
                        <a:t>hsa00480|Glutathione metabolism|-6.3;GO:0051604|protein maturation|-3.5</a:t>
                      </a:r>
                    </a:p>
                  </a:txBody>
                  <a:tcPr/>
                </a:tc>
              </a:tr>
              <a:tr h="512064">
                <a:tc>
                  <a:txBody>
                    <a:bodyPr/>
                    <a:lstStyle/>
                    <a:p>
                      <a:r>
                        <a:t>up_mes_down_epi_SUB1_MCODE_3</a:t>
                      </a:r>
                    </a:p>
                  </a:txBody>
                  <a:tcPr/>
                </a:tc>
                <a:tc>
                  <a:txBody>
                    <a:bodyPr/>
                    <a:lstStyle/>
                    <a:p>
                      <a:r>
                        <a:t>hsa00071|Fatty acid degradation|-6.8;M5924|HALLMARK MTORC1 SIGNALING|-4.8;GO:0006457|protein folding|-4.7</a:t>
                      </a:r>
                    </a:p>
                  </a:txBody>
                  <a:tcPr/>
                </a:tc>
              </a:tr>
              <a:tr h="512064">
                <a:tc>
                  <a:txBody>
                    <a:bodyPr/>
                    <a:lstStyle/>
                    <a:p>
                      <a:r>
                        <a:t>up_mes_down_epi_SUB1_MCODE_4</a:t>
                      </a:r>
                    </a:p>
                  </a:txBody>
                  <a:tcPr/>
                </a:tc>
                <a:tc>
                  <a:txBody>
                    <a:bodyPr/>
                    <a:lstStyle/>
                    <a:p>
                      <a:r>
                        <a:t>R-HSA-1799339|SRP-dependent cotranslational protein targeting to membrane|-5.8;hsa04141|Protein processing in endoplasmic reticulum|-5.2;R-HSA-72766|Translation|-4.5</a:t>
                      </a:r>
                    </a:p>
                  </a:txBody>
                  <a:tcPr/>
                </a:tc>
              </a:tr>
              <a:tr h="512064">
                <a:tc>
                  <a:txBody>
                    <a:bodyPr/>
                    <a:lstStyle/>
                    <a:p>
                      <a:r>
                        <a:t>up_mes_down_epi_SUB1_MCODE_5</a:t>
                      </a:r>
                    </a:p>
                  </a:txBody>
                  <a:tcPr/>
                </a:tc>
                <a:tc>
                  <a:txBody>
                    <a:bodyPr/>
                    <a:lstStyle/>
                    <a:p>
                      <a:r>
                        <a:t>hsa00100|Steroid biosynthesis|-11.3;GO:0046165|alcohol biosynthetic process|-11.3;R-HSA-191273|Cholesterol biosynthesis|-10.8</a:t>
                      </a:r>
                    </a:p>
                  </a:txBody>
                  <a:tcPr/>
                </a:tc>
              </a:tr>
              <a:tr h="512064">
                <a:tc>
                  <a:txBody>
                    <a:bodyPr/>
                    <a:lstStyle/>
                    <a:p>
                      <a:r>
                        <a:t>up_mes_down_epi_SUB1_MCODE_6</a:t>
                      </a:r>
                    </a:p>
                  </a:txBody>
                  <a:tcPr/>
                </a:tc>
                <a:tc>
                  <a:txBody>
                    <a:bodyPr/>
                    <a:lstStyle/>
                    <a:p>
                      <a:r>
                        <a:t>hsa05208|Chemical carcinogenesis - reactive oxygen species|-8.5;R-HSA-611105|Respiratory electron transport|-6.7;GO:0006119|oxidative phosphorylation|-6.6</a:t>
                      </a:r>
                    </a:p>
                  </a:txBody>
                  <a:tcPr/>
                </a:tc>
              </a:tr>
              <a:tr h="512064">
                <a:tc>
                  <a:txBody>
                    <a:bodyPr/>
                    <a:lstStyle/>
                    <a:p>
                      <a:r>
                        <a:t>up_mes_down_epi_SUB1_MCODE_7</a:t>
                      </a:r>
                    </a:p>
                  </a:txBody>
                  <a:tcPr/>
                </a:tc>
                <a:tc>
                  <a:txBody>
                    <a:bodyPr/>
                    <a:lstStyle/>
                    <a:p>
                      <a:r>
                        <a:t>WP437|EGF EGFR signaling pathway|-6.8;hsa05417|Lipid and atherosclerosis|-6.5;GO:0007264|small GTPase-mediated signal transduction|-6.2</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pic>
        <p:nvPicPr>
          <p:cNvPr id="4" name="Picture 3" descr="up_mes_down_epi_MCODE_ALL_PPIColorByCluster.png"/>
          <p:cNvPicPr>
            <a:picLocks noChangeAspect="1"/>
          </p:cNvPicPr>
          <p:nvPr/>
        </p:nvPicPr>
        <p:blipFill>
          <a:blip r:embed="rId2"/>
          <a:stretch>
            <a:fillRect/>
          </a:stretch>
        </p:blipFill>
        <p:spPr>
          <a:xfrm>
            <a:off x="640080" y="2151527"/>
            <a:ext cx="10911535" cy="414851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down_epi_PPIColorByCluster.png"/>
          <p:cNvPicPr>
            <a:picLocks noChangeAspect="1"/>
          </p:cNvPicPr>
          <p:nvPr/>
        </p:nvPicPr>
        <p:blipFill>
          <a:blip r:embed="rId2"/>
          <a:stretch>
            <a:fillRect/>
          </a:stretch>
        </p:blipFill>
        <p:spPr>
          <a:xfrm>
            <a:off x="2087478" y="1665465"/>
            <a:ext cx="8016739"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up_epi_only</a:t>
                      </a:r>
                    </a:p>
                  </a:txBody>
                  <a:tcPr/>
                </a:tc>
                <a:tc>
                  <a:txBody>
                    <a:bodyPr/>
                    <a:lstStyle/>
                    <a:p>
                      <a:r>
                        <a:t>R-HSA-1280215|Cytokine Signaling in Immune system|-20.5;R-HSA-913531|Interferon Signaling|-13.4;GO:0009615|response to virus|-11.0</a:t>
                      </a:r>
                    </a:p>
                  </a:txBody>
                  <a:tcPr/>
                </a:tc>
              </a:tr>
              <a:tr h="640080">
                <a:tc>
                  <a:txBody>
                    <a:bodyPr/>
                    <a:lstStyle/>
                    <a:p>
                      <a:r>
                        <a:t>up_epi_only_MCODE_ALL</a:t>
                      </a:r>
                    </a:p>
                  </a:txBody>
                  <a:tcPr/>
                </a:tc>
                <a:tc>
                  <a:txBody>
                    <a:bodyPr/>
                    <a:lstStyle/>
                    <a:p>
                      <a:r>
                        <a:t>R-HSA-1280215|Cytokine Signaling in Immune system|-11.7;WP3929|Chemokine signaling pathway|-11.7;hsa04062|Chemokine signaling pathway|-11.2</a:t>
                      </a:r>
                    </a:p>
                  </a:txBody>
                  <a:tcPr/>
                </a:tc>
              </a:tr>
              <a:tr h="640080">
                <a:tc>
                  <a:txBody>
                    <a:bodyPr/>
                    <a:lstStyle/>
                    <a:p>
                      <a:r>
                        <a:t>up_epi_only_SUB1_MCODE_1</a:t>
                      </a:r>
                    </a:p>
                  </a:txBody>
                  <a:tcPr/>
                </a:tc>
                <a:tc>
                  <a:txBody>
                    <a:bodyPr/>
                    <a:lstStyle/>
                    <a:p>
                      <a:r>
                        <a:t>hsa05130|Pathogenic Escherichia coli infection|-6.7;WP4136|Fibrin complement receptor 3 signaling pathway|-6.7;GO:0009612|response to mechanical stimulus|-6.5</a:t>
                      </a:r>
                    </a:p>
                  </a:txBody>
                  <a:tcPr/>
                </a:tc>
              </a:tr>
              <a:tr h="640080">
                <a:tc>
                  <a:txBody>
                    <a:bodyPr/>
                    <a:lstStyle/>
                    <a:p>
                      <a:r>
                        <a:t>up_epi_only_SUB1_MCODE_2</a:t>
                      </a:r>
                    </a:p>
                  </a:txBody>
                  <a:tcPr/>
                </a:tc>
                <a:tc>
                  <a:txBody>
                    <a:bodyPr/>
                    <a:lstStyle/>
                    <a:p>
                      <a:r>
                        <a:t>R-HSA-418594|G alpha (i) signalling events|-11.9;R-HSA-373076|Class A/1 (Rhodopsin-like receptors)|-11.8;R-HSA-500792|GPCR ligand binding|-10.9</a:t>
                      </a:r>
                    </a:p>
                  </a:txBody>
                  <a:tcPr/>
                </a:tc>
              </a:tr>
              <a:tr h="640080">
                <a:tc>
                  <a:txBody>
                    <a:bodyPr/>
                    <a:lstStyle/>
                    <a:p>
                      <a:r>
                        <a:t>up_epi_only_SUB1_MCODE_3</a:t>
                      </a:r>
                    </a:p>
                  </a:txBody>
                  <a:tcPr/>
                </a:tc>
                <a:tc>
                  <a:txBody>
                    <a:bodyPr/>
                    <a:lstStyle/>
                    <a:p>
                      <a:r>
                        <a:t>hsa05135|Yersinia infection|-6.4;GO:0007264|small GTPase-mediated signal transduction|-5.6;GO:0007015|actin filament organization|-5.5</a:t>
                      </a:r>
                    </a:p>
                  </a:txBody>
                  <a:tcPr/>
                </a:tc>
              </a:tr>
              <a:tr h="640080">
                <a:tc>
                  <a:txBody>
                    <a:bodyPr/>
                    <a:lstStyle/>
                    <a:p>
                      <a:r>
                        <a:t>up_epi_only_SUB1_MCODE_4</a:t>
                      </a:r>
                    </a:p>
                  </a:txBody>
                  <a:tcPr/>
                </a:tc>
                <a:tc>
                  <a:txBody>
                    <a:bodyPr/>
                    <a:lstStyle/>
                    <a:p>
                      <a:r>
                        <a:t>M22063|BIOCARTA STAT3 PATHWAY|-10.9;M8066|BIOCARTA IL22BP PATHWAY|-10.7;GO:0060397|growth hormone receptor signaling pathway via JAK-STAT|-10.6</a:t>
                      </a:r>
                    </a:p>
                  </a:txBody>
                  <a:tcPr/>
                </a:tc>
              </a:tr>
              <a:tr h="640080">
                <a:tc>
                  <a:txBody>
                    <a:bodyPr/>
                    <a:lstStyle/>
                    <a:p>
                      <a:r>
                        <a:t>up_epi_only_SUB1_MCODE_5</a:t>
                      </a:r>
                    </a:p>
                  </a:txBody>
                  <a:tcPr/>
                </a:tc>
                <a:tc>
                  <a:txBody>
                    <a:bodyPr/>
                    <a:lstStyle/>
                    <a:p>
                      <a:r>
                        <a:t>R-HSA-5668541|TNFR2 non-canonical NF-kB pathway|-7.4;hsa04060|Cytokine-cytokine receptor interaction|-6.0;R-HSA-1280215|Cytokine Signaling in Immune system|-4.8</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pic>
        <p:nvPicPr>
          <p:cNvPr id="4" name="Picture 3" descr="up_epi_only_MCODE_ALL_PPIColorByCluster.png"/>
          <p:cNvPicPr>
            <a:picLocks noChangeAspect="1"/>
          </p:cNvPicPr>
          <p:nvPr/>
        </p:nvPicPr>
        <p:blipFill>
          <a:blip r:embed="rId2"/>
          <a:stretch>
            <a:fillRect/>
          </a:stretch>
        </p:blipFill>
        <p:spPr>
          <a:xfrm>
            <a:off x="640080" y="1769684"/>
            <a:ext cx="10911535" cy="4912203"/>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epi_only_PPIColorByCluster.png"/>
          <p:cNvPicPr>
            <a:picLocks noChangeAspect="1"/>
          </p:cNvPicPr>
          <p:nvPr/>
        </p:nvPicPr>
        <p:blipFill>
          <a:blip r:embed="rId2"/>
          <a:stretch>
            <a:fillRect/>
          </a:stretch>
        </p:blipFill>
        <p:spPr>
          <a:xfrm>
            <a:off x="779336" y="1665465"/>
            <a:ext cx="10633022" cy="51206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up_common_genes</a:t>
                      </a:r>
                    </a:p>
                  </a:txBody>
                  <a:tcPr/>
                </a:tc>
                <a:tc>
                  <a:txBody>
                    <a:bodyPr/>
                    <a:lstStyle/>
                    <a:p>
                      <a:r>
                        <a:t>R-HSA-1280215|Cytokine Signaling in Immune system|-41.1;M5890|HALLMARK TNFA SIGNALING VIA NFKB|-36.6;hsa05169|Epstein-Barr virus infection|-36.5</a:t>
                      </a:r>
                    </a:p>
                  </a:txBody>
                  <a:tcPr/>
                </a:tc>
              </a:tr>
              <a:tr h="731520">
                <a:tc>
                  <a:txBody>
                    <a:bodyPr/>
                    <a:lstStyle/>
                    <a:p>
                      <a:r>
                        <a:t>up_common_genes_MCODE_ALL</a:t>
                      </a:r>
                    </a:p>
                  </a:txBody>
                  <a:tcPr/>
                </a:tc>
                <a:tc>
                  <a:txBody>
                    <a:bodyPr/>
                    <a:lstStyle/>
                    <a:p>
                      <a:r>
                        <a:t>hsa05169|Epstein-Barr virus infection|-43.9;R-HSA-1280215|Cytokine Signaling in Immune system|-40.7;R-HSA-1168372|Downstream signaling events of B Cell Receptor (BCR)|-36.6</a:t>
                      </a:r>
                    </a:p>
                  </a:txBody>
                  <a:tcPr/>
                </a:tc>
              </a:tr>
              <a:tr h="731520">
                <a:tc>
                  <a:txBody>
                    <a:bodyPr/>
                    <a:lstStyle/>
                    <a:p>
                      <a:r>
                        <a:t>up_common_genes_SUB1_MCODE_1</a:t>
                      </a:r>
                    </a:p>
                  </a:txBody>
                  <a:tcPr/>
                </a:tc>
                <a:tc>
                  <a:txBody>
                    <a:bodyPr/>
                    <a:lstStyle/>
                    <a:p>
                      <a:r>
                        <a:t>R-HSA-9020702|Interleukin-1 signaling|-45.1;R-HSA-1169091|Activation of NF-kappaB in B cells|-43.8;R-HSA-446652|Interleukin-1 family signaling|-42.5</a:t>
                      </a:r>
                    </a:p>
                  </a:txBody>
                  <a:tcPr/>
                </a:tc>
              </a:tr>
              <a:tr h="731520">
                <a:tc>
                  <a:txBody>
                    <a:bodyPr/>
                    <a:lstStyle/>
                    <a:p>
                      <a:r>
                        <a:t>up_common_genes_SUB1_MCODE_2</a:t>
                      </a:r>
                    </a:p>
                  </a:txBody>
                  <a:tcPr/>
                </a:tc>
                <a:tc>
                  <a:txBody>
                    <a:bodyPr/>
                    <a:lstStyle/>
                    <a:p>
                      <a:r>
                        <a:t>GO:0019885|antigen processing and presentation of endogenous peptide antigen via MHC class I|-17.1;GO:0002483|antigen processing and presentation of endogenous peptide antigen|-16.9;R-HSA-983170|Antigen Presentation: Folding, assembly and peptide loading of class I MHC|-16.4</a:t>
                      </a:r>
                    </a:p>
                  </a:txBody>
                  <a:tcPr/>
                </a:tc>
              </a:tr>
              <a:tr h="731520">
                <a:tc>
                  <a:txBody>
                    <a:bodyPr/>
                    <a:lstStyle/>
                    <a:p>
                      <a:r>
                        <a:t>up_common_genes_SUB1_MCODE_3</a:t>
                      </a:r>
                    </a:p>
                  </a:txBody>
                  <a:tcPr/>
                </a:tc>
                <a:tc>
                  <a:txBody>
                    <a:bodyPr/>
                    <a:lstStyle/>
                    <a:p>
                      <a:r>
                        <a:t>M36|PID IL27 PATHWAY|-10.3;WP4666|Hepatitis B infection|-9.4;hsa05161|Hepatitis B|-9.3</a:t>
                      </a:r>
                    </a:p>
                  </a:txBody>
                  <a:tcPr/>
                </a:tc>
              </a:tr>
              <a:tr h="731520">
                <a:tc>
                  <a:txBody>
                    <a:bodyPr/>
                    <a:lstStyle/>
                    <a:p>
                      <a:r>
                        <a:t>up_common_genes_SUB1_MCODE_4</a:t>
                      </a:r>
                    </a:p>
                  </a:txBody>
                  <a:tcPr/>
                </a:tc>
                <a:tc>
                  <a:txBody>
                    <a:bodyPr/>
                    <a:lstStyle/>
                    <a:p>
                      <a:r>
                        <a:t>GO:0030048|actin filament-based movement|-7.4;hsa04814|Motor proteins|-6.6;GO:0030036|actin cytoskeleton organization|-5.2</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pic>
        <p:nvPicPr>
          <p:cNvPr id="4" name="Picture 3" descr="up_common_genes_MCODE_ALL_PPIColorByCluster.png"/>
          <p:cNvPicPr>
            <a:picLocks noChangeAspect="1"/>
          </p:cNvPicPr>
          <p:nvPr/>
        </p:nvPicPr>
        <p:blipFill>
          <a:blip r:embed="rId2"/>
          <a:stretch>
            <a:fillRect/>
          </a:stretch>
        </p:blipFill>
        <p:spPr>
          <a:xfrm>
            <a:off x="849290" y="1665465"/>
            <a:ext cx="10493114" cy="512064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common_genes_PPIColorByCluster.png"/>
          <p:cNvPicPr>
            <a:picLocks noChangeAspect="1"/>
          </p:cNvPicPr>
          <p:nvPr/>
        </p:nvPicPr>
        <p:blipFill>
          <a:blip r:embed="rId2"/>
          <a:stretch>
            <a:fillRect/>
          </a:stretch>
        </p:blipFill>
        <p:spPr>
          <a:xfrm>
            <a:off x="2437248" y="1665465"/>
            <a:ext cx="7317198"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graphicFrame>
        <p:nvGraphicFramePr>
          <p:cNvPr id="4" name="Table 3"/>
          <p:cNvGraphicFramePr>
            <a:graphicFrameLocks noGrp="1"/>
          </p:cNvGraphicFramePr>
          <p:nvPr/>
        </p:nvGraphicFramePr>
        <p:xfrm>
          <a:off x="640080" y="1665465"/>
          <a:ext cx="10911535" cy="4274312"/>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024128">
                <a:tc>
                  <a:txBody>
                    <a:bodyPr/>
                    <a:lstStyle/>
                    <a:p>
                      <a:r>
                        <a:t>down_mes_up_epi</a:t>
                      </a:r>
                    </a:p>
                  </a:txBody>
                  <a:tcPr/>
                </a:tc>
                <a:tc>
                  <a:txBody>
                    <a:bodyPr/>
                    <a:lstStyle/>
                    <a:p>
                      <a:r>
                        <a:t>GO:0071560|cellular response to transforming growth factor beta stimulus|-7.5;GO:0071559|response to transforming growth factor beta|-7.3;GO:1901699|cellular response to nitrogen compound|-6.4</a:t>
                      </a:r>
                    </a:p>
                  </a:txBody>
                  <a:tcPr/>
                </a:tc>
              </a:tr>
              <a:tr h="1024128">
                <a:tc>
                  <a:txBody>
                    <a:bodyPr/>
                    <a:lstStyle/>
                    <a:p>
                      <a:r>
                        <a:t>down_mes_up_epi_MCODE_ALL</a:t>
                      </a:r>
                    </a:p>
                  </a:txBody>
                  <a:tcPr/>
                </a:tc>
                <a:tc>
                  <a:txBody>
                    <a:bodyPr/>
                    <a:lstStyle/>
                    <a:p>
                      <a:r>
                        <a:t>GO:0017015|regulation of transforming growth factor beta receptor signaling pathway|-4.8;GO:1903844|regulation of cellular response to transforming growth factor beta stimulus|-4.8;GO:0000165|MAPK cascade|-4.6</a:t>
                      </a:r>
                    </a:p>
                  </a:txBody>
                  <a:tcPr/>
                </a:tc>
              </a:tr>
              <a:tr h="1024128">
                <a:tc>
                  <a:txBody>
                    <a:bodyPr/>
                    <a:lstStyle/>
                    <a:p>
                      <a:r>
                        <a:t>down_mes_up_epi_SUB1_MCODE_1</a:t>
                      </a:r>
                    </a:p>
                  </a:txBody>
                  <a:tcPr/>
                </a:tc>
                <a:tc>
                  <a:txBody>
                    <a:bodyPr/>
                    <a:lstStyle/>
                    <a:p>
                      <a:r>
                        <a:t>GO:0017015|regulation of transforming growth factor beta receptor signaling pathway|-5.4;GO:1903844|regulation of cellular response to transforming growth factor beta stimulus|-5.4;GO:0000165|MAPK cascade|-5.2</a:t>
                      </a:r>
                    </a:p>
                  </a:txBody>
                  <a:tcPr/>
                </a:tc>
              </a:tr>
              <a:tr h="1024128">
                <a:tc>
                  <a:txBody>
                    <a:bodyPr/>
                    <a:lstStyle/>
                    <a:p>
                      <a:r>
                        <a:t>down_mes_up_epi_SUB2_MCODE_2</a:t>
                      </a:r>
                    </a:p>
                  </a:txBody>
                  <a:tcPr/>
                </a:tc>
                <a:tc>
                  <a:txBody>
                    <a:bodyPr/>
                    <a:lstStyle/>
                    <a:p>
                      <a:r>
                        <a:t>GO:0016567|protein ubiquitination|-5.1;GO:0032446|protein modification by small protein conjugation|-4.9</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pic>
        <p:nvPicPr>
          <p:cNvPr id="4" name="Picture 3" descr="down_mes_up_epi_MCODE_ALL_PPIColorByCluster.png"/>
          <p:cNvPicPr>
            <a:picLocks noChangeAspect="1"/>
          </p:cNvPicPr>
          <p:nvPr/>
        </p:nvPicPr>
        <p:blipFill>
          <a:blip r:embed="rId2"/>
          <a:stretch>
            <a:fillRect/>
          </a:stretch>
        </p:blipFill>
        <p:spPr>
          <a:xfrm>
            <a:off x="1101125" y="1665465"/>
            <a:ext cx="9989445" cy="512064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up_epi_PPIColorByCluster.png"/>
          <p:cNvPicPr>
            <a:picLocks noChangeAspect="1"/>
          </p:cNvPicPr>
          <p:nvPr/>
        </p:nvPicPr>
        <p:blipFill>
          <a:blip r:embed="rId2"/>
          <a:stretch>
            <a:fillRect/>
          </a:stretch>
        </p:blipFill>
        <p:spPr>
          <a:xfrm>
            <a:off x="961217" y="1665465"/>
            <a:ext cx="10269261" cy="51206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graphicFrame>
        <p:nvGraphicFramePr>
          <p:cNvPr id="4" name="Table 3"/>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down_mes_only</a:t>
                      </a:r>
                    </a:p>
                  </a:txBody>
                  <a:tcPr/>
                </a:tc>
                <a:tc>
                  <a:txBody>
                    <a:bodyPr/>
                    <a:lstStyle/>
                    <a:p>
                      <a:r>
                        <a:t>GO:0120039|plasma membrane bounded cell projection morphogenesis|-9.9;GO:0048858|cell projection morphogenesis|-9.8;GO:0048667|cell morphogenesis involved in neuron differentiation|-9.7</a:t>
                      </a:r>
                    </a:p>
                  </a:txBody>
                  <a:tcPr/>
                </a:tc>
              </a:tr>
              <a:tr h="1280160">
                <a:tc>
                  <a:txBody>
                    <a:bodyPr/>
                    <a:lstStyle/>
                    <a:p>
                      <a:r>
                        <a:t>down_mes_only_MCODE_ALL</a:t>
                      </a:r>
                    </a:p>
                  </a:txBody>
                  <a:tcPr/>
                </a:tc>
                <a:tc>
                  <a:txBody>
                    <a:bodyPr/>
                    <a:lstStyle/>
                    <a:p>
                      <a:r>
                        <a:t>R-HSA-9772755|Formation of WDR5-containing histone-modifying complexes|-8.2;R-HSA-1368082|RORA activates gene expression|-6.9;R-HSA-381340|Transcriptional regulation of white adipocyte differentiation|-6.9</a:t>
                      </a:r>
                    </a:p>
                  </a:txBody>
                  <a:tcPr/>
                </a:tc>
              </a:tr>
              <a:tr h="1280160">
                <a:tc>
                  <a:txBody>
                    <a:bodyPr/>
                    <a:lstStyle/>
                    <a:p>
                      <a:r>
                        <a:t>down_mes_only_SUB1_MCODE_1</a:t>
                      </a:r>
                    </a:p>
                  </a:txBody>
                  <a:tcPr/>
                </a:tc>
                <a:tc>
                  <a:txBody>
                    <a:bodyPr/>
                    <a:lstStyle/>
                    <a:p>
                      <a:r>
                        <a:t>R-HSA-381340|Transcriptional regulation of white adipocyte differentiation|-8.7;R-HSA-9843745|Adipogenesis|-8.3;R-HSA-1368082|RORA activates gene expression|-8.2</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pic>
        <p:nvPicPr>
          <p:cNvPr id="4" name="Picture 3" descr="down_mes_only_MCODE_ALL_PPIColorByCluster.png"/>
          <p:cNvPicPr>
            <a:picLocks noChangeAspect="1"/>
          </p:cNvPicPr>
          <p:nvPr/>
        </p:nvPicPr>
        <p:blipFill>
          <a:blip r:embed="rId2"/>
          <a:stretch>
            <a:fillRect/>
          </a:stretch>
        </p:blipFill>
        <p:spPr>
          <a:xfrm>
            <a:off x="640080" y="2351616"/>
            <a:ext cx="10911535" cy="374833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only_PPIColorByCluster.png"/>
          <p:cNvPicPr>
            <a:picLocks noChangeAspect="1"/>
          </p:cNvPicPr>
          <p:nvPr/>
        </p:nvPicPr>
        <p:blipFill>
          <a:blip r:embed="rId2"/>
          <a:stretch>
            <a:fillRect/>
          </a:stretch>
        </p:blipFill>
        <p:spPr>
          <a:xfrm>
            <a:off x="640080" y="1745275"/>
            <a:ext cx="10911535" cy="496102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graphicFrame>
        <p:nvGraphicFramePr>
          <p:cNvPr id="4" name="Table 3"/>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down_epi_only</a:t>
                      </a:r>
                    </a:p>
                  </a:txBody>
                  <a:tcPr/>
                </a:tc>
                <a:tc>
                  <a:txBody>
                    <a:bodyPr/>
                    <a:lstStyle/>
                    <a:p>
                      <a:r>
                        <a:t>GO:0019752|carboxylic acid metabolic process|-18.5;GO:1901615|organic hydroxy compound metabolic process|-17.8;GO:0044282|small molecule catabolic process|-13.7</a:t>
                      </a:r>
                    </a:p>
                  </a:txBody>
                  <a:tcPr/>
                </a:tc>
              </a:tr>
              <a:tr h="512064">
                <a:tc>
                  <a:txBody>
                    <a:bodyPr/>
                    <a:lstStyle/>
                    <a:p>
                      <a:r>
                        <a:t>down_epi_only_MCODE_ALL</a:t>
                      </a:r>
                    </a:p>
                  </a:txBody>
                  <a:tcPr/>
                </a:tc>
                <a:tc>
                  <a:txBody>
                    <a:bodyPr/>
                    <a:lstStyle/>
                    <a:p>
                      <a:r>
                        <a:t>WP702|Metapathway biotransformation Phase I and II|-11.1;GO:0050878|regulation of body fluid levels|-10.4;R-HSA-140875|Common Pathway of Fibrin Clot Formation|-8.2</a:t>
                      </a:r>
                    </a:p>
                  </a:txBody>
                  <a:tcPr/>
                </a:tc>
              </a:tr>
              <a:tr h="512064">
                <a:tc>
                  <a:txBody>
                    <a:bodyPr/>
                    <a:lstStyle/>
                    <a:p>
                      <a:r>
                        <a:t>down_epi_only_SUB1_MCODE_1</a:t>
                      </a:r>
                    </a:p>
                  </a:txBody>
                  <a:tcPr/>
                </a:tc>
                <a:tc>
                  <a:txBody>
                    <a:bodyPr/>
                    <a:lstStyle/>
                    <a:p>
                      <a:r>
                        <a:t>R-HSA-416476|G alpha (q) signalling events|-10.8;R-HSA-388396|GPCR downstream signalling|-8.4;R-HSA-372790|Signaling by GPCR|-8.2</a:t>
                      </a:r>
                    </a:p>
                  </a:txBody>
                  <a:tcPr/>
                </a:tc>
              </a:tr>
              <a:tr h="512064">
                <a:tc>
                  <a:txBody>
                    <a:bodyPr/>
                    <a:lstStyle/>
                    <a:p>
                      <a:r>
                        <a:t>down_epi_only_SUB1_MCODE_2</a:t>
                      </a:r>
                    </a:p>
                  </a:txBody>
                  <a:tcPr/>
                </a:tc>
                <a:tc>
                  <a:txBody>
                    <a:bodyPr/>
                    <a:lstStyle/>
                    <a:p>
                      <a:r>
                        <a:t>GO:0019318|hexose metabolic process|-5.9;GO:0005996|monosaccharide metabolic process|-5.7;GO:0005975|carbohydrate metabolic process|-4.5</a:t>
                      </a:r>
                    </a:p>
                  </a:txBody>
                  <a:tcPr/>
                </a:tc>
              </a:tr>
              <a:tr h="512064">
                <a:tc>
                  <a:txBody>
                    <a:bodyPr/>
                    <a:lstStyle/>
                    <a:p>
                      <a:r>
                        <a:t>down_epi_only_SUB1_MCODE_3</a:t>
                      </a:r>
                    </a:p>
                  </a:txBody>
                  <a:tcPr/>
                </a:tc>
                <a:tc>
                  <a:txBody>
                    <a:bodyPr/>
                    <a:lstStyle/>
                    <a:p>
                      <a:r>
                        <a:t>R-HSA-913709|O-linked glycosylation of mucins|-10.7;R-HSA-5173105|O-linked glycosylation|-9.8;hsa00512|Mucin type O-glycan biosynthesis|-8.2</a:t>
                      </a:r>
                    </a:p>
                  </a:txBody>
                  <a:tcPr/>
                </a:tc>
              </a:tr>
              <a:tr h="512064">
                <a:tc>
                  <a:txBody>
                    <a:bodyPr/>
                    <a:lstStyle/>
                    <a:p>
                      <a:r>
                        <a:t>down_epi_only_SUB1_MCODE_5</a:t>
                      </a:r>
                    </a:p>
                  </a:txBody>
                  <a:tcPr/>
                </a:tc>
                <a:tc>
                  <a:txBody>
                    <a:bodyPr/>
                    <a:lstStyle/>
                    <a:p>
                      <a:r>
                        <a:t>R-HSA-140875|Common Pathway of Fibrin Clot Formation|-9.5;R-HSA-140877|Formation of Fibrin Clot (Clotting Cascade)|-8.7;WP558|Complement and coagulation cascades|-8.2</a:t>
                      </a:r>
                    </a:p>
                  </a:txBody>
                  <a:tcPr/>
                </a:tc>
              </a:tr>
              <a:tr h="512064">
                <a:tc>
                  <a:txBody>
                    <a:bodyPr/>
                    <a:lstStyle/>
                    <a:p>
                      <a:r>
                        <a:t>down_epi_only_SUB1_MCODE_6</a:t>
                      </a:r>
                    </a:p>
                  </a:txBody>
                  <a:tcPr/>
                </a:tc>
                <a:tc>
                  <a:txBody>
                    <a:bodyPr/>
                    <a:lstStyle/>
                    <a:p>
                      <a:r>
                        <a:t>hsa05204|Chemical carcinogenesis - DNA adducts|-7.9;hsa00982|Drug metabolism - cytochrome P450|-7.9;R-HSA-9748784|Drug ADME|-7.3</a:t>
                      </a:r>
                    </a:p>
                  </a:txBody>
                  <a:tcPr/>
                </a:tc>
              </a:tr>
              <a:tr h="512064">
                <a:tc>
                  <a:txBody>
                    <a:bodyPr/>
                    <a:lstStyle/>
                    <a:p>
                      <a:r>
                        <a:t>down_epi_only_SUB1_MCODE_7</a:t>
                      </a:r>
                    </a:p>
                  </a:txBody>
                  <a:tcPr/>
                </a:tc>
                <a:tc>
                  <a:txBody>
                    <a:bodyPr/>
                    <a:lstStyle/>
                    <a:p>
                      <a:r>
                        <a:t>R-HSA-936837|Ion transport by P-type ATPases|-8.2;R-HSA-983712|Ion channel transport|-6.6;GO:0030003|intracellular monoatomic cation homeostasis|-5.6</a:t>
                      </a:r>
                    </a:p>
                  </a:txBody>
                  <a:tcPr/>
                </a:tc>
              </a:tr>
              <a:tr h="512064">
                <a:tc>
                  <a:txBody>
                    <a:bodyPr/>
                    <a:lstStyle/>
                    <a:p>
                      <a:r>
                        <a:t>down_epi_only_SUB2_MCODE_8</a:t>
                      </a:r>
                    </a:p>
                  </a:txBody>
                  <a:tcPr/>
                </a:tc>
                <a:tc>
                  <a:txBody>
                    <a:bodyPr/>
                    <a:lstStyle/>
                    <a:p>
                      <a:r>
                        <a:t>WP702|Metapathway biotransformation Phase I and II|-6.7</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pic>
        <p:nvPicPr>
          <p:cNvPr id="4" name="Picture 3" descr="down_epi_only_MCODE_ALL_PPIColorByCluster.png"/>
          <p:cNvPicPr>
            <a:picLocks noChangeAspect="1"/>
          </p:cNvPicPr>
          <p:nvPr/>
        </p:nvPicPr>
        <p:blipFill>
          <a:blip r:embed="rId2"/>
          <a:stretch>
            <a:fillRect/>
          </a:stretch>
        </p:blipFill>
        <p:spPr>
          <a:xfrm>
            <a:off x="640080" y="1871402"/>
            <a:ext cx="10911535" cy="4708767"/>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epi_only_PPIColorByCluster.png"/>
          <p:cNvPicPr>
            <a:picLocks noChangeAspect="1"/>
          </p:cNvPicPr>
          <p:nvPr/>
        </p:nvPicPr>
        <p:blipFill>
          <a:blip r:embed="rId2"/>
          <a:stretch>
            <a:fillRect/>
          </a:stretch>
        </p:blipFill>
        <p:spPr>
          <a:xfrm>
            <a:off x="660414" y="1665465"/>
            <a:ext cx="10870866" cy="5120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