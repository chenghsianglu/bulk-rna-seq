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7" r:id="rId3"/>
    <p:sldId id="267" r:id="rId4"/>
    <p:sldId id="268" r:id="rId6"/>
    <p:sldId id="261" r:id="rId7"/>
    <p:sldId id="262" r:id="rId8"/>
    <p:sldId id="265" r:id="rId9"/>
    <p:sldId id="269" r:id="rId10"/>
    <p:sldId id="263" r:id="rId11"/>
    <p:sldId id="266" r:id="rId12"/>
    <p:sldId id="264" r:id="rId13"/>
    <p:sldId id="300" r:id="rId46"/>
    <p:sldId id="299" r:id="rId45"/>
    <p:sldId id="298" r:id="rId44"/>
    <p:sldId id="297" r:id="rId43"/>
    <p:sldId id="296" r:id="rId42"/>
    <p:sldId id="295" r:id="rId41"/>
    <p:sldId id="294" r:id="rId40"/>
    <p:sldId id="293" r:id="rId39"/>
    <p:sldId id="292" r:id="rId38"/>
    <p:sldId id="291" r:id="rId37"/>
    <p:sldId id="290" r:id="rId36"/>
    <p:sldId id="289" r:id="rId35"/>
    <p:sldId id="288" r:id="rId34"/>
    <p:sldId id="287" r:id="rId33"/>
    <p:sldId id="286" r:id="rId32"/>
    <p:sldId id="285" r:id="rId31"/>
    <p:sldId id="284" r:id="rId30"/>
    <p:sldId id="283" r:id="rId29"/>
    <p:sldId id="282" r:id="rId28"/>
    <p:sldId id="281" r:id="rId27"/>
    <p:sldId id="280" r:id="rId26"/>
    <p:sldId id="27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 Target="slides/slide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a:t>
            </a:r>
            <a:r>
              <a:rPr lang="en-US" baseline="0" dirty="0" smtClean="0"/>
              <a:t> report is automatically generated by Metascape (https://metascape.org).</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8300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first</a:t>
            </a:r>
            <a:r>
              <a:rPr lang="en-US" baseline="0" dirty="0" smtClean="0"/>
              <a:t> </a:t>
            </a:r>
            <a:r>
              <a:rPr lang="en-US" dirty="0" smtClean="0"/>
              <a:t>automatically </a:t>
            </a:r>
            <a:r>
              <a:rPr lang="en-US" baseline="0" dirty="0" smtClean="0"/>
              <a:t>converts you input identifiers (</a:t>
            </a:r>
            <a:r>
              <a:rPr lang="en-US" baseline="0" dirty="0" err="1" smtClean="0"/>
              <a:t>Entrez</a:t>
            </a:r>
            <a:r>
              <a:rPr lang="en-US" baseline="0" dirty="0" smtClean="0"/>
              <a:t> Gene 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Symbol) into Human </a:t>
            </a:r>
            <a:r>
              <a:rPr lang="en-US" baseline="0" dirty="0" err="1" smtClean="0"/>
              <a:t>Entrez</a:t>
            </a:r>
            <a:r>
              <a:rPr lang="en-US" baseline="0" dirty="0" smtClean="0"/>
              <a:t> Gene ID.  For example, input identifiers can be from human, mouse or rat </a:t>
            </a:r>
            <a:r>
              <a:rPr lang="en-US" baseline="0" dirty="0" err="1" smtClean="0"/>
              <a:t>orthologs</a:t>
            </a:r>
            <a:r>
              <a:rPr lang="en-US" baseline="0" dirty="0" smtClean="0"/>
              <a:t>, which can be mapped into human (or “analysis as” species) based on 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baseline="0" dirty="0" smtClean="0"/>
          </a:p>
          <a:p>
            <a:r>
              <a:rPr lang="en-US" baseline="0" dirty="0" smtClean="0"/>
              <a:t>The background of each row is the color code used in the various plots within this report, where each color is consistently used to code a corresponding gene list.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a:t>
            </a:r>
          </a:p>
          <a:p>
            <a:endParaRPr lang="en-US" baseline="0" dirty="0" smtClean="0"/>
          </a:p>
          <a:p>
            <a:r>
              <a:rPr lang="en-US" baseline="0" dirty="0" smtClean="0"/>
              <a:t>The greater the number of purple links and the longer the dark orange arcs implies greater overlap among the input gene lists.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0109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a:t>
            </a:r>
          </a:p>
          <a:p>
            <a:r>
              <a:rPr lang="en-US" baseline="0" dirty="0" smtClean="0"/>
              <a:t>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  Blue lines link the genes, although different, fall under the same ontology term (the term has to statistically significantly enriched and with size no larger than 100).</a:t>
            </a:r>
          </a:p>
          <a:p>
            <a:endParaRPr lang="en-US" baseline="0" dirty="0" smtClean="0"/>
          </a:p>
          <a:p>
            <a:r>
              <a:rPr lang="en-US" baseline="0" dirty="0" smtClean="0"/>
              <a:t>The greater the number of purple links and the longer the dark orange arcs implies greater overlap among the input gene lists.  Blue links indicate the amount of functional overlap among the input gene lists.  It is common in meta-analysis that we observe little directly overlap among studies, due to the variations in the biological assays used.  However, we tend to see a lot more functional overlap, as these studies probably pick up different subset of gene members of the same biological processes.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375065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the term with the best p-value within each cluster as its representative term and display them in a </a:t>
            </a:r>
            <a:r>
              <a:rPr lang="en-US" baseline="0" dirty="0" err="1" smtClean="0"/>
              <a:t>dendrogram</a:t>
            </a:r>
            <a:r>
              <a:rPr lang="en-US" baseline="0" dirty="0" smtClean="0"/>
              <a:t>. The </a:t>
            </a:r>
            <a:r>
              <a:rPr lang="en-US" baseline="0" dirty="0" err="1" smtClean="0"/>
              <a:t>heatmap</a:t>
            </a:r>
            <a:r>
              <a:rPr lang="en-US" baseline="0" dirty="0" smtClean="0"/>
              <a:t> cells are colored by their p-values, white cells indicate the lack of enrichment for that term in the corresponding gene list.  We also export files behind this </a:t>
            </a:r>
            <a:r>
              <a:rPr lang="en-US" baseline="0" dirty="0" err="1" smtClean="0"/>
              <a:t>heatmap</a:t>
            </a:r>
            <a:r>
              <a:rPr lang="en-US" baseline="0" dirty="0" smtClean="0"/>
              <a:t> (.</a:t>
            </a:r>
            <a:r>
              <a:rPr lang="en-US" baseline="0" dirty="0" err="1" smtClean="0"/>
              <a:t>cdt</a:t>
            </a:r>
            <a:r>
              <a:rPr lang="en-US" baseline="0" dirty="0" smtClean="0"/>
              <a:t>, .</a:t>
            </a:r>
            <a:r>
              <a:rPr lang="en-US" baseline="0" dirty="0" err="1" smtClean="0"/>
              <a:t>gtr</a:t>
            </a:r>
            <a:r>
              <a:rPr lang="en-US" baseline="0" dirty="0" smtClean="0"/>
              <a:t>, .</a:t>
            </a:r>
            <a:r>
              <a:rPr lang="en-US" baseline="0" dirty="0" err="1" smtClean="0"/>
              <a:t>atr</a:t>
            </a:r>
            <a:r>
              <a:rPr lang="en-US" baseline="0" dirty="0" smtClean="0"/>
              <a:t>, and .</a:t>
            </a:r>
            <a:r>
              <a:rPr lang="en-US" baseline="0" dirty="0" err="1" smtClean="0"/>
              <a:t>jtv</a:t>
            </a:r>
            <a:r>
              <a:rPr lang="en-US" baseline="0" dirty="0" smtClean="0"/>
              <a:t> files), so that one can visualize it interactively using </a:t>
            </a:r>
            <a:r>
              <a:rPr lang="en-US" baseline="0" dirty="0" err="1" smtClean="0"/>
              <a:t>JTreeView</a:t>
            </a:r>
            <a:r>
              <a:rPr lang="en-US" baseline="0" dirty="0" smtClean="0"/>
              <a:t> program (http://sourceforge.net/projects/jtreeview/).  The PDF version of the graph can be found in the zip package.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converted them into a network layout.  More specifically, each term is represented by a circle node, where its size is proportional to the number of input genes fall under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displayed as pies.  Each pie sector is proportional to the number of hits originated from a gene list.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Color code for pie sector represents a gene list and is consistent with the colors used for table rows in slide #2.</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83936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extract “biological meanings”.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a:t>
            </a:r>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12</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into one list and resulted in a PPI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13</a:t>
            </a:fld>
            <a:endParaRPr lang="en-US"/>
          </a:p>
        </p:txBody>
      </p:sp>
    </p:spTree>
    <p:extLst>
      <p:ext uri="{BB962C8B-B14F-4D97-AF65-F5344CB8AC3E}">
        <p14:creationId xmlns:p14="http://schemas.microsoft.com/office/powerpoint/2010/main" val="556376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14</a:t>
            </a:fld>
            <a:endParaRPr lang="en-US"/>
          </a:p>
        </p:txBody>
      </p:sp>
    </p:spTree>
    <p:extLst>
      <p:ext uri="{BB962C8B-B14F-4D97-AF65-F5344CB8AC3E}">
        <p14:creationId xmlns:p14="http://schemas.microsoft.com/office/powerpoint/2010/main" val="127878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components  were identified from the merged network.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15</a:t>
            </a:fld>
            <a:endParaRPr lang="en-US"/>
          </a:p>
        </p:txBody>
      </p:sp>
    </p:spTree>
    <p:extLst>
      <p:ext uri="{BB962C8B-B14F-4D97-AF65-F5344CB8AC3E}">
        <p14:creationId xmlns:p14="http://schemas.microsoft.com/office/powerpoint/2010/main" val="217720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16</a:t>
            </a:fld>
            <a:endParaRPr lang="en-US"/>
          </a:p>
        </p:txBody>
      </p:sp>
    </p:spTree>
    <p:extLst>
      <p:ext uri="{BB962C8B-B14F-4D97-AF65-F5344CB8AC3E}">
        <p14:creationId xmlns:p14="http://schemas.microsoft.com/office/powerpoint/2010/main" val="346616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original PPI network and its MCODE network components to extract their “biological meanings”,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17</a:t>
            </a:fld>
            <a:endParaRPr lang="en-US"/>
          </a:p>
        </p:txBody>
      </p:sp>
    </p:spTree>
    <p:extLst>
      <p:ext uri="{BB962C8B-B14F-4D97-AF65-F5344CB8AC3E}">
        <p14:creationId xmlns:p14="http://schemas.microsoft.com/office/powerpoint/2010/main" val="333841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18</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19</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May 6,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2" name="Rectangle 1"/>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5" name="Rectangle 4"/>
          <p:cNvSpPr/>
          <p:nvPr/>
        </p:nvSpPr>
        <p:spPr>
          <a:xfrm>
            <a:off x="3347310" y="6581001"/>
            <a:ext cx="5955495" cy="276999"/>
          </a:xfrm>
          <a:prstGeom prst="rect">
            <a:avLst/>
          </a:prstGeom>
          <a:noFill/>
        </p:spPr>
        <p:txBody>
          <a:bodyPr wrap="square">
            <a:spAutoFit/>
          </a:bodyPr>
          <a:lstStyle/>
          <a:p>
            <a:r>
              <a:rPr lang="en-US" sz="1200" dirty="0">
                <a:solidFill>
                  <a:schemeClr val="tx2"/>
                </a:solidFill>
                <a:latin typeface="Arial" panose="020B0604020202020204" pitchFamily="34" charset="0"/>
                <a:cs typeface="Arial" panose="020B0604020202020204" pitchFamily="34" charset="0"/>
              </a:rPr>
              <a:t>Please check online </a:t>
            </a:r>
            <a:r>
              <a:rPr lang="en-US" sz="1200" dirty="0" err="1">
                <a:solidFill>
                  <a:schemeClr val="tx2"/>
                </a:solidFill>
                <a:latin typeface="Arial" panose="020B0604020202020204" pitchFamily="34" charset="0"/>
                <a:cs typeface="Arial" panose="020B0604020202020204" pitchFamily="34" charset="0"/>
                <a:hlinkClick r:id="rId3"/>
              </a:rPr>
              <a:t>Metascape</a:t>
            </a:r>
            <a:r>
              <a:rPr lang="en-US" sz="1200" dirty="0">
                <a:solidFill>
                  <a:schemeClr val="tx2"/>
                </a:solidFill>
                <a:latin typeface="Arial" panose="020B0604020202020204" pitchFamily="34" charset="0"/>
                <a:cs typeface="Arial" panose="020B0604020202020204" pitchFamily="34" charset="0"/>
                <a:hlinkClick r:id="rId3"/>
              </a:rPr>
              <a:t> User Manual</a:t>
            </a:r>
            <a:r>
              <a:rPr lang="en-US" sz="1200" dirty="0">
                <a:solidFill>
                  <a:schemeClr val="tx2"/>
                </a:solidFill>
                <a:latin typeface="Arial" panose="020B0604020202020204" pitchFamily="34" charset="0"/>
                <a:cs typeface="Arial" panose="020B0604020202020204" pitchFamily="34" charset="0"/>
              </a:rPr>
              <a:t> for explanation of each annotation field.</a:t>
            </a:r>
          </a:p>
        </p:txBody>
      </p:sp>
      <p:graphicFrame>
        <p:nvGraphicFramePr>
          <p:cNvPr id="6" name="Table 5"/>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2727883"/>
                <a:gridCol w="2727883"/>
                <a:gridCol w="2727883"/>
                <a:gridCol w="2727886"/>
              </a:tblGrid>
              <a:tr h="177800">
                <a:tc>
                  <a:txBody>
                    <a:bodyPr/>
                    <a:lstStyle/>
                    <a:p>
                      <a:r>
                        <a:t>Name</a:t>
                      </a:r>
                    </a:p>
                  </a:txBody>
                  <a:tcPr/>
                </a:tc>
                <a:tc>
                  <a:txBody>
                    <a:bodyPr/>
                    <a:lstStyle/>
                    <a:p>
                      <a:r>
                        <a:t>Total</a:t>
                      </a:r>
                    </a:p>
                  </a:txBody>
                  <a:tcPr/>
                </a:tc>
                <a:tc>
                  <a:txBody>
                    <a:bodyPr/>
                    <a:lstStyle/>
                    <a:p>
                      <a:r>
                        <a:t>Unique</a:t>
                      </a:r>
                    </a:p>
                  </a:txBody>
                  <a:tcPr/>
                </a:tc>
                <a:tc>
                  <a:txBody>
                    <a:bodyPr/>
                    <a:lstStyle/>
                    <a:p>
                      <a:r>
                        <a:t>_Color_</a:t>
                      </a:r>
                    </a:p>
                  </a:txBody>
                  <a:tcPr/>
                </a:tc>
              </a:tr>
              <a:tr h="568960">
                <a:tc>
                  <a:txBody>
                    <a:bodyPr/>
                    <a:lstStyle/>
                    <a:p>
                      <a:r>
                        <a:t>down_common_genes</a:t>
                      </a:r>
                    </a:p>
                  </a:txBody>
                  <a:tcPr/>
                </a:tc>
                <a:tc>
                  <a:txBody>
                    <a:bodyPr/>
                    <a:lstStyle/>
                    <a:p>
                      <a:r>
                        <a:t>272</a:t>
                      </a:r>
                    </a:p>
                  </a:txBody>
                  <a:tcPr/>
                </a:tc>
                <a:tc>
                  <a:txBody>
                    <a:bodyPr/>
                    <a:lstStyle/>
                    <a:p>
                      <a:r>
                        <a:t>272</a:t>
                      </a:r>
                    </a:p>
                  </a:txBody>
                  <a:tcPr/>
                </a:tc>
                <a:tc>
                  <a:txBody>
                    <a:bodyPr/>
                    <a:lstStyle/>
                    <a:p>
                      <a:r>
                        <a:t>#E41A1C</a:t>
                      </a:r>
                    </a:p>
                  </a:txBody>
                  <a:tcPr>
                    <a:solidFill>
                      <a:srgbClr val="E41A1C"/>
                    </a:solidFill>
                  </a:tcPr>
                </a:tc>
              </a:tr>
              <a:tr h="568960">
                <a:tc>
                  <a:txBody>
                    <a:bodyPr/>
                    <a:lstStyle/>
                    <a:p>
                      <a:r>
                        <a:t>down_epi_only</a:t>
                      </a:r>
                    </a:p>
                  </a:txBody>
                  <a:tcPr/>
                </a:tc>
                <a:tc>
                  <a:txBody>
                    <a:bodyPr/>
                    <a:lstStyle/>
                    <a:p>
                      <a:r>
                        <a:t>301</a:t>
                      </a:r>
                    </a:p>
                  </a:txBody>
                  <a:tcPr/>
                </a:tc>
                <a:tc>
                  <a:txBody>
                    <a:bodyPr/>
                    <a:lstStyle/>
                    <a:p>
                      <a:r>
                        <a:t>301</a:t>
                      </a:r>
                    </a:p>
                  </a:txBody>
                  <a:tcPr/>
                </a:tc>
                <a:tc>
                  <a:txBody>
                    <a:bodyPr/>
                    <a:lstStyle/>
                    <a:p>
                      <a:r>
                        <a:t>#377EB8</a:t>
                      </a:r>
                    </a:p>
                  </a:txBody>
                  <a:tcPr>
                    <a:solidFill>
                      <a:srgbClr val="377EB8"/>
                    </a:solidFill>
                  </a:tcPr>
                </a:tc>
              </a:tr>
              <a:tr h="568960">
                <a:tc>
                  <a:txBody>
                    <a:bodyPr/>
                    <a:lstStyle/>
                    <a:p>
                      <a:r>
                        <a:t>down_mes_only</a:t>
                      </a:r>
                    </a:p>
                  </a:txBody>
                  <a:tcPr/>
                </a:tc>
                <a:tc>
                  <a:txBody>
                    <a:bodyPr/>
                    <a:lstStyle/>
                    <a:p>
                      <a:r>
                        <a:t>314</a:t>
                      </a:r>
                    </a:p>
                  </a:txBody>
                  <a:tcPr/>
                </a:tc>
                <a:tc>
                  <a:txBody>
                    <a:bodyPr/>
                    <a:lstStyle/>
                    <a:p>
                      <a:r>
                        <a:t>314</a:t>
                      </a:r>
                    </a:p>
                  </a:txBody>
                  <a:tcPr/>
                </a:tc>
                <a:tc>
                  <a:txBody>
                    <a:bodyPr/>
                    <a:lstStyle/>
                    <a:p>
                      <a:r>
                        <a:t>#4DAF4A</a:t>
                      </a:r>
                    </a:p>
                  </a:txBody>
                  <a:tcPr>
                    <a:solidFill>
                      <a:srgbClr val="4DAF4A"/>
                    </a:solidFill>
                  </a:tcPr>
                </a:tc>
              </a:tr>
              <a:tr h="568960">
                <a:tc>
                  <a:txBody>
                    <a:bodyPr/>
                    <a:lstStyle/>
                    <a:p>
                      <a:r>
                        <a:t>down_mes_up_epi</a:t>
                      </a:r>
                    </a:p>
                  </a:txBody>
                  <a:tcPr/>
                </a:tc>
                <a:tc>
                  <a:txBody>
                    <a:bodyPr/>
                    <a:lstStyle/>
                    <a:p>
                      <a:r>
                        <a:t>301</a:t>
                      </a:r>
                    </a:p>
                  </a:txBody>
                  <a:tcPr/>
                </a:tc>
                <a:tc>
                  <a:txBody>
                    <a:bodyPr/>
                    <a:lstStyle/>
                    <a:p>
                      <a:r>
                        <a:t>301</a:t>
                      </a:r>
                    </a:p>
                  </a:txBody>
                  <a:tcPr/>
                </a:tc>
                <a:tc>
                  <a:txBody>
                    <a:bodyPr/>
                    <a:lstStyle/>
                    <a:p>
                      <a:r>
                        <a:t>#984EA3</a:t>
                      </a:r>
                    </a:p>
                  </a:txBody>
                  <a:tcPr>
                    <a:solidFill>
                      <a:srgbClr val="984EA3"/>
                    </a:solidFill>
                  </a:tcPr>
                </a:tc>
              </a:tr>
              <a:tr h="568960">
                <a:tc>
                  <a:txBody>
                    <a:bodyPr/>
                    <a:lstStyle/>
                    <a:p>
                      <a:r>
                        <a:t>up_common_genes</a:t>
                      </a:r>
                    </a:p>
                  </a:txBody>
                  <a:tcPr/>
                </a:tc>
                <a:tc>
                  <a:txBody>
                    <a:bodyPr/>
                    <a:lstStyle/>
                    <a:p>
                      <a:r>
                        <a:t>246</a:t>
                      </a:r>
                    </a:p>
                  </a:txBody>
                  <a:tcPr/>
                </a:tc>
                <a:tc>
                  <a:txBody>
                    <a:bodyPr/>
                    <a:lstStyle/>
                    <a:p>
                      <a:r>
                        <a:t>246</a:t>
                      </a:r>
                    </a:p>
                  </a:txBody>
                  <a:tcPr/>
                </a:tc>
                <a:tc>
                  <a:txBody>
                    <a:bodyPr/>
                    <a:lstStyle/>
                    <a:p>
                      <a:r>
                        <a:t>#FF7F00</a:t>
                      </a:r>
                    </a:p>
                  </a:txBody>
                  <a:tcPr>
                    <a:solidFill>
                      <a:srgbClr val="FF7F00"/>
                    </a:solidFill>
                  </a:tcPr>
                </a:tc>
              </a:tr>
              <a:tr h="568960">
                <a:tc>
                  <a:txBody>
                    <a:bodyPr/>
                    <a:lstStyle/>
                    <a:p>
                      <a:r>
                        <a:t>up_epi_only</a:t>
                      </a:r>
                    </a:p>
                  </a:txBody>
                  <a:tcPr/>
                </a:tc>
                <a:tc>
                  <a:txBody>
                    <a:bodyPr/>
                    <a:lstStyle/>
                    <a:p>
                      <a:r>
                        <a:t>264</a:t>
                      </a:r>
                    </a:p>
                  </a:txBody>
                  <a:tcPr/>
                </a:tc>
                <a:tc>
                  <a:txBody>
                    <a:bodyPr/>
                    <a:lstStyle/>
                    <a:p>
                      <a:r>
                        <a:t>264</a:t>
                      </a:r>
                    </a:p>
                  </a:txBody>
                  <a:tcPr/>
                </a:tc>
                <a:tc>
                  <a:txBody>
                    <a:bodyPr/>
                    <a:lstStyle/>
                    <a:p>
                      <a:r>
                        <a:t>#FFFF33</a:t>
                      </a:r>
                    </a:p>
                  </a:txBody>
                  <a:tcPr>
                    <a:solidFill>
                      <a:srgbClr val="FFFF33"/>
                    </a:solidFill>
                  </a:tcPr>
                </a:tc>
              </a:tr>
              <a:tr h="568960">
                <a:tc>
                  <a:txBody>
                    <a:bodyPr/>
                    <a:lstStyle/>
                    <a:p>
                      <a:r>
                        <a:t>up_mes_down_epi</a:t>
                      </a:r>
                    </a:p>
                  </a:txBody>
                  <a:tcPr/>
                </a:tc>
                <a:tc>
                  <a:txBody>
                    <a:bodyPr/>
                    <a:lstStyle/>
                    <a:p>
                      <a:r>
                        <a:t>180</a:t>
                      </a:r>
                    </a:p>
                  </a:txBody>
                  <a:tcPr/>
                </a:tc>
                <a:tc>
                  <a:txBody>
                    <a:bodyPr/>
                    <a:lstStyle/>
                    <a:p>
                      <a:r>
                        <a:t>180</a:t>
                      </a:r>
                    </a:p>
                  </a:txBody>
                  <a:tcPr/>
                </a:tc>
                <a:tc>
                  <a:txBody>
                    <a:bodyPr/>
                    <a:lstStyle/>
                    <a:p>
                      <a:r>
                        <a:t>#A65628</a:t>
                      </a:r>
                    </a:p>
                  </a:txBody>
                  <a:tcPr>
                    <a:solidFill>
                      <a:srgbClr val="A65628"/>
                    </a:solidFill>
                  </a:tcPr>
                </a:tc>
              </a:tr>
              <a:tr h="568960">
                <a:tc>
                  <a:txBody>
                    <a:bodyPr/>
                    <a:lstStyle/>
                    <a:p>
                      <a:r>
                        <a:t>up_mes_only</a:t>
                      </a:r>
                    </a:p>
                  </a:txBody>
                  <a:tcPr/>
                </a:tc>
                <a:tc>
                  <a:txBody>
                    <a:bodyPr/>
                    <a:lstStyle/>
                    <a:p>
                      <a:r>
                        <a:t>248</a:t>
                      </a:r>
                    </a:p>
                  </a:txBody>
                  <a:tcPr/>
                </a:tc>
                <a:tc>
                  <a:txBody>
                    <a:bodyPr/>
                    <a:lstStyle/>
                    <a:p>
                      <a:r>
                        <a:t>248</a:t>
                      </a:r>
                    </a:p>
                  </a:txBody>
                  <a:tcPr/>
                </a:tc>
                <a:tc>
                  <a:txBody>
                    <a:bodyPr/>
                    <a:lstStyle/>
                    <a:p>
                      <a:r>
                        <a:t>#F781BF</a:t>
                      </a:r>
                    </a:p>
                  </a:txBody>
                  <a:tcPr>
                    <a:solidFill>
                      <a:srgbClr val="F781BF"/>
                    </a:solidFill>
                  </a:tcPr>
                </a:tc>
              </a:tr>
            </a:tbl>
          </a:graphicData>
        </a:graphic>
      </p:graphicFrame>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ircosOverlapByGene.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3045240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
            </a:r>
            <a:r>
              <a:rPr lang="en-US" sz="2000" b="1" dirty="0" err="1">
                <a:solidFill>
                  <a:srgbClr val="C00000"/>
                </a:solidFill>
                <a:latin typeface="Arial" panose="020B0604020202020204" pitchFamily="34" charset="0"/>
                <a:cs typeface="Arial" panose="020B0604020202020204" pitchFamily="34" charset="0"/>
              </a:rPr>
              <a:t/>
            </a:r>
            <a:endParaRPr lang="en-US"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Expanded via Shared Enriched Ontologies</a:t>
            </a:r>
          </a:p>
        </p:txBody>
      </p:sp>
      <p:pic>
        <p:nvPicPr>
          <p:cNvPr id="3" name="Picture 2" descr="CircosOverlapByGO.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69326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2119443" y="1665465"/>
            <a:ext cx="7952808" cy="5120640"/>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143605"/>
            <a:ext cx="10911535" cy="4164360"/>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919244" y="1665465"/>
            <a:ext cx="10353206" cy="5120640"/>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Counts 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Counts.png"/>
          <p:cNvPicPr>
            <a:picLocks noChangeAspect="1"/>
          </p:cNvPicPr>
          <p:nvPr/>
        </p:nvPicPr>
        <p:blipFill>
          <a:blip r:embed="rId3"/>
          <a:stretch>
            <a:fillRect/>
          </a:stretch>
        </p:blipFill>
        <p:spPr>
          <a:xfrm>
            <a:off x="640080" y="1763627"/>
            <a:ext cx="10911535" cy="4924317"/>
          </a:xfrm>
          <a:prstGeom prst="rect">
            <a:avLst/>
          </a:prstGeom>
        </p:spPr>
      </p:pic>
    </p:spTree>
    <p:extLst>
      <p:ext uri="{BB962C8B-B14F-4D97-AF65-F5344CB8AC3E}">
        <p14:creationId xmlns:p14="http://schemas.microsoft.com/office/powerpoint/2010/main" val="29458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common_genes_PPIColorByCluster.png"/>
          <p:cNvPicPr>
            <a:picLocks noChangeAspect="1"/>
          </p:cNvPicPr>
          <p:nvPr/>
        </p:nvPicPr>
        <p:blipFill>
          <a:blip r:embed="rId3"/>
          <a:stretch>
            <a:fillRect/>
          </a:stretch>
        </p:blipFill>
        <p:spPr>
          <a:xfrm>
            <a:off x="1555827" y="1665465"/>
            <a:ext cx="9080041"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pic>
        <p:nvPicPr>
          <p:cNvPr id="4" name="Picture 3" descr="down_common_genes_MCODE_ALL_PPIColorByCluster.png"/>
          <p:cNvPicPr>
            <a:picLocks noChangeAspect="1"/>
          </p:cNvPicPr>
          <p:nvPr/>
        </p:nvPicPr>
        <p:blipFill>
          <a:blip r:embed="rId3"/>
          <a:stretch>
            <a:fillRect/>
          </a:stretch>
        </p:blipFill>
        <p:spPr>
          <a:xfrm>
            <a:off x="1597799" y="1665465"/>
            <a:ext cx="8996097" cy="5120640"/>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down_common_genes</a:t>
                      </a:r>
                    </a:p>
                  </a:txBody>
                  <a:tcPr/>
                </a:tc>
                <a:tc>
                  <a:txBody>
                    <a:bodyPr/>
                    <a:lstStyle/>
                    <a:p>
                      <a:r>
                        <a:t>GO:0019752|carboxylic acid metabolic process|-12.2;M5935|HALLMARK FATTY ACID METABOLISM|-11.9;GO:0016054|organic acid catabolic process|-11.8</a:t>
                      </a:r>
                    </a:p>
                  </a:txBody>
                  <a:tcPr/>
                </a:tc>
              </a:tr>
              <a:tr h="731520">
                <a:tc>
                  <a:txBody>
                    <a:bodyPr/>
                    <a:lstStyle/>
                    <a:p>
                      <a:r>
                        <a:t>down_common_genes_MCODE_ALL</a:t>
                      </a:r>
                    </a:p>
                  </a:txBody>
                  <a:tcPr/>
                </a:tc>
                <a:tc>
                  <a:txBody>
                    <a:bodyPr/>
                    <a:lstStyle/>
                    <a:p>
                      <a:r>
                        <a:t>GO:0046395|carboxylic acid catabolic process|-14.2;GO:0016054|organic acid catabolic process|-14.2;GO:0006631|fatty acid metabolic process|-12.6</a:t>
                      </a:r>
                    </a:p>
                  </a:txBody>
                  <a:tcPr/>
                </a:tc>
              </a:tr>
              <a:tr h="731520">
                <a:tc>
                  <a:txBody>
                    <a:bodyPr/>
                    <a:lstStyle/>
                    <a:p>
                      <a:r>
                        <a:t>down_common_genes_SUB1_MCODE_1</a:t>
                      </a:r>
                    </a:p>
                  </a:txBody>
                  <a:tcPr/>
                </a:tc>
                <a:tc>
                  <a:txBody>
                    <a:bodyPr/>
                    <a:lstStyle/>
                    <a:p>
                      <a:r>
                        <a:t>R-HSA-69236|G1 Phase|-8.4;R-HSA-69231|Cyclin D associated events in G1|-8.4;R-HSA-69202|Cyclin E associated events during G1/S transition|-7.4</a:t>
                      </a:r>
                    </a:p>
                  </a:txBody>
                  <a:tcPr/>
                </a:tc>
              </a:tr>
              <a:tr h="731520">
                <a:tc>
                  <a:txBody>
                    <a:bodyPr/>
                    <a:lstStyle/>
                    <a:p>
                      <a:r>
                        <a:t>down_common_genes_SUB1_MCODE_2</a:t>
                      </a:r>
                    </a:p>
                  </a:txBody>
                  <a:tcPr/>
                </a:tc>
                <a:tc>
                  <a:txBody>
                    <a:bodyPr/>
                    <a:lstStyle/>
                    <a:p>
                      <a:r>
                        <a:t>GO:0006631|fatty acid metabolic process|-19.8;GO:0046395|carboxylic acid catabolic process|-18.1;GO:0016054|organic acid catabolic process|-18.1</a:t>
                      </a:r>
                    </a:p>
                  </a:txBody>
                  <a:tcPr/>
                </a:tc>
              </a:tr>
              <a:tr h="731520">
                <a:tc>
                  <a:txBody>
                    <a:bodyPr/>
                    <a:lstStyle/>
                    <a:p>
                      <a:r>
                        <a:t>down_common_genes_SUB1_MCODE_3</a:t>
                      </a:r>
                    </a:p>
                  </a:txBody>
                  <a:tcPr/>
                </a:tc>
                <a:tc>
                  <a:txBody>
                    <a:bodyPr/>
                    <a:lstStyle/>
                    <a:p>
                      <a:r>
                        <a:t>GO:0016072|rRNA metabolic process|-12.5;GO:0034660|ncRNA metabolic process|-10.5;GO:0006364|rRNA processing|-10.0</a:t>
                      </a:r>
                    </a:p>
                  </a:txBody>
                  <a:tcPr/>
                </a:tc>
              </a:tr>
              <a:tr h="731520">
                <a:tc>
                  <a:txBody>
                    <a:bodyPr/>
                    <a:lstStyle/>
                    <a:p>
                      <a:r>
                        <a:t>down_common_genes_SUB1_MCODE_4</a:t>
                      </a:r>
                    </a:p>
                  </a:txBody>
                  <a:tcPr/>
                </a:tc>
                <a:tc>
                  <a:txBody>
                    <a:bodyPr/>
                    <a:lstStyle/>
                    <a:p>
                      <a:r>
                        <a:t>GO:0006260|DNA replication|-6.0;GO:0006281|DNA repair|-4.7;GO:0006351|DNA-templated transcription|-4.7</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 </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99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MCODE ID</a:t>
            </a:r>
          </a:p>
        </p:txBody>
      </p:sp>
    </p:spTree>
    <p:extLst>
      <p:ext uri="{BB962C8B-B14F-4D97-AF65-F5344CB8AC3E}">
        <p14:creationId xmlns:p14="http://schemas.microsoft.com/office/powerpoint/2010/main" val="287582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374650"/>
            <a:ext cx="8847740" cy="458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n w="3175" cap="rnd">
                  <a:solidFill>
                    <a:schemeClr val="accent1">
                      <a:lumMod val="20000"/>
                      <a:lumOff val="80000"/>
                    </a:schemeClr>
                  </a:solidFill>
                  <a:round/>
                </a:ln>
                <a:solidFill>
                  <a:schemeClr val="bg1"/>
                </a:solidFill>
                <a:effectLst>
                  <a:glow rad="101600">
                    <a:schemeClr val="tx2">
                      <a:alpha val="60000"/>
                    </a:schemeClr>
                  </a:glow>
                </a:effectLst>
                <a:latin typeface="Arial" panose="020B0604020202020204" pitchFamily="34" charset="0"/>
                <a:cs typeface="Arial" panose="020B0604020202020204" pitchFamily="34" charset="0"/>
              </a:rPr>
              <a:t>Protein-protein Interaction Network</a:t>
            </a:r>
          </a:p>
        </p:txBody>
      </p:sp>
    </p:spTree>
    <p:extLst>
      <p:ext uri="{BB962C8B-B14F-4D97-AF65-F5344CB8AC3E}">
        <p14:creationId xmlns:p14="http://schemas.microsoft.com/office/powerpoint/2010/main" val="15284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MCODE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Autofit/>
          </a:bodyPr>
          <a:lstStyle/>
          <a:p>
            <a:pPr algn="l"/>
            <a: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200" b="1" dirty="0">
                <a:ln w="3175" cap="rnd">
                  <a:solidFill>
                    <a:schemeClr val="accent1">
                      <a:lumMod val="20000"/>
                      <a:lumOff val="80000"/>
                    </a:schemeClr>
                  </a:solidFill>
                  <a:round/>
                </a:ln>
                <a:latin typeface="Arial" panose="020B0604020202020204" pitchFamily="34" charset="0"/>
                <a:cs typeface="Arial" panose="020B0604020202020204" pitchFamily="34" charset="0"/>
              </a:rPr>
              <a:t>MCODE Components for Lists Merged</a:t>
            </a:r>
          </a:p>
        </p:txBody>
      </p:sp>
    </p:spTree>
    <p:extLst>
      <p:ext uri="{BB962C8B-B14F-4D97-AF65-F5344CB8AC3E}">
        <p14:creationId xmlns:p14="http://schemas.microsoft.com/office/powerpoint/2010/main" val="80218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up_mes_only</a:t>
                      </a:r>
                    </a:p>
                  </a:txBody>
                  <a:tcPr/>
                </a:tc>
                <a:tc>
                  <a:txBody>
                    <a:bodyPr/>
                    <a:lstStyle/>
                    <a:p>
                      <a:r>
                        <a:t>GO:0048193|Golgi vesicle transport|-29.3;R-HSA-446203|Asparagine N-linked glycosylation|-26.8;GO:0006888|endoplasmic reticulum to Golgi vesicle-mediated transport|-23.1</a:t>
                      </a:r>
                    </a:p>
                  </a:txBody>
                  <a:tcPr/>
                </a:tc>
              </a:tr>
              <a:tr h="731520">
                <a:tc>
                  <a:txBody>
                    <a:bodyPr/>
                    <a:lstStyle/>
                    <a:p>
                      <a:r>
                        <a:t>up_mes_only_MCODE_ALL</a:t>
                      </a:r>
                    </a:p>
                  </a:txBody>
                  <a:tcPr/>
                </a:tc>
                <a:tc>
                  <a:txBody>
                    <a:bodyPr/>
                    <a:lstStyle/>
                    <a:p>
                      <a:r>
                        <a:t>R-HSA-446203|Asparagine N-linked glycosylation|-24.6;R-HSA-199977|ER to Golgi Anterograde Transport|-23.0;GO:0006888|endoplasmic reticulum to Golgi vesicle-mediated transport|-22.1</a:t>
                      </a:r>
                    </a:p>
                  </a:txBody>
                  <a:tcPr/>
                </a:tc>
              </a:tr>
              <a:tr h="731520">
                <a:tc>
                  <a:txBody>
                    <a:bodyPr/>
                    <a:lstStyle/>
                    <a:p>
                      <a:r>
                        <a:t>up_mes_only_SUB1_MCODE_1</a:t>
                      </a:r>
                    </a:p>
                  </a:txBody>
                  <a:tcPr/>
                </a:tc>
                <a:tc>
                  <a:txBody>
                    <a:bodyPr/>
                    <a:lstStyle/>
                    <a:p>
                      <a:r>
                        <a:t>R-HSA-199977|ER to Golgi Anterograde Transport|-23.5;R-HSA-948021|Transport to the Golgi and subsequent modification|-22.6;GO:0006888|endoplasmic reticulum to Golgi vesicle-mediated transport|-21.6</a:t>
                      </a:r>
                    </a:p>
                  </a:txBody>
                  <a:tcPr/>
                </a:tc>
              </a:tr>
              <a:tr h="731520">
                <a:tc>
                  <a:txBody>
                    <a:bodyPr/>
                    <a:lstStyle/>
                    <a:p>
                      <a:r>
                        <a:t>up_mes_only_SUB1_MCODE_2</a:t>
                      </a:r>
                    </a:p>
                  </a:txBody>
                  <a:tcPr/>
                </a:tc>
                <a:tc>
                  <a:txBody>
                    <a:bodyPr/>
                    <a:lstStyle/>
                    <a:p>
                      <a:r>
                        <a:t>GO:0030199|collagen fibril organization|-8.2;R-HSA-1650814|Collagen biosynthesis and modifying enzymes|-8.0;R-HSA-1474290|Collagen formation|-7.5</a:t>
                      </a:r>
                    </a:p>
                  </a:txBody>
                  <a:tcPr/>
                </a:tc>
              </a:tr>
              <a:tr h="731520">
                <a:tc>
                  <a:txBody>
                    <a:bodyPr/>
                    <a:lstStyle/>
                    <a:p>
                      <a:r>
                        <a:t>up_mes_only_SUB1_MCODE_4</a:t>
                      </a:r>
                    </a:p>
                  </a:txBody>
                  <a:tcPr/>
                </a:tc>
                <a:tc>
                  <a:txBody>
                    <a:bodyPr/>
                    <a:lstStyle/>
                    <a:p>
                      <a:r>
                        <a:t>R-HSA-6811434|COPI-dependent Golgi-to-ER retrograde traffic|-7.5;GO:0006888|endoplasmic reticulum to Golgi vesicle-mediated transport|-7.2;R-HSA-8856688|Golgi-to-ER retrograde transport|-7.1</a:t>
                      </a:r>
                    </a:p>
                  </a:txBody>
                  <a:tcPr/>
                </a:tc>
              </a:tr>
              <a:tr h="731520">
                <a:tc>
                  <a:txBody>
                    <a:bodyPr/>
                    <a:lstStyle/>
                    <a:p>
                      <a:r>
                        <a:t>up_mes_only_SUB1_MCODE_5</a:t>
                      </a:r>
                    </a:p>
                  </a:txBody>
                  <a:tcPr/>
                </a:tc>
                <a:tc>
                  <a:txBody>
                    <a:bodyPr/>
                    <a:lstStyle/>
                    <a:p>
                      <a:r>
                        <a:t>R-HSA-1971475|A tetrasaccharide linker sequence is required for GAG synthesis|-9.3;R-HSA-3560782|Diseases associated with glycosaminoglycan metabolism|-8.6;R-HSA-1793185|Chondroitin sulfate/dermatan sulfate metabolism|-8.4</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pic>
        <p:nvPicPr>
          <p:cNvPr id="4" name="Picture 3" descr="up_mes_only_MCODE_ALL_PPIColorByCluster.png"/>
          <p:cNvPicPr>
            <a:picLocks noChangeAspect="1"/>
          </p:cNvPicPr>
          <p:nvPr/>
        </p:nvPicPr>
        <p:blipFill>
          <a:blip r:embed="rId2"/>
          <a:stretch>
            <a:fillRect/>
          </a:stretch>
        </p:blipFill>
        <p:spPr>
          <a:xfrm>
            <a:off x="863281" y="1665465"/>
            <a:ext cx="10465133" cy="51206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only_PPIColorByCluster.png"/>
          <p:cNvPicPr>
            <a:picLocks noChangeAspect="1"/>
          </p:cNvPicPr>
          <p:nvPr/>
        </p:nvPicPr>
        <p:blipFill>
          <a:blip r:embed="rId2"/>
          <a:stretch>
            <a:fillRect/>
          </a:stretch>
        </p:blipFill>
        <p:spPr>
          <a:xfrm>
            <a:off x="2451239" y="1665465"/>
            <a:ext cx="7289217"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up_mes_down_epi</a:t>
                      </a:r>
                    </a:p>
                  </a:txBody>
                  <a:tcPr/>
                </a:tc>
                <a:tc>
                  <a:txBody>
                    <a:bodyPr/>
                    <a:lstStyle/>
                    <a:p>
                      <a:r>
                        <a:t>M5924|HALLMARK MTORC1 SIGNALING|-13.6;M5926|HALLMARK MYC TARGETS V1|-12.3;GO:0034660|ncRNA metabolic process|-12.2</a:t>
                      </a:r>
                    </a:p>
                  </a:txBody>
                  <a:tcPr/>
                </a:tc>
              </a:tr>
              <a:tr h="853440">
                <a:tc>
                  <a:txBody>
                    <a:bodyPr/>
                    <a:lstStyle/>
                    <a:p>
                      <a:r>
                        <a:t>up_mes_down_epi_MCODE_ALL</a:t>
                      </a:r>
                    </a:p>
                  </a:txBody>
                  <a:tcPr/>
                </a:tc>
                <a:tc>
                  <a:txBody>
                    <a:bodyPr/>
                    <a:lstStyle/>
                    <a:p>
                      <a:r>
                        <a:t>GO:0006412|translation|-13.1;GO:0043043|peptide biosynthetic process|-12.8;GO:0043604|amide biosynthetic process|-11.5</a:t>
                      </a:r>
                    </a:p>
                  </a:txBody>
                  <a:tcPr/>
                </a:tc>
              </a:tr>
              <a:tr h="853440">
                <a:tc>
                  <a:txBody>
                    <a:bodyPr/>
                    <a:lstStyle/>
                    <a:p>
                      <a:r>
                        <a:t>up_mes_down_epi_SUB1_MCODE_1</a:t>
                      </a:r>
                    </a:p>
                  </a:txBody>
                  <a:tcPr/>
                </a:tc>
                <a:tc>
                  <a:txBody>
                    <a:bodyPr/>
                    <a:lstStyle/>
                    <a:p>
                      <a:r>
                        <a:t>GO:0006412|translation|-13.5;GO:0043043|peptide biosynthetic process|-13.2;GO:0043604|amide biosynthetic process|-12.4</a:t>
                      </a:r>
                    </a:p>
                  </a:txBody>
                  <a:tcPr/>
                </a:tc>
              </a:tr>
              <a:tr h="853440">
                <a:tc>
                  <a:txBody>
                    <a:bodyPr/>
                    <a:lstStyle/>
                    <a:p>
                      <a:r>
                        <a:t>up_mes_down_epi_SUB1_MCODE_2</a:t>
                      </a:r>
                    </a:p>
                  </a:txBody>
                  <a:tcPr/>
                </a:tc>
                <a:tc>
                  <a:txBody>
                    <a:bodyPr/>
                    <a:lstStyle/>
                    <a:p>
                      <a:r>
                        <a:t>R-HSA-6790901|rRNA modification in the nucleus and cytosol|-11.5;R-HSA-8868773|rRNA processing in the nucleus and cytosol|-11.3;R-HSA-72312|rRNA processing|-11.1</a:t>
                      </a:r>
                    </a:p>
                  </a:txBody>
                  <a:tcPr/>
                </a:tc>
              </a:tr>
              <a:tr h="853440">
                <a:tc>
                  <a:txBody>
                    <a:bodyPr/>
                    <a:lstStyle/>
                    <a:p>
                      <a:r>
                        <a:t>up_mes_down_epi_SUB1_MCODE_3</a:t>
                      </a:r>
                    </a:p>
                  </a:txBody>
                  <a:tcPr/>
                </a:tc>
                <a:tc>
                  <a:txBody>
                    <a:bodyPr/>
                    <a:lstStyle/>
                    <a:p>
                      <a:r>
                        <a:t>R-HSA-611105|Respiratory electron transport|-7.7;R-HSA-163200|Respiratory electron transport, ATP synthesis by chemiosmotic coupling, and heat production by uncoupling proteins.|-7.3;M5936|HALLMARK OXIDATIVE PHOSPHORYLATION|-6.6</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pic>
        <p:nvPicPr>
          <p:cNvPr id="4" name="Picture 3" descr="up_mes_down_epi_MCODE_ALL_PPIColorByCluster.png"/>
          <p:cNvPicPr>
            <a:picLocks noChangeAspect="1"/>
          </p:cNvPicPr>
          <p:nvPr/>
        </p:nvPicPr>
        <p:blipFill>
          <a:blip r:embed="rId2"/>
          <a:stretch>
            <a:fillRect/>
          </a:stretch>
        </p:blipFill>
        <p:spPr>
          <a:xfrm>
            <a:off x="640080" y="1978116"/>
            <a:ext cx="10911535" cy="449533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down_epi_PPIColorByCluster.png"/>
          <p:cNvPicPr>
            <a:picLocks noChangeAspect="1"/>
          </p:cNvPicPr>
          <p:nvPr/>
        </p:nvPicPr>
        <p:blipFill>
          <a:blip r:embed="rId2"/>
          <a:stretch>
            <a:fillRect/>
          </a:stretch>
        </p:blipFill>
        <p:spPr>
          <a:xfrm>
            <a:off x="1947569" y="1665465"/>
            <a:ext cx="8296556"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graphicFrame>
        <p:nvGraphicFramePr>
          <p:cNvPr id="4" name="Table 3"/>
          <p:cNvGraphicFramePr>
            <a:graphicFrameLocks noGrp="1"/>
          </p:cNvGraphicFramePr>
          <p:nvPr/>
        </p:nvGraphicFramePr>
        <p:xfrm>
          <a:off x="640080" y="1665465"/>
          <a:ext cx="10911535" cy="4274312"/>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024128">
                <a:tc>
                  <a:txBody>
                    <a:bodyPr/>
                    <a:lstStyle/>
                    <a:p>
                      <a:r>
                        <a:t>up_epi_only</a:t>
                      </a:r>
                    </a:p>
                  </a:txBody>
                  <a:tcPr/>
                </a:tc>
                <a:tc>
                  <a:txBody>
                    <a:bodyPr/>
                    <a:lstStyle/>
                    <a:p>
                      <a:r>
                        <a:t>R-HSA-194315|Signaling by Rho GTPases|-9.8;R-HSA-9716542|Signaling by Rho GTPases, Miro GTPases and RHOBTB3|-9.6;GO:0120035|regulation of plasma membrane bounded cell projection organization|-9.6</a:t>
                      </a:r>
                    </a:p>
                  </a:txBody>
                  <a:tcPr/>
                </a:tc>
              </a:tr>
              <a:tr h="1024128">
                <a:tc>
                  <a:txBody>
                    <a:bodyPr/>
                    <a:lstStyle/>
                    <a:p>
                      <a:r>
                        <a:t>up_epi_only_MCODE_ALL</a:t>
                      </a:r>
                    </a:p>
                  </a:txBody>
                  <a:tcPr/>
                </a:tc>
                <a:tc>
                  <a:txBody>
                    <a:bodyPr/>
                    <a:lstStyle/>
                    <a:p>
                      <a:r>
                        <a:t>R-HSA-199991|Membrane Trafficking|-12.0;R-HSA-5653656|Vesicle-mediated transport|-11.7;hsa04814|Motor proteins|-11.6</a:t>
                      </a:r>
                    </a:p>
                  </a:txBody>
                  <a:tcPr/>
                </a:tc>
              </a:tr>
              <a:tr h="1024128">
                <a:tc>
                  <a:txBody>
                    <a:bodyPr/>
                    <a:lstStyle/>
                    <a:p>
                      <a:r>
                        <a:t>up_epi_only_SUB1_MCODE_1</a:t>
                      </a:r>
                    </a:p>
                  </a:txBody>
                  <a:tcPr/>
                </a:tc>
                <a:tc>
                  <a:txBody>
                    <a:bodyPr/>
                    <a:lstStyle/>
                    <a:p>
                      <a:r>
                        <a:t>hsa05132|Salmonella infection|-12.4;R-HSA-194315|Signaling by Rho GTPases|-8.8;R-HSA-9716542|Signaling by Rho GTPases, Miro GTPases and RHOBTB3|-8.7</a:t>
                      </a:r>
                    </a:p>
                  </a:txBody>
                  <a:tcPr/>
                </a:tc>
              </a:tr>
              <a:tr h="1024128">
                <a:tc>
                  <a:txBody>
                    <a:bodyPr/>
                    <a:lstStyle/>
                    <a:p>
                      <a:r>
                        <a:t>up_epi_only_SUB1_MCODE_2</a:t>
                      </a:r>
                    </a:p>
                  </a:txBody>
                  <a:tcPr/>
                </a:tc>
                <a:tc>
                  <a:txBody>
                    <a:bodyPr/>
                    <a:lstStyle/>
                    <a:p>
                      <a:r>
                        <a:t>R-HSA-983189|Kinesins|-10.2;GO:0007018|microtubule-based movement|-9.5;R-HSA-6811434|COPI-dependent Golgi-to-ER retrograde traffic|-9.3</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pic>
        <p:nvPicPr>
          <p:cNvPr id="4" name="Picture 3" descr="up_epi_only_MCODE_ALL_PPIColorByCluster.png"/>
          <p:cNvPicPr>
            <a:picLocks noChangeAspect="1"/>
          </p:cNvPicPr>
          <p:nvPr/>
        </p:nvPicPr>
        <p:blipFill>
          <a:blip r:embed="rId2"/>
          <a:stretch>
            <a:fillRect/>
          </a:stretch>
        </p:blipFill>
        <p:spPr>
          <a:xfrm>
            <a:off x="982203" y="1665465"/>
            <a:ext cx="10227289" cy="51206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epi_only_PPIColorByCluster.png"/>
          <p:cNvPicPr>
            <a:picLocks noChangeAspect="1"/>
          </p:cNvPicPr>
          <p:nvPr/>
        </p:nvPicPr>
        <p:blipFill>
          <a:blip r:embed="rId2"/>
          <a:stretch>
            <a:fillRect/>
          </a:stretch>
        </p:blipFill>
        <p:spPr>
          <a:xfrm>
            <a:off x="2199404" y="1665465"/>
            <a:ext cx="7792886" cy="51206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graphicFrame>
        <p:nvGraphicFramePr>
          <p:cNvPr id="4" name="Table 3"/>
          <p:cNvGraphicFramePr>
            <a:graphicFrameLocks noGrp="1"/>
          </p:cNvGraphicFramePr>
          <p:nvPr/>
        </p:nvGraphicFramePr>
        <p:xfrm>
          <a:off x="640080" y="1665465"/>
          <a:ext cx="10911535" cy="4786376"/>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12064">
                <a:tc>
                  <a:txBody>
                    <a:bodyPr/>
                    <a:lstStyle/>
                    <a:p>
                      <a:r>
                        <a:t>up_common_genes</a:t>
                      </a:r>
                    </a:p>
                  </a:txBody>
                  <a:tcPr/>
                </a:tc>
                <a:tc>
                  <a:txBody>
                    <a:bodyPr/>
                    <a:lstStyle/>
                    <a:p>
                      <a:r>
                        <a:t>M5930|HALLMARK EPITHELIAL MESENCHYMAL TRANSITION|-29.1;GO:0030029|actin filament-based process|-26.3;GO:0030036|actin cytoskeleton organization|-24.7</a:t>
                      </a:r>
                    </a:p>
                  </a:txBody>
                  <a:tcPr/>
                </a:tc>
              </a:tr>
              <a:tr h="512064">
                <a:tc>
                  <a:txBody>
                    <a:bodyPr/>
                    <a:lstStyle/>
                    <a:p>
                      <a:r>
                        <a:t>up_common_genes_MCODE_ALL</a:t>
                      </a:r>
                    </a:p>
                  </a:txBody>
                  <a:tcPr/>
                </a:tc>
                <a:tc>
                  <a:txBody>
                    <a:bodyPr/>
                    <a:lstStyle/>
                    <a:p>
                      <a:r>
                        <a:t>hsa04820|Cytoskeleton in muscle cells|-20.0;M5930|HALLMARK EPITHELIAL MESENCHYMAL TRANSITION|-16.9;GO:0030029|actin filament-based process|-15.5</a:t>
                      </a:r>
                    </a:p>
                  </a:txBody>
                  <a:tcPr/>
                </a:tc>
              </a:tr>
              <a:tr h="512064">
                <a:tc>
                  <a:txBody>
                    <a:bodyPr/>
                    <a:lstStyle/>
                    <a:p>
                      <a:r>
                        <a:t>up_common_genes_SUB1_MCODE_1</a:t>
                      </a:r>
                    </a:p>
                  </a:txBody>
                  <a:tcPr/>
                </a:tc>
                <a:tc>
                  <a:txBody>
                    <a:bodyPr/>
                    <a:lstStyle/>
                    <a:p>
                      <a:r>
                        <a:t>R-HSA-445355|Smooth Muscle Contraction|-15.2;GO:0030029|actin filament-based process|-12.6;R-HSA-397014|Muscle contraction|-11.1</a:t>
                      </a:r>
                    </a:p>
                  </a:txBody>
                  <a:tcPr/>
                </a:tc>
              </a:tr>
              <a:tr h="512064">
                <a:tc>
                  <a:txBody>
                    <a:bodyPr/>
                    <a:lstStyle/>
                    <a:p>
                      <a:r>
                        <a:t>up_common_genes_SUB1_MCODE_2</a:t>
                      </a:r>
                    </a:p>
                  </a:txBody>
                  <a:tcPr/>
                </a:tc>
                <a:tc>
                  <a:txBody>
                    <a:bodyPr/>
                    <a:lstStyle/>
                    <a:p>
                      <a:r>
                        <a:t>R-HSA-195258|RHO GTPase Effectors|-8.1;R-HSA-422475|Axon guidance|-7.0;R-HSA-9675108|Nervous system development|-6.9</a:t>
                      </a:r>
                    </a:p>
                  </a:txBody>
                  <a:tcPr/>
                </a:tc>
              </a:tr>
              <a:tr h="512064">
                <a:tc>
                  <a:txBody>
                    <a:bodyPr/>
                    <a:lstStyle/>
                    <a:p>
                      <a:r>
                        <a:t>up_common_genes_SUB1_MCODE_3</a:t>
                      </a:r>
                    </a:p>
                  </a:txBody>
                  <a:tcPr/>
                </a:tc>
                <a:tc>
                  <a:txBody>
                    <a:bodyPr/>
                    <a:lstStyle/>
                    <a:p>
                      <a:r>
                        <a:t>M160|PID AVB3 INTEGRIN PATHWAY|-15.8;R-HSA-1474228|Degradation of the extracellular matrix|-14.1;R-HSA-8948216|Collagen chain trimerization|-13.5</a:t>
                      </a:r>
                    </a:p>
                  </a:txBody>
                  <a:tcPr/>
                </a:tc>
              </a:tr>
              <a:tr h="512064">
                <a:tc>
                  <a:txBody>
                    <a:bodyPr/>
                    <a:lstStyle/>
                    <a:p>
                      <a:r>
                        <a:t>up_common_genes_SUB1_MCODE_4</a:t>
                      </a:r>
                    </a:p>
                  </a:txBody>
                  <a:tcPr/>
                </a:tc>
                <a:tc>
                  <a:txBody>
                    <a:bodyPr/>
                    <a:lstStyle/>
                    <a:p>
                      <a:r>
                        <a:t>M60|PID NFAT TFPATHWAY|-10.7;M235|PID TCR CALCIUM PATHWAY|-8.2;M272|PID CD8 TCR DOWNSTREAM PATHWAY|-7.0</a:t>
                      </a:r>
                    </a:p>
                  </a:txBody>
                  <a:tcPr/>
                </a:tc>
              </a:tr>
              <a:tr h="512064">
                <a:tc>
                  <a:txBody>
                    <a:bodyPr/>
                    <a:lstStyle/>
                    <a:p>
                      <a:r>
                        <a:t>up_common_genes_SUB1_MCODE_5</a:t>
                      </a:r>
                    </a:p>
                  </a:txBody>
                  <a:tcPr/>
                </a:tc>
                <a:tc>
                  <a:txBody>
                    <a:bodyPr/>
                    <a:lstStyle/>
                    <a:p>
                      <a:r>
                        <a:t>hsa04820|Cytoskeleton in muscle cells|-8.5;GO:0061061|muscle structure development|-7.1;GO:0030036|actin cytoskeleton organization|-7.0</a:t>
                      </a:r>
                    </a:p>
                  </a:txBody>
                  <a:tcPr/>
                </a:tc>
              </a:tr>
              <a:tr h="512064">
                <a:tc>
                  <a:txBody>
                    <a:bodyPr/>
                    <a:lstStyle/>
                    <a:p>
                      <a:r>
                        <a:t>up_common_genes_SUB1_MCODE_6</a:t>
                      </a:r>
                    </a:p>
                  </a:txBody>
                  <a:tcPr/>
                </a:tc>
                <a:tc>
                  <a:txBody>
                    <a:bodyPr/>
                    <a:lstStyle/>
                    <a:p>
                      <a:r>
                        <a:t>R-HSA-446353|Cell-extracellular matrix interactions|-9.8;R-HSA-446728|Cell junction organization|-7.3;GO:0010811|positive regulation of cell-substrate adhesion|-7.2</a:t>
                      </a:r>
                    </a:p>
                  </a:txBody>
                  <a:tcPr/>
                </a:tc>
              </a:tr>
              <a:tr h="512064">
                <a:tc>
                  <a:txBody>
                    <a:bodyPr/>
                    <a:lstStyle/>
                    <a:p>
                      <a:r>
                        <a:t>up_common_genes_SUB1_MCODE_7</a:t>
                      </a:r>
                    </a:p>
                  </a:txBody>
                  <a:tcPr/>
                </a:tc>
                <a:tc>
                  <a:txBody>
                    <a:bodyPr/>
                    <a:lstStyle/>
                    <a:p>
                      <a:r>
                        <a:t>R-HSA-6811434|COPI-dependent Golgi-to-ER retrograde traffic|-7.5;R-HSA-8856688|Golgi-to-ER retrograde transport|-7.1;R-HSA-6811442|Intra-Golgi and retrograde Golgi-to-ER traffic|-6.5</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pic>
        <p:nvPicPr>
          <p:cNvPr id="4" name="Picture 3" descr="up_common_genes_MCODE_ALL_PPIColorByCluster.png"/>
          <p:cNvPicPr>
            <a:picLocks noChangeAspect="1"/>
          </p:cNvPicPr>
          <p:nvPr/>
        </p:nvPicPr>
        <p:blipFill>
          <a:blip r:embed="rId2"/>
          <a:stretch>
            <a:fillRect/>
          </a:stretch>
        </p:blipFill>
        <p:spPr>
          <a:xfrm>
            <a:off x="640080" y="1844723"/>
            <a:ext cx="10911535" cy="4762124"/>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common_genes_PPIColorByCluster.png"/>
          <p:cNvPicPr>
            <a:picLocks noChangeAspect="1"/>
          </p:cNvPicPr>
          <p:nvPr/>
        </p:nvPicPr>
        <p:blipFill>
          <a:blip r:embed="rId2"/>
          <a:stretch>
            <a:fillRect/>
          </a:stretch>
        </p:blipFill>
        <p:spPr>
          <a:xfrm>
            <a:off x="2507202" y="1665465"/>
            <a:ext cx="7177290"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down_mes_up_epi</a:t>
                      </a:r>
                    </a:p>
                  </a:txBody>
                  <a:tcPr/>
                </a:tc>
                <a:tc>
                  <a:txBody>
                    <a:bodyPr/>
                    <a:lstStyle/>
                    <a:p>
                      <a:r>
                        <a:t>M5913|HALLMARK INTERFERON GAMMA RESPONSE|-23.9;M5890|HALLMARK TNFA SIGNALING VIA NFKB|-23.9;R-HSA-1280215|Cytokine Signaling in Immune system|-23.2</a:t>
                      </a:r>
                    </a:p>
                  </a:txBody>
                  <a:tcPr/>
                </a:tc>
              </a:tr>
              <a:tr h="640080">
                <a:tc>
                  <a:txBody>
                    <a:bodyPr/>
                    <a:lstStyle/>
                    <a:p>
                      <a:r>
                        <a:t>down_mes_up_epi_MCODE_ALL</a:t>
                      </a:r>
                    </a:p>
                  </a:txBody>
                  <a:tcPr/>
                </a:tc>
                <a:tc>
                  <a:txBody>
                    <a:bodyPr/>
                    <a:lstStyle/>
                    <a:p>
                      <a:r>
                        <a:t>M5890|HALLMARK TNFA SIGNALING VIA NFKB|-21.0;R-HSA-1280215|Cytokine Signaling in Immune system|-16.4;R-HSA-449147|Signaling by Interleukins|-14.4</a:t>
                      </a:r>
                    </a:p>
                  </a:txBody>
                  <a:tcPr/>
                </a:tc>
              </a:tr>
              <a:tr h="640080">
                <a:tc>
                  <a:txBody>
                    <a:bodyPr/>
                    <a:lstStyle/>
                    <a:p>
                      <a:r>
                        <a:t>down_mes_up_epi_SUB1_MCODE_1</a:t>
                      </a:r>
                    </a:p>
                  </a:txBody>
                  <a:tcPr/>
                </a:tc>
                <a:tc>
                  <a:txBody>
                    <a:bodyPr/>
                    <a:lstStyle/>
                    <a:p>
                      <a:r>
                        <a:t>M5890|HALLMARK TNFA SIGNALING VIA NFKB|-16.0;R-HSA-449147|Signaling by Interleukins|-12.6;R-HSA-1280215|Cytokine Signaling in Immune system|-12.5</a:t>
                      </a:r>
                    </a:p>
                  </a:txBody>
                  <a:tcPr/>
                </a:tc>
              </a:tr>
              <a:tr h="640080">
                <a:tc>
                  <a:txBody>
                    <a:bodyPr/>
                    <a:lstStyle/>
                    <a:p>
                      <a:r>
                        <a:t>down_mes_up_epi_SUB1_MCODE_2</a:t>
                      </a:r>
                    </a:p>
                  </a:txBody>
                  <a:tcPr/>
                </a:tc>
                <a:tc>
                  <a:txBody>
                    <a:bodyPr/>
                    <a:lstStyle/>
                    <a:p>
                      <a:r>
                        <a:t>GO:0050770|regulation of axonogenesis|-6.3;hsa04360|Axon guidance|-6.1;R-HSA-376176|Signaling by ROBO receptors|-5.8</a:t>
                      </a:r>
                    </a:p>
                  </a:txBody>
                  <a:tcPr/>
                </a:tc>
              </a:tr>
              <a:tr h="640080">
                <a:tc>
                  <a:txBody>
                    <a:bodyPr/>
                    <a:lstStyle/>
                    <a:p>
                      <a:r>
                        <a:t>down_mes_up_epi_SUB1_MCODE_3</a:t>
                      </a:r>
                    </a:p>
                  </a:txBody>
                  <a:tcPr/>
                </a:tc>
                <a:tc>
                  <a:txBody>
                    <a:bodyPr/>
                    <a:lstStyle/>
                    <a:p>
                      <a:r>
                        <a:t>R-HSA-936440|Negative regulators of DDX58/IFIH1 signaling|-8.8;R-HSA-168928|DDX58/IFIH1-mediated induction of interferon-alpha/beta|-7.7;R-HSA-9833110|RSV-host interactions|-7.5</a:t>
                      </a:r>
                    </a:p>
                  </a:txBody>
                  <a:tcPr/>
                </a:tc>
              </a:tr>
              <a:tr h="640080">
                <a:tc>
                  <a:txBody>
                    <a:bodyPr/>
                    <a:lstStyle/>
                    <a:p>
                      <a:r>
                        <a:t>down_mes_up_epi_SUB1_MCODE_4</a:t>
                      </a:r>
                    </a:p>
                  </a:txBody>
                  <a:tcPr/>
                </a:tc>
                <a:tc>
                  <a:txBody>
                    <a:bodyPr/>
                    <a:lstStyle/>
                    <a:p>
                      <a:r>
                        <a:t>R-HSA-9013404|RAC2 GTPase cycle|-7.6;R-HSA-9012999|RHO GTPase cycle|-5.5;R-HSA-194315|Signaling by Rho GTPases|-4.9</a:t>
                      </a:r>
                    </a:p>
                  </a:txBody>
                  <a:tcPr/>
                </a:tc>
              </a:tr>
              <a:tr h="640080">
                <a:tc>
                  <a:txBody>
                    <a:bodyPr/>
                    <a:lstStyle/>
                    <a:p>
                      <a:r>
                        <a:t>down_mes_up_epi_SUB1_MCODE_5</a:t>
                      </a:r>
                    </a:p>
                  </a:txBody>
                  <a:tcPr/>
                </a:tc>
                <a:tc>
                  <a:txBody>
                    <a:bodyPr/>
                    <a:lstStyle/>
                    <a:p>
                      <a:r>
                        <a:t>R-HSA-5684264|MAP3K8 (TPL2)-dependent MAPK1/3 activation|-9.9;R-HSA-450294|MAP kinase activation|-8.0;R-HSA-448424|Interleukin-17 signaling|-7.9</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pic>
        <p:nvPicPr>
          <p:cNvPr id="4" name="Picture 3" descr="down_mes_up_epi_MCODE_ALL_PPIColorByCluster.png"/>
          <p:cNvPicPr>
            <a:picLocks noChangeAspect="1"/>
          </p:cNvPicPr>
          <p:nvPr/>
        </p:nvPicPr>
        <p:blipFill>
          <a:blip r:embed="rId2"/>
          <a:stretch>
            <a:fillRect/>
          </a:stretch>
        </p:blipFill>
        <p:spPr>
          <a:xfrm>
            <a:off x="940230" y="1665465"/>
            <a:ext cx="10311234" cy="512064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up_epi_PPIColorByCluster.png"/>
          <p:cNvPicPr>
            <a:picLocks noChangeAspect="1"/>
          </p:cNvPicPr>
          <p:nvPr/>
        </p:nvPicPr>
        <p:blipFill>
          <a:blip r:embed="rId2"/>
          <a:stretch>
            <a:fillRect/>
          </a:stretch>
        </p:blipFill>
        <p:spPr>
          <a:xfrm>
            <a:off x="870276" y="1665465"/>
            <a:ext cx="10451142" cy="51206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down_mes_only</a:t>
                      </a:r>
                    </a:p>
                  </a:txBody>
                  <a:tcPr/>
                </a:tc>
                <a:tc>
                  <a:txBody>
                    <a:bodyPr/>
                    <a:lstStyle/>
                    <a:p>
                      <a:r>
                        <a:t>GO:0036293|response to decreased oxygen levels|-8.3;GO:0070482|response to oxygen levels|-7.8;GO:0001666|response to hypoxia|-6.8</a:t>
                      </a:r>
                    </a:p>
                  </a:txBody>
                  <a:tcPr/>
                </a:tc>
              </a:tr>
              <a:tr h="853440">
                <a:tc>
                  <a:txBody>
                    <a:bodyPr/>
                    <a:lstStyle/>
                    <a:p>
                      <a:r>
                        <a:t>down_mes_only_MCODE_ALL</a:t>
                      </a:r>
                    </a:p>
                  </a:txBody>
                  <a:tcPr/>
                </a:tc>
                <a:tc>
                  <a:txBody>
                    <a:bodyPr/>
                    <a:lstStyle/>
                    <a:p>
                      <a:r>
                        <a:t>hsa04360|Axon guidance|-8.5;GO:0048013|ephrin receptor signaling pathway|-7.4;R-HSA-3928665|EPH-ephrin mediated repulsion of cells|-7.3</a:t>
                      </a:r>
                    </a:p>
                  </a:txBody>
                  <a:tcPr/>
                </a:tc>
              </a:tr>
              <a:tr h="853440">
                <a:tc>
                  <a:txBody>
                    <a:bodyPr/>
                    <a:lstStyle/>
                    <a:p>
                      <a:r>
                        <a:t>down_mes_only_SUB1_MCODE_1</a:t>
                      </a:r>
                    </a:p>
                  </a:txBody>
                  <a:tcPr/>
                </a:tc>
                <a:tc>
                  <a:txBody>
                    <a:bodyPr/>
                    <a:lstStyle/>
                    <a:p>
                      <a:r>
                        <a:t>R-HSA-3371453|Regulation of HSF1-mediated heat shock response|-6.4;R-HSA-1169408|ISG15 antiviral mechanism|-6.3;M115|PID REG GR PATHWAY|-6.2</a:t>
                      </a:r>
                    </a:p>
                  </a:txBody>
                  <a:tcPr/>
                </a:tc>
              </a:tr>
              <a:tr h="853440">
                <a:tc>
                  <a:txBody>
                    <a:bodyPr/>
                    <a:lstStyle/>
                    <a:p>
                      <a:r>
                        <a:t>down_mes_only_SUB1_MCODE_2</a:t>
                      </a:r>
                    </a:p>
                  </a:txBody>
                  <a:tcPr/>
                </a:tc>
                <a:tc>
                  <a:txBody>
                    <a:bodyPr/>
                    <a:lstStyle/>
                    <a:p>
                      <a:r>
                        <a:t>GO:0048013|ephrin receptor signaling pathway|-11.2;R-HSA-3928665|EPH-ephrin mediated repulsion of cells|-11.1;R-HSA-2682334|EPH-Ephrin signaling|-10.1</a:t>
                      </a:r>
                    </a:p>
                  </a:txBody>
                  <a:tcPr/>
                </a:tc>
              </a:tr>
              <a:tr h="853440">
                <a:tc>
                  <a:txBody>
                    <a:bodyPr/>
                    <a:lstStyle/>
                    <a:p>
                      <a:r>
                        <a:t>down_mes_only_SUB1_MCODE_5</a:t>
                      </a:r>
                    </a:p>
                  </a:txBody>
                  <a:tcPr/>
                </a:tc>
                <a:tc>
                  <a:txBody>
                    <a:bodyPr/>
                    <a:lstStyle/>
                    <a:p>
                      <a:r>
                        <a:t>GO:0018193|peptidyl-amino acid modification|-5.3</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pic>
        <p:nvPicPr>
          <p:cNvPr id="4" name="Picture 3" descr="down_mes_only_MCODE_ALL_PPIColorByCluster.png"/>
          <p:cNvPicPr>
            <a:picLocks noChangeAspect="1"/>
          </p:cNvPicPr>
          <p:nvPr/>
        </p:nvPicPr>
        <p:blipFill>
          <a:blip r:embed="rId2"/>
          <a:stretch>
            <a:fillRect/>
          </a:stretch>
        </p:blipFill>
        <p:spPr>
          <a:xfrm>
            <a:off x="640080" y="1778713"/>
            <a:ext cx="10911535" cy="4894144"/>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only_PPIColorByCluster.png"/>
          <p:cNvPicPr>
            <a:picLocks noChangeAspect="1"/>
          </p:cNvPicPr>
          <p:nvPr/>
        </p:nvPicPr>
        <p:blipFill>
          <a:blip r:embed="rId2"/>
          <a:stretch>
            <a:fillRect/>
          </a:stretch>
        </p:blipFill>
        <p:spPr>
          <a:xfrm>
            <a:off x="2381285" y="1665465"/>
            <a:ext cx="7429125" cy="51206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down_epi_only</a:t>
                      </a:r>
                    </a:p>
                  </a:txBody>
                  <a:tcPr/>
                </a:tc>
                <a:tc>
                  <a:txBody>
                    <a:bodyPr/>
                    <a:lstStyle/>
                    <a:p>
                      <a:r>
                        <a:t>GO:0042254|ribosome biogenesis|-24.9;GO:0022613|ribonucleoprotein complex biogenesis|-22.0;GO:0034660|ncRNA metabolic process|-21.8</a:t>
                      </a:r>
                    </a:p>
                  </a:txBody>
                  <a:tcPr/>
                </a:tc>
              </a:tr>
              <a:tr h="640080">
                <a:tc>
                  <a:txBody>
                    <a:bodyPr/>
                    <a:lstStyle/>
                    <a:p>
                      <a:r>
                        <a:t>down_epi_only_MCODE_ALL</a:t>
                      </a:r>
                    </a:p>
                  </a:txBody>
                  <a:tcPr/>
                </a:tc>
                <a:tc>
                  <a:txBody>
                    <a:bodyPr/>
                    <a:lstStyle/>
                    <a:p>
                      <a:r>
                        <a:t>R-HSA-5368287|Mitochondrial translation|-24.8;GO:0032543|mitochondrial translation|-23.7;GO:0140053|mitochondrial gene expression|-21.8</a:t>
                      </a:r>
                    </a:p>
                  </a:txBody>
                  <a:tcPr/>
                </a:tc>
              </a:tr>
              <a:tr h="640080">
                <a:tc>
                  <a:txBody>
                    <a:bodyPr/>
                    <a:lstStyle/>
                    <a:p>
                      <a:r>
                        <a:t>down_epi_only_SUB1_MCODE_1</a:t>
                      </a:r>
                    </a:p>
                  </a:txBody>
                  <a:tcPr/>
                </a:tc>
                <a:tc>
                  <a:txBody>
                    <a:bodyPr/>
                    <a:lstStyle/>
                    <a:p>
                      <a:r>
                        <a:t>R-HSA-5368287|Mitochondrial translation|-35.3;GO:0032543|mitochondrial translation|-34.2;GO:0140053|mitochondrial gene expression|-32.3</a:t>
                      </a:r>
                    </a:p>
                  </a:txBody>
                  <a:tcPr/>
                </a:tc>
              </a:tr>
              <a:tr h="640080">
                <a:tc>
                  <a:txBody>
                    <a:bodyPr/>
                    <a:lstStyle/>
                    <a:p>
                      <a:r>
                        <a:t>down_epi_only_SUB1_MCODE_2</a:t>
                      </a:r>
                    </a:p>
                  </a:txBody>
                  <a:tcPr/>
                </a:tc>
                <a:tc>
                  <a:txBody>
                    <a:bodyPr/>
                    <a:lstStyle/>
                    <a:p>
                      <a:r>
                        <a:t>GO:0042254|ribosome biogenesis|-12.2;GO:0006364|rRNA processing|-11.3;GO:0016072|rRNA metabolic process|-10.8</a:t>
                      </a:r>
                    </a:p>
                  </a:txBody>
                  <a:tcPr/>
                </a:tc>
              </a:tr>
              <a:tr h="640080">
                <a:tc>
                  <a:txBody>
                    <a:bodyPr/>
                    <a:lstStyle/>
                    <a:p>
                      <a:r>
                        <a:t>down_epi_only_SUB1_MCODE_3</a:t>
                      </a:r>
                    </a:p>
                  </a:txBody>
                  <a:tcPr/>
                </a:tc>
                <a:tc>
                  <a:txBody>
                    <a:bodyPr/>
                    <a:lstStyle/>
                    <a:p>
                      <a:r>
                        <a:t>hsa00071|Fatty acid degradation|-9.6;hsa01212|Fatty acid metabolism|-9.1;GO:0006631|fatty acid metabolic process|-8.1</a:t>
                      </a:r>
                    </a:p>
                  </a:txBody>
                  <a:tcPr/>
                </a:tc>
              </a:tr>
              <a:tr h="640080">
                <a:tc>
                  <a:txBody>
                    <a:bodyPr/>
                    <a:lstStyle/>
                    <a:p>
                      <a:r>
                        <a:t>down_epi_only_SUB1_MCODE_4</a:t>
                      </a:r>
                    </a:p>
                  </a:txBody>
                  <a:tcPr/>
                </a:tc>
                <a:tc>
                  <a:txBody>
                    <a:bodyPr/>
                    <a:lstStyle/>
                    <a:p>
                      <a:r>
                        <a:t>R-HSA-8868773|rRNA processing in the nucleus and cytosol|-13.2;R-HSA-72312|rRNA processing|-13.0;GO:0006364|rRNA processing|-12.9</a:t>
                      </a:r>
                    </a:p>
                  </a:txBody>
                  <a:tcPr/>
                </a:tc>
              </a:tr>
              <a:tr h="640080">
                <a:tc>
                  <a:txBody>
                    <a:bodyPr/>
                    <a:lstStyle/>
                    <a:p>
                      <a:r>
                        <a:t>down_epi_only_SUB1_MCODE_6</a:t>
                      </a:r>
                    </a:p>
                  </a:txBody>
                  <a:tcPr/>
                </a:tc>
                <a:tc>
                  <a:txBody>
                    <a:bodyPr/>
                    <a:lstStyle/>
                    <a:p>
                      <a:r>
                        <a:t>R-HSA-159234|Transport of Mature mRNAs Derived from Intronless Transcripts|-11.5;R-HSA-72202|Transport of Mature Transcript to Cytoplasm|-10.3;R-HSA-159230|Transport of the SLBP Dependant Mature mRNA|-8.2</a:t>
                      </a:r>
                    </a:p>
                  </a:txBody>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pic>
        <p:nvPicPr>
          <p:cNvPr id="4" name="Picture 3" descr="down_epi_only_MCODE_ALL_PPIColorByCluster.png"/>
          <p:cNvPicPr>
            <a:picLocks noChangeAspect="1"/>
          </p:cNvPicPr>
          <p:nvPr/>
        </p:nvPicPr>
        <p:blipFill>
          <a:blip r:embed="rId2"/>
          <a:stretch>
            <a:fillRect/>
          </a:stretch>
        </p:blipFill>
        <p:spPr>
          <a:xfrm>
            <a:off x="786331" y="1665465"/>
            <a:ext cx="10619032" cy="51206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epi_only_PPIColorByCluster.png"/>
          <p:cNvPicPr>
            <a:picLocks noChangeAspect="1"/>
          </p:cNvPicPr>
          <p:nvPr/>
        </p:nvPicPr>
        <p:blipFill>
          <a:blip r:embed="rId2"/>
          <a:stretch>
            <a:fillRect/>
          </a:stretch>
        </p:blipFill>
        <p:spPr>
          <a:xfrm>
            <a:off x="2542179" y="1665465"/>
            <a:ext cx="7107336" cy="5120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1993</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宋体</vt:lpstr>
      <vt:lpstr>Arial</vt:lpstr>
      <vt:lpstr>Calibri</vt:lpstr>
      <vt:lpstr>Office Theme</vt:lpstr>
      <vt:lpstr>PowerPoint Presentation</vt:lpstr>
      <vt:lpstr>Gene List Summary</vt:lpstr>
      <vt:lpstr>Gene Overlap Analysis</vt:lpstr>
      <vt:lpstr>Membership Analysis</vt:lpstr>
      <vt:lpstr>Gene Overlap Analysis Expanded via Shared Enriched Ontologies</vt:lpstr>
      <vt:lpstr>Enriched Ontology Clusters Across Studies</vt:lpstr>
      <vt:lpstr>Enriched Ontology Clusters Colored by Cluster ID</vt:lpstr>
      <vt:lpstr>Enriched Ontology Clusters Colored by p-Value</vt:lpstr>
      <vt:lpstr>Enriched Ontology Clusters Pied by Gene Counts Across Studies</vt:lpstr>
      <vt:lpstr>Protein-protein Interaction Network</vt:lpstr>
      <vt:lpstr>PPI MCODE Components</vt:lpstr>
      <vt:lpstr>Biological Interpretation PPI Network &amp; MCODE Components</vt:lpstr>
      <vt:lpstr>PPI Network for Lists Merged Pied by Gene Origin in Studies </vt:lpstr>
      <vt:lpstr>PPI Network for Lists Merged Colored by MCODE ID</vt:lpstr>
      <vt:lpstr>PowerPoint Presentation</vt:lpstr>
      <vt:lpstr>MCODE for Lists Merged Pied by Gene Origin in Studies</vt:lpstr>
      <vt:lpstr>Biological Interpretation MCODE Components for Lists Merged</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2021-12-03T05:56:47Z</dcterms:modified>
</cp:coreProperties>
</file>