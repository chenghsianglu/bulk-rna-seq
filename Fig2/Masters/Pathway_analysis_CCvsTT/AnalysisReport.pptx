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7" r:id="rId3"/>
    <p:sldId id="267" r:id="rId4"/>
    <p:sldId id="268" r:id="rId6"/>
    <p:sldId id="261" r:id="rId7"/>
    <p:sldId id="262" r:id="rId8"/>
    <p:sldId id="265" r:id="rId9"/>
    <p:sldId id="269" r:id="rId10"/>
    <p:sldId id="263" r:id="rId11"/>
    <p:sldId id="266" r:id="rId12"/>
    <p:sldId id="264" r:id="rId13"/>
    <p:sldId id="300" r:id="rId46"/>
    <p:sldId id="299" r:id="rId45"/>
    <p:sldId id="298" r:id="rId44"/>
    <p:sldId id="297" r:id="rId43"/>
    <p:sldId id="296" r:id="rId42"/>
    <p:sldId id="295" r:id="rId41"/>
    <p:sldId id="294" r:id="rId40"/>
    <p:sldId id="293" r:id="rId39"/>
    <p:sldId id="292" r:id="rId38"/>
    <p:sldId id="291" r:id="rId37"/>
    <p:sldId id="290" r:id="rId36"/>
    <p:sldId id="289" r:id="rId35"/>
    <p:sldId id="288" r:id="rId34"/>
    <p:sldId id="287" r:id="rId33"/>
    <p:sldId id="286" r:id="rId32"/>
    <p:sldId id="285" r:id="rId31"/>
    <p:sldId id="284" r:id="rId30"/>
    <p:sldId id="283" r:id="rId29"/>
    <p:sldId id="282" r:id="rId28"/>
    <p:sldId id="281" r:id="rId27"/>
    <p:sldId id="280" r:id="rId26"/>
    <p:sldId id="27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 Target="slides/slide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a:t>
            </a:r>
            <a:r>
              <a:rPr lang="en-US" baseline="0" dirty="0" smtClean="0"/>
              <a:t> report is automatically generated by Metascape (https://metascape.org).</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8300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first</a:t>
            </a:r>
            <a:r>
              <a:rPr lang="en-US" baseline="0" dirty="0" smtClean="0"/>
              <a:t> </a:t>
            </a:r>
            <a:r>
              <a:rPr lang="en-US" dirty="0" smtClean="0"/>
              <a:t>automatically </a:t>
            </a:r>
            <a:r>
              <a:rPr lang="en-US" baseline="0" dirty="0" smtClean="0"/>
              <a:t>converts you input identifiers (</a:t>
            </a:r>
            <a:r>
              <a:rPr lang="en-US" baseline="0" dirty="0" err="1" smtClean="0"/>
              <a:t>Entrez</a:t>
            </a:r>
            <a:r>
              <a:rPr lang="en-US" baseline="0" dirty="0" smtClean="0"/>
              <a:t> Gene 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Symbol) into Human </a:t>
            </a:r>
            <a:r>
              <a:rPr lang="en-US" baseline="0" dirty="0" err="1" smtClean="0"/>
              <a:t>Entrez</a:t>
            </a:r>
            <a:r>
              <a:rPr lang="en-US" baseline="0" dirty="0" smtClean="0"/>
              <a:t> Gene ID.  For example, input identifiers can be from human, mouse or rat </a:t>
            </a:r>
            <a:r>
              <a:rPr lang="en-US" baseline="0" dirty="0" err="1" smtClean="0"/>
              <a:t>orthologs</a:t>
            </a:r>
            <a:r>
              <a:rPr lang="en-US" baseline="0" dirty="0" smtClean="0"/>
              <a:t>, which can be mapped into human (or “analysis as” species) based on 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baseline="0" dirty="0" smtClean="0"/>
          </a:p>
          <a:p>
            <a:r>
              <a:rPr lang="en-US" baseline="0" dirty="0" smtClean="0"/>
              <a:t>The background of each row is the color code used in the various plots within this report, where each color is consistently used to code a corresponding gene list.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a:t>
            </a:r>
          </a:p>
          <a:p>
            <a:endParaRPr lang="en-US" baseline="0" dirty="0" smtClean="0"/>
          </a:p>
          <a:p>
            <a:r>
              <a:rPr lang="en-US" baseline="0" dirty="0" smtClean="0"/>
              <a:t>The greater the number of purple links and the longer the dark orange arcs implies greater overlap among the input gene lists.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0109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a:t>
            </a:r>
          </a:p>
          <a:p>
            <a:r>
              <a:rPr lang="en-US" baseline="0" dirty="0" smtClean="0"/>
              <a:t>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  Blue lines link the genes, although different, fall under the same ontology term (the term has to statistically significantly enriched and with size no larger than 100).</a:t>
            </a:r>
          </a:p>
          <a:p>
            <a:endParaRPr lang="en-US" baseline="0" dirty="0" smtClean="0"/>
          </a:p>
          <a:p>
            <a:r>
              <a:rPr lang="en-US" baseline="0" dirty="0" smtClean="0"/>
              <a:t>The greater the number of purple links and the longer the dark orange arcs implies greater overlap among the input gene lists.  Blue links indicate the amount of functional overlap among the input gene lists.  It is common in meta-analysis that we observe little directly overlap among studies, due to the variations in the biological assays used.  However, we tend to see a lot more functional overlap, as these studies probably pick up different subset of gene members of the same biological processes.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375065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the term with the best p-value within each cluster as its representative term and display them in a </a:t>
            </a:r>
            <a:r>
              <a:rPr lang="en-US" baseline="0" dirty="0" err="1" smtClean="0"/>
              <a:t>dendrogram</a:t>
            </a:r>
            <a:r>
              <a:rPr lang="en-US" baseline="0" dirty="0" smtClean="0"/>
              <a:t>. The </a:t>
            </a:r>
            <a:r>
              <a:rPr lang="en-US" baseline="0" dirty="0" err="1" smtClean="0"/>
              <a:t>heatmap</a:t>
            </a:r>
            <a:r>
              <a:rPr lang="en-US" baseline="0" dirty="0" smtClean="0"/>
              <a:t> cells are colored by their p-values, white cells indicate the lack of enrichment for that term in the corresponding gene list.  We also export files behind this </a:t>
            </a:r>
            <a:r>
              <a:rPr lang="en-US" baseline="0" dirty="0" err="1" smtClean="0"/>
              <a:t>heatmap</a:t>
            </a:r>
            <a:r>
              <a:rPr lang="en-US" baseline="0" dirty="0" smtClean="0"/>
              <a:t> (.</a:t>
            </a:r>
            <a:r>
              <a:rPr lang="en-US" baseline="0" dirty="0" err="1" smtClean="0"/>
              <a:t>cdt</a:t>
            </a:r>
            <a:r>
              <a:rPr lang="en-US" baseline="0" dirty="0" smtClean="0"/>
              <a:t>, .</a:t>
            </a:r>
            <a:r>
              <a:rPr lang="en-US" baseline="0" dirty="0" err="1" smtClean="0"/>
              <a:t>gtr</a:t>
            </a:r>
            <a:r>
              <a:rPr lang="en-US" baseline="0" dirty="0" smtClean="0"/>
              <a:t>, .</a:t>
            </a:r>
            <a:r>
              <a:rPr lang="en-US" baseline="0" dirty="0" err="1" smtClean="0"/>
              <a:t>atr</a:t>
            </a:r>
            <a:r>
              <a:rPr lang="en-US" baseline="0" dirty="0" smtClean="0"/>
              <a:t>, and .</a:t>
            </a:r>
            <a:r>
              <a:rPr lang="en-US" baseline="0" dirty="0" err="1" smtClean="0"/>
              <a:t>jtv</a:t>
            </a:r>
            <a:r>
              <a:rPr lang="en-US" baseline="0" dirty="0" smtClean="0"/>
              <a:t> files), so that one can visualize it interactively using </a:t>
            </a:r>
            <a:r>
              <a:rPr lang="en-US" baseline="0" dirty="0" err="1" smtClean="0"/>
              <a:t>JTreeView</a:t>
            </a:r>
            <a:r>
              <a:rPr lang="en-US" baseline="0" dirty="0" smtClean="0"/>
              <a:t> program (http://sourceforge.net/projects/jtreeview/).  The PDF version of the graph can be found in the zip package.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converted them into a network layout.  More specifically, each term is represented by a circle node, where its size is proportional to the number of input genes fall under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displayed as pies.  Each pie sector is proportional to the number of hits originated from a gene list.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Color code for pie sector represents a gene list and is consistent with the colors used for table rows in slide #2.</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83936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extract “biological meanings”.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a:t>
            </a:r>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12</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into one list and resulted in a PPI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13</a:t>
            </a:fld>
            <a:endParaRPr lang="en-US"/>
          </a:p>
        </p:txBody>
      </p:sp>
    </p:spTree>
    <p:extLst>
      <p:ext uri="{BB962C8B-B14F-4D97-AF65-F5344CB8AC3E}">
        <p14:creationId xmlns:p14="http://schemas.microsoft.com/office/powerpoint/2010/main" val="556376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14</a:t>
            </a:fld>
            <a:endParaRPr lang="en-US"/>
          </a:p>
        </p:txBody>
      </p:sp>
    </p:spTree>
    <p:extLst>
      <p:ext uri="{BB962C8B-B14F-4D97-AF65-F5344CB8AC3E}">
        <p14:creationId xmlns:p14="http://schemas.microsoft.com/office/powerpoint/2010/main" val="127878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components  were identified from the merged network.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15</a:t>
            </a:fld>
            <a:endParaRPr lang="en-US"/>
          </a:p>
        </p:txBody>
      </p:sp>
    </p:spTree>
    <p:extLst>
      <p:ext uri="{BB962C8B-B14F-4D97-AF65-F5344CB8AC3E}">
        <p14:creationId xmlns:p14="http://schemas.microsoft.com/office/powerpoint/2010/main" val="217720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16</a:t>
            </a:fld>
            <a:endParaRPr lang="en-US"/>
          </a:p>
        </p:txBody>
      </p:sp>
    </p:spTree>
    <p:extLst>
      <p:ext uri="{BB962C8B-B14F-4D97-AF65-F5344CB8AC3E}">
        <p14:creationId xmlns:p14="http://schemas.microsoft.com/office/powerpoint/2010/main" val="346616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original PPI network and its MCODE network components to extract their “biological meanings”,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17</a:t>
            </a:fld>
            <a:endParaRPr lang="en-US"/>
          </a:p>
        </p:txBody>
      </p:sp>
    </p:spTree>
    <p:extLst>
      <p:ext uri="{BB962C8B-B14F-4D97-AF65-F5344CB8AC3E}">
        <p14:creationId xmlns:p14="http://schemas.microsoft.com/office/powerpoint/2010/main" val="333841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18</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19</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May 1,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2" name="Rectangle 1"/>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5" name="Rectangle 4"/>
          <p:cNvSpPr/>
          <p:nvPr/>
        </p:nvSpPr>
        <p:spPr>
          <a:xfrm>
            <a:off x="3347310" y="6581001"/>
            <a:ext cx="5955495" cy="276999"/>
          </a:xfrm>
          <a:prstGeom prst="rect">
            <a:avLst/>
          </a:prstGeom>
          <a:noFill/>
        </p:spPr>
        <p:txBody>
          <a:bodyPr wrap="square">
            <a:spAutoFit/>
          </a:bodyPr>
          <a:lstStyle/>
          <a:p>
            <a:r>
              <a:rPr lang="en-US" sz="1200" dirty="0">
                <a:solidFill>
                  <a:schemeClr val="tx2"/>
                </a:solidFill>
                <a:latin typeface="Arial" panose="020B0604020202020204" pitchFamily="34" charset="0"/>
                <a:cs typeface="Arial" panose="020B0604020202020204" pitchFamily="34" charset="0"/>
              </a:rPr>
              <a:t>Please check online </a:t>
            </a:r>
            <a:r>
              <a:rPr lang="en-US" sz="1200" dirty="0" err="1">
                <a:solidFill>
                  <a:schemeClr val="tx2"/>
                </a:solidFill>
                <a:latin typeface="Arial" panose="020B0604020202020204" pitchFamily="34" charset="0"/>
                <a:cs typeface="Arial" panose="020B0604020202020204" pitchFamily="34" charset="0"/>
                <a:hlinkClick r:id="rId3"/>
              </a:rPr>
              <a:t>Metascape</a:t>
            </a:r>
            <a:r>
              <a:rPr lang="en-US" sz="1200" dirty="0">
                <a:solidFill>
                  <a:schemeClr val="tx2"/>
                </a:solidFill>
                <a:latin typeface="Arial" panose="020B0604020202020204" pitchFamily="34" charset="0"/>
                <a:cs typeface="Arial" panose="020B0604020202020204" pitchFamily="34" charset="0"/>
                <a:hlinkClick r:id="rId3"/>
              </a:rPr>
              <a:t> User Manual</a:t>
            </a:r>
            <a:r>
              <a:rPr lang="en-US" sz="1200" dirty="0">
                <a:solidFill>
                  <a:schemeClr val="tx2"/>
                </a:solidFill>
                <a:latin typeface="Arial" panose="020B0604020202020204" pitchFamily="34" charset="0"/>
                <a:cs typeface="Arial" panose="020B0604020202020204" pitchFamily="34" charset="0"/>
              </a:rPr>
              <a:t> for explanation of each annotation field.</a:t>
            </a:r>
          </a:p>
        </p:txBody>
      </p:sp>
      <p:graphicFrame>
        <p:nvGraphicFramePr>
          <p:cNvPr id="6" name="Table 5"/>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2727883"/>
                <a:gridCol w="2727883"/>
                <a:gridCol w="2727883"/>
                <a:gridCol w="2727886"/>
              </a:tblGrid>
              <a:tr h="177800">
                <a:tc>
                  <a:txBody>
                    <a:bodyPr/>
                    <a:lstStyle/>
                    <a:p>
                      <a:r>
                        <a:t>Name</a:t>
                      </a:r>
                    </a:p>
                  </a:txBody>
                  <a:tcPr/>
                </a:tc>
                <a:tc>
                  <a:txBody>
                    <a:bodyPr/>
                    <a:lstStyle/>
                    <a:p>
                      <a:r>
                        <a:t>Total</a:t>
                      </a:r>
                    </a:p>
                  </a:txBody>
                  <a:tcPr/>
                </a:tc>
                <a:tc>
                  <a:txBody>
                    <a:bodyPr/>
                    <a:lstStyle/>
                    <a:p>
                      <a:r>
                        <a:t>Unique</a:t>
                      </a:r>
                    </a:p>
                  </a:txBody>
                  <a:tcPr/>
                </a:tc>
                <a:tc>
                  <a:txBody>
                    <a:bodyPr/>
                    <a:lstStyle/>
                    <a:p>
                      <a:r>
                        <a:t>_Color_</a:t>
                      </a:r>
                    </a:p>
                  </a:txBody>
                  <a:tcPr/>
                </a:tc>
              </a:tr>
              <a:tr h="568960">
                <a:tc>
                  <a:txBody>
                    <a:bodyPr/>
                    <a:lstStyle/>
                    <a:p>
                      <a:r>
                        <a:t>down_common_genes</a:t>
                      </a:r>
                    </a:p>
                  </a:txBody>
                  <a:tcPr/>
                </a:tc>
                <a:tc>
                  <a:txBody>
                    <a:bodyPr/>
                    <a:lstStyle/>
                    <a:p>
                      <a:r>
                        <a:t>354</a:t>
                      </a:r>
                    </a:p>
                  </a:txBody>
                  <a:tcPr/>
                </a:tc>
                <a:tc>
                  <a:txBody>
                    <a:bodyPr/>
                    <a:lstStyle/>
                    <a:p>
                      <a:r>
                        <a:t>354</a:t>
                      </a:r>
                    </a:p>
                  </a:txBody>
                  <a:tcPr/>
                </a:tc>
                <a:tc>
                  <a:txBody>
                    <a:bodyPr/>
                    <a:lstStyle/>
                    <a:p>
                      <a:r>
                        <a:t>#E41A1C</a:t>
                      </a:r>
                    </a:p>
                  </a:txBody>
                  <a:tcPr>
                    <a:solidFill>
                      <a:srgbClr val="E41A1C"/>
                    </a:solidFill>
                  </a:tcPr>
                </a:tc>
              </a:tr>
              <a:tr h="568960">
                <a:tc>
                  <a:txBody>
                    <a:bodyPr/>
                    <a:lstStyle/>
                    <a:p>
                      <a:r>
                        <a:t>down_epi_only</a:t>
                      </a:r>
                    </a:p>
                  </a:txBody>
                  <a:tcPr/>
                </a:tc>
                <a:tc>
                  <a:txBody>
                    <a:bodyPr/>
                    <a:lstStyle/>
                    <a:p>
                      <a:r>
                        <a:t>349</a:t>
                      </a:r>
                    </a:p>
                  </a:txBody>
                  <a:tcPr/>
                </a:tc>
                <a:tc>
                  <a:txBody>
                    <a:bodyPr/>
                    <a:lstStyle/>
                    <a:p>
                      <a:r>
                        <a:t>349</a:t>
                      </a:r>
                    </a:p>
                  </a:txBody>
                  <a:tcPr/>
                </a:tc>
                <a:tc>
                  <a:txBody>
                    <a:bodyPr/>
                    <a:lstStyle/>
                    <a:p>
                      <a:r>
                        <a:t>#377EB8</a:t>
                      </a:r>
                    </a:p>
                  </a:txBody>
                  <a:tcPr>
                    <a:solidFill>
                      <a:srgbClr val="377EB8"/>
                    </a:solidFill>
                  </a:tcPr>
                </a:tc>
              </a:tr>
              <a:tr h="568960">
                <a:tc>
                  <a:txBody>
                    <a:bodyPr/>
                    <a:lstStyle/>
                    <a:p>
                      <a:r>
                        <a:t>down_mes_only</a:t>
                      </a:r>
                    </a:p>
                  </a:txBody>
                  <a:tcPr/>
                </a:tc>
                <a:tc>
                  <a:txBody>
                    <a:bodyPr/>
                    <a:lstStyle/>
                    <a:p>
                      <a:r>
                        <a:t>278</a:t>
                      </a:r>
                    </a:p>
                  </a:txBody>
                  <a:tcPr/>
                </a:tc>
                <a:tc>
                  <a:txBody>
                    <a:bodyPr/>
                    <a:lstStyle/>
                    <a:p>
                      <a:r>
                        <a:t>278</a:t>
                      </a:r>
                    </a:p>
                  </a:txBody>
                  <a:tcPr/>
                </a:tc>
                <a:tc>
                  <a:txBody>
                    <a:bodyPr/>
                    <a:lstStyle/>
                    <a:p>
                      <a:r>
                        <a:t>#4DAF4A</a:t>
                      </a:r>
                    </a:p>
                  </a:txBody>
                  <a:tcPr>
                    <a:solidFill>
                      <a:srgbClr val="4DAF4A"/>
                    </a:solidFill>
                  </a:tcPr>
                </a:tc>
              </a:tr>
              <a:tr h="568960">
                <a:tc>
                  <a:txBody>
                    <a:bodyPr/>
                    <a:lstStyle/>
                    <a:p>
                      <a:r>
                        <a:t>down_mes_up_epi</a:t>
                      </a:r>
                    </a:p>
                  </a:txBody>
                  <a:tcPr/>
                </a:tc>
                <a:tc>
                  <a:txBody>
                    <a:bodyPr/>
                    <a:lstStyle/>
                    <a:p>
                      <a:r>
                        <a:t>198</a:t>
                      </a:r>
                    </a:p>
                  </a:txBody>
                  <a:tcPr/>
                </a:tc>
                <a:tc>
                  <a:txBody>
                    <a:bodyPr/>
                    <a:lstStyle/>
                    <a:p>
                      <a:r>
                        <a:t>198</a:t>
                      </a:r>
                    </a:p>
                  </a:txBody>
                  <a:tcPr/>
                </a:tc>
                <a:tc>
                  <a:txBody>
                    <a:bodyPr/>
                    <a:lstStyle/>
                    <a:p>
                      <a:r>
                        <a:t>#984EA3</a:t>
                      </a:r>
                    </a:p>
                  </a:txBody>
                  <a:tcPr>
                    <a:solidFill>
                      <a:srgbClr val="984EA3"/>
                    </a:solidFill>
                  </a:tcPr>
                </a:tc>
              </a:tr>
              <a:tr h="568960">
                <a:tc>
                  <a:txBody>
                    <a:bodyPr/>
                    <a:lstStyle/>
                    <a:p>
                      <a:r>
                        <a:t>up_common_genes</a:t>
                      </a:r>
                    </a:p>
                  </a:txBody>
                  <a:tcPr/>
                </a:tc>
                <a:tc>
                  <a:txBody>
                    <a:bodyPr/>
                    <a:lstStyle/>
                    <a:p>
                      <a:r>
                        <a:t>325</a:t>
                      </a:r>
                    </a:p>
                  </a:txBody>
                  <a:tcPr/>
                </a:tc>
                <a:tc>
                  <a:txBody>
                    <a:bodyPr/>
                    <a:lstStyle/>
                    <a:p>
                      <a:r>
                        <a:t>325</a:t>
                      </a:r>
                    </a:p>
                  </a:txBody>
                  <a:tcPr/>
                </a:tc>
                <a:tc>
                  <a:txBody>
                    <a:bodyPr/>
                    <a:lstStyle/>
                    <a:p>
                      <a:r>
                        <a:t>#FF7F00</a:t>
                      </a:r>
                    </a:p>
                  </a:txBody>
                  <a:tcPr>
                    <a:solidFill>
                      <a:srgbClr val="FF7F00"/>
                    </a:solidFill>
                  </a:tcPr>
                </a:tc>
              </a:tr>
              <a:tr h="568960">
                <a:tc>
                  <a:txBody>
                    <a:bodyPr/>
                    <a:lstStyle/>
                    <a:p>
                      <a:r>
                        <a:t>up_epi_only</a:t>
                      </a:r>
                    </a:p>
                  </a:txBody>
                  <a:tcPr/>
                </a:tc>
                <a:tc>
                  <a:txBody>
                    <a:bodyPr/>
                    <a:lstStyle/>
                    <a:p>
                      <a:r>
                        <a:t>220</a:t>
                      </a:r>
                    </a:p>
                  </a:txBody>
                  <a:tcPr/>
                </a:tc>
                <a:tc>
                  <a:txBody>
                    <a:bodyPr/>
                    <a:lstStyle/>
                    <a:p>
                      <a:r>
                        <a:t>220</a:t>
                      </a:r>
                    </a:p>
                  </a:txBody>
                  <a:tcPr/>
                </a:tc>
                <a:tc>
                  <a:txBody>
                    <a:bodyPr/>
                    <a:lstStyle/>
                    <a:p>
                      <a:r>
                        <a:t>#FFFF33</a:t>
                      </a:r>
                    </a:p>
                  </a:txBody>
                  <a:tcPr>
                    <a:solidFill>
                      <a:srgbClr val="FFFF33"/>
                    </a:solidFill>
                  </a:tcPr>
                </a:tc>
              </a:tr>
              <a:tr h="568960">
                <a:tc>
                  <a:txBody>
                    <a:bodyPr/>
                    <a:lstStyle/>
                    <a:p>
                      <a:r>
                        <a:t>up_mes_down_epi</a:t>
                      </a:r>
                    </a:p>
                  </a:txBody>
                  <a:tcPr/>
                </a:tc>
                <a:tc>
                  <a:txBody>
                    <a:bodyPr/>
                    <a:lstStyle/>
                    <a:p>
                      <a:r>
                        <a:t>268</a:t>
                      </a:r>
                    </a:p>
                  </a:txBody>
                  <a:tcPr/>
                </a:tc>
                <a:tc>
                  <a:txBody>
                    <a:bodyPr/>
                    <a:lstStyle/>
                    <a:p>
                      <a:r>
                        <a:t>268</a:t>
                      </a:r>
                    </a:p>
                  </a:txBody>
                  <a:tcPr/>
                </a:tc>
                <a:tc>
                  <a:txBody>
                    <a:bodyPr/>
                    <a:lstStyle/>
                    <a:p>
                      <a:r>
                        <a:t>#A65628</a:t>
                      </a:r>
                    </a:p>
                  </a:txBody>
                  <a:tcPr>
                    <a:solidFill>
                      <a:srgbClr val="A65628"/>
                    </a:solidFill>
                  </a:tcPr>
                </a:tc>
              </a:tr>
              <a:tr h="568960">
                <a:tc>
                  <a:txBody>
                    <a:bodyPr/>
                    <a:lstStyle/>
                    <a:p>
                      <a:r>
                        <a:t>up_mes_only</a:t>
                      </a:r>
                    </a:p>
                  </a:txBody>
                  <a:tcPr/>
                </a:tc>
                <a:tc>
                  <a:txBody>
                    <a:bodyPr/>
                    <a:lstStyle/>
                    <a:p>
                      <a:r>
                        <a:t>214</a:t>
                      </a:r>
                    </a:p>
                  </a:txBody>
                  <a:tcPr/>
                </a:tc>
                <a:tc>
                  <a:txBody>
                    <a:bodyPr/>
                    <a:lstStyle/>
                    <a:p>
                      <a:r>
                        <a:t>214</a:t>
                      </a:r>
                    </a:p>
                  </a:txBody>
                  <a:tcPr/>
                </a:tc>
                <a:tc>
                  <a:txBody>
                    <a:bodyPr/>
                    <a:lstStyle/>
                    <a:p>
                      <a:r>
                        <a:t>#F781BF</a:t>
                      </a:r>
                    </a:p>
                  </a:txBody>
                  <a:tcPr>
                    <a:solidFill>
                      <a:srgbClr val="F781BF"/>
                    </a:solidFill>
                  </a:tcPr>
                </a:tc>
              </a:tr>
            </a:tbl>
          </a:graphicData>
        </a:graphic>
      </p:graphicFrame>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ircosOverlapByGene.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3045240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
            </a:r>
            <a:r>
              <a:rPr lang="en-US" sz="2000" b="1" dirty="0" err="1">
                <a:solidFill>
                  <a:srgbClr val="C00000"/>
                </a:solidFill>
                <a:latin typeface="Arial" panose="020B0604020202020204" pitchFamily="34" charset="0"/>
                <a:cs typeface="Arial" panose="020B0604020202020204" pitchFamily="34" charset="0"/>
              </a:rPr>
              <a:t/>
            </a:r>
            <a:endParaRPr lang="en-US"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Expanded via Shared Enriched Ontologies</a:t>
            </a:r>
          </a:p>
        </p:txBody>
      </p:sp>
      <p:pic>
        <p:nvPicPr>
          <p:cNvPr id="3" name="Picture 2" descr="CircosOverlapByGO.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69326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2453076" y="1665465"/>
            <a:ext cx="7285543" cy="5120640"/>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080139" y="1665465"/>
            <a:ext cx="10031417" cy="5120640"/>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073487" y="1665465"/>
            <a:ext cx="8044721" cy="5120640"/>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Counts 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Counts.png"/>
          <p:cNvPicPr>
            <a:picLocks noChangeAspect="1"/>
          </p:cNvPicPr>
          <p:nvPr/>
        </p:nvPicPr>
        <p:blipFill>
          <a:blip r:embed="rId3"/>
          <a:stretch>
            <a:fillRect/>
          </a:stretch>
        </p:blipFill>
        <p:spPr>
          <a:xfrm>
            <a:off x="2073487" y="1665465"/>
            <a:ext cx="8044721" cy="5120640"/>
          </a:xfrm>
          <a:prstGeom prst="rect">
            <a:avLst/>
          </a:prstGeom>
        </p:spPr>
      </p:pic>
    </p:spTree>
    <p:extLst>
      <p:ext uri="{BB962C8B-B14F-4D97-AF65-F5344CB8AC3E}">
        <p14:creationId xmlns:p14="http://schemas.microsoft.com/office/powerpoint/2010/main" val="29458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common_genes_PPIColorByCluster.png"/>
          <p:cNvPicPr>
            <a:picLocks noChangeAspect="1"/>
          </p:cNvPicPr>
          <p:nvPr/>
        </p:nvPicPr>
        <p:blipFill>
          <a:blip r:embed="rId3"/>
          <a:stretch>
            <a:fillRect/>
          </a:stretch>
        </p:blipFill>
        <p:spPr>
          <a:xfrm>
            <a:off x="2185413" y="1665465"/>
            <a:ext cx="7820868"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pic>
        <p:nvPicPr>
          <p:cNvPr id="4" name="Picture 3" descr="down_common_genes_MCODE_ALL_PPIColorByCluster.png"/>
          <p:cNvPicPr>
            <a:picLocks noChangeAspect="1"/>
          </p:cNvPicPr>
          <p:nvPr/>
        </p:nvPicPr>
        <p:blipFill>
          <a:blip r:embed="rId3"/>
          <a:stretch>
            <a:fillRect/>
          </a:stretch>
        </p:blipFill>
        <p:spPr>
          <a:xfrm>
            <a:off x="640080" y="1784696"/>
            <a:ext cx="10911535" cy="4882178"/>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graphicFrame>
        <p:nvGraphicFramePr>
          <p:cNvPr id="4" name="Table 3"/>
          <p:cNvGraphicFramePr>
            <a:graphicFrameLocks noGrp="1"/>
          </p:cNvGraphicFramePr>
          <p:nvPr/>
        </p:nvGraphicFramePr>
        <p:xfrm>
          <a:off x="640080" y="1665465"/>
          <a:ext cx="10911535" cy="4832928"/>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465512">
                <a:tc>
                  <a:txBody>
                    <a:bodyPr/>
                    <a:lstStyle/>
                    <a:p>
                      <a:r>
                        <a:t>down_common_genes</a:t>
                      </a:r>
                    </a:p>
                  </a:txBody>
                  <a:tcPr/>
                </a:tc>
                <a:tc>
                  <a:txBody>
                    <a:bodyPr/>
                    <a:lstStyle/>
                    <a:p>
                      <a:r>
                        <a:t>WP107|Translation factors|-10.8;GO:1902532|negative regulation of intracellular signal transduction|-10.1;R-HSA-556833|Metabolism of lipids|-9.9</a:t>
                      </a:r>
                    </a:p>
                  </a:txBody>
                  <a:tcPr/>
                </a:tc>
              </a:tr>
              <a:tr h="465512">
                <a:tc>
                  <a:txBody>
                    <a:bodyPr/>
                    <a:lstStyle/>
                    <a:p>
                      <a:r>
                        <a:t>down_common_genes_MCODE_ALL</a:t>
                      </a:r>
                    </a:p>
                  </a:txBody>
                  <a:tcPr/>
                </a:tc>
                <a:tc>
                  <a:txBody>
                    <a:bodyPr/>
                    <a:lstStyle/>
                    <a:p>
                      <a:r>
                        <a:t>WP107|Translation factors|-15.2;R-HSA-72649|Translation initiation complex formation|-10.5;R-HSA-72702|Ribosomal scanning and start codon recognition|-10.5</a:t>
                      </a:r>
                    </a:p>
                  </a:txBody>
                  <a:tcPr/>
                </a:tc>
              </a:tr>
              <a:tr h="465512">
                <a:tc>
                  <a:txBody>
                    <a:bodyPr/>
                    <a:lstStyle/>
                    <a:p>
                      <a:r>
                        <a:t>down_common_genes_SUB1_MCODE_1</a:t>
                      </a:r>
                    </a:p>
                  </a:txBody>
                  <a:tcPr/>
                </a:tc>
                <a:tc>
                  <a:txBody>
                    <a:bodyPr/>
                    <a:lstStyle/>
                    <a:p>
                      <a:r>
                        <a:t>R-HSA-72649|Translation initiation complex formation|-14.6;R-HSA-72702|Ribosomal scanning and start codon recognition|-14.6;R-HSA-72662|Activation of the mRNA upon binding of the cap-binding complex and eIFs, and subsequent binding to 43S|-14.6</a:t>
                      </a:r>
                    </a:p>
                  </a:txBody>
                  <a:tcPr/>
                </a:tc>
              </a:tr>
              <a:tr h="465512">
                <a:tc>
                  <a:txBody>
                    <a:bodyPr/>
                    <a:lstStyle/>
                    <a:p>
                      <a:r>
                        <a:t>down_common_genes_SUB1_MCODE_2</a:t>
                      </a:r>
                    </a:p>
                  </a:txBody>
                  <a:tcPr/>
                </a:tc>
                <a:tc>
                  <a:txBody>
                    <a:bodyPr/>
                    <a:lstStyle/>
                    <a:p>
                      <a:r>
                        <a:t>hsa01521|EGFR tyrosine kinase inhibitor resistance|-11.7;WP4806|EGFR tyrosine kinase inhibitor resistance|-11.5;hsa05230|Central carbon metabolism in cancer|-9.6</a:t>
                      </a:r>
                    </a:p>
                  </a:txBody>
                  <a:tcPr/>
                </a:tc>
              </a:tr>
              <a:tr h="465512">
                <a:tc>
                  <a:txBody>
                    <a:bodyPr/>
                    <a:lstStyle/>
                    <a:p>
                      <a:r>
                        <a:t>down_common_genes_SUB1_MCODE_3</a:t>
                      </a:r>
                    </a:p>
                  </a:txBody>
                  <a:tcPr/>
                </a:tc>
                <a:tc>
                  <a:txBody>
                    <a:bodyPr/>
                    <a:lstStyle/>
                    <a:p>
                      <a:r>
                        <a:t>R-HSA-6798695|Neutrophil degranulation|-5.7;GO:0006412|translation|-4.1;GO:0043043|peptide biosynthetic process|-4.0</a:t>
                      </a:r>
                    </a:p>
                  </a:txBody>
                  <a:tcPr/>
                </a:tc>
              </a:tr>
              <a:tr h="465512">
                <a:tc>
                  <a:txBody>
                    <a:bodyPr/>
                    <a:lstStyle/>
                    <a:p>
                      <a:r>
                        <a:t>down_common_genes_SUB1_MCODE_4</a:t>
                      </a:r>
                    </a:p>
                  </a:txBody>
                  <a:tcPr/>
                </a:tc>
                <a:tc>
                  <a:txBody>
                    <a:bodyPr/>
                    <a:lstStyle/>
                    <a:p>
                      <a:r>
                        <a:t>GO:0072329|monocarboxylic acid catabolic process|-6.7;GO:0016054|organic acid catabolic process|-5.8;GO:0046395|carboxylic acid catabolic process|-5.8</a:t>
                      </a:r>
                    </a:p>
                  </a:txBody>
                  <a:tcPr/>
                </a:tc>
              </a:tr>
              <a:tr h="465512">
                <a:tc>
                  <a:txBody>
                    <a:bodyPr/>
                    <a:lstStyle/>
                    <a:p>
                      <a:r>
                        <a:t>down_common_genes_SUB1_MCODE_5</a:t>
                      </a:r>
                    </a:p>
                  </a:txBody>
                  <a:tcPr/>
                </a:tc>
                <a:tc>
                  <a:txBody>
                    <a:bodyPr/>
                    <a:lstStyle/>
                    <a:p>
                      <a:r>
                        <a:t>GO:0019216|regulation of lipid metabolic process|-5.3;GO:0034248|regulation of amide metabolic process|-4.7</a:t>
                      </a:r>
                    </a:p>
                  </a:txBody>
                  <a:tcPr/>
                </a:tc>
              </a:tr>
              <a:tr h="465512">
                <a:tc>
                  <a:txBody>
                    <a:bodyPr/>
                    <a:lstStyle/>
                    <a:p>
                      <a:r>
                        <a:t>down_common_genes_SUB1_MCODE_7</a:t>
                      </a:r>
                    </a:p>
                  </a:txBody>
                  <a:tcPr/>
                </a:tc>
                <a:tc>
                  <a:txBody>
                    <a:bodyPr/>
                    <a:lstStyle/>
                    <a:p>
                      <a:r>
                        <a:t>GO:0051336|regulation of hydrolase activity|-4.8</a:t>
                      </a:r>
                    </a:p>
                  </a:txBody>
                  <a:tcPr/>
                </a:tc>
              </a:tr>
              <a:tr h="465512">
                <a:tc>
                  <a:txBody>
                    <a:bodyPr/>
                    <a:lstStyle/>
                    <a:p>
                      <a:r>
                        <a:t>down_common_genes_SUB1_MCODE_8</a:t>
                      </a:r>
                    </a:p>
                  </a:txBody>
                  <a:tcPr/>
                </a:tc>
                <a:tc>
                  <a:txBody>
                    <a:bodyPr/>
                    <a:lstStyle/>
                    <a:p>
                      <a:r>
                        <a:t>GO:0006354|DNA-templated transcription elongation|-8.4;GO:0006351|DNA-templated transcription|-5.3;GO:0032774|RNA biosynthetic process|-5.2</a:t>
                      </a:r>
                    </a:p>
                  </a:txBody>
                  <a:tcPr/>
                </a:tc>
              </a:tr>
              <a:tr h="465520">
                <a:tc>
                  <a:txBody>
                    <a:bodyPr/>
                    <a:lstStyle/>
                    <a:p>
                      <a:r>
                        <a:t>down_common_genes_SUB1_MCODE_9</a:t>
                      </a:r>
                    </a:p>
                  </a:txBody>
                  <a:tcPr/>
                </a:tc>
                <a:tc>
                  <a:txBody>
                    <a:bodyPr/>
                    <a:lstStyle/>
                    <a:p>
                      <a:r>
                        <a:t>R-HSA-432722|Golgi Associated Vesicle Biogenesis|-8.2;R-HSA-199992|trans-Golgi Network Vesicle Budding|-7.9;R-HSA-199991|Membrane Trafficking|-5.0</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 </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99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MCODE ID</a:t>
            </a:r>
          </a:p>
        </p:txBody>
      </p:sp>
    </p:spTree>
    <p:extLst>
      <p:ext uri="{BB962C8B-B14F-4D97-AF65-F5344CB8AC3E}">
        <p14:creationId xmlns:p14="http://schemas.microsoft.com/office/powerpoint/2010/main" val="287582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374650"/>
            <a:ext cx="8847740" cy="458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n w="3175" cap="rnd">
                  <a:solidFill>
                    <a:schemeClr val="accent1">
                      <a:lumMod val="20000"/>
                      <a:lumOff val="80000"/>
                    </a:schemeClr>
                  </a:solidFill>
                  <a:round/>
                </a:ln>
                <a:solidFill>
                  <a:schemeClr val="bg1"/>
                </a:solidFill>
                <a:effectLst>
                  <a:glow rad="101600">
                    <a:schemeClr val="tx2">
                      <a:alpha val="60000"/>
                    </a:schemeClr>
                  </a:glow>
                </a:effectLst>
                <a:latin typeface="Arial" panose="020B0604020202020204" pitchFamily="34" charset="0"/>
                <a:cs typeface="Arial" panose="020B0604020202020204" pitchFamily="34" charset="0"/>
              </a:rPr>
              <a:t>Protein-protein Interaction Network</a:t>
            </a:r>
          </a:p>
        </p:txBody>
      </p:sp>
    </p:spTree>
    <p:extLst>
      <p:ext uri="{BB962C8B-B14F-4D97-AF65-F5344CB8AC3E}">
        <p14:creationId xmlns:p14="http://schemas.microsoft.com/office/powerpoint/2010/main" val="15284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MCODE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Autofit/>
          </a:bodyPr>
          <a:lstStyle/>
          <a:p>
            <a:pPr algn="l"/>
            <a: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200" b="1" dirty="0">
                <a:ln w="3175" cap="rnd">
                  <a:solidFill>
                    <a:schemeClr val="accent1">
                      <a:lumMod val="20000"/>
                      <a:lumOff val="80000"/>
                    </a:schemeClr>
                  </a:solidFill>
                  <a:round/>
                </a:ln>
                <a:latin typeface="Arial" panose="020B0604020202020204" pitchFamily="34" charset="0"/>
                <a:cs typeface="Arial" panose="020B0604020202020204" pitchFamily="34" charset="0"/>
              </a:rPr>
              <a:t>MCODE Components for Lists Merged</a:t>
            </a:r>
          </a:p>
        </p:txBody>
      </p:sp>
    </p:spTree>
    <p:extLst>
      <p:ext uri="{BB962C8B-B14F-4D97-AF65-F5344CB8AC3E}">
        <p14:creationId xmlns:p14="http://schemas.microsoft.com/office/powerpoint/2010/main" val="80218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up_mes_only</a:t>
                      </a:r>
                    </a:p>
                  </a:txBody>
                  <a:tcPr/>
                </a:tc>
                <a:tc>
                  <a:txBody>
                    <a:bodyPr/>
                    <a:lstStyle/>
                    <a:p>
                      <a:r>
                        <a:t>M5913|HALLMARK INTERFERON GAMMA RESPONSE|-15.5;R-HSA-1280215|Cytokine Signaling in Immune system|-13.5;R-HSA-913531|Interferon Signaling|-13.3</a:t>
                      </a:r>
                    </a:p>
                  </a:txBody>
                  <a:tcPr/>
                </a:tc>
              </a:tr>
              <a:tr h="731520">
                <a:tc>
                  <a:txBody>
                    <a:bodyPr/>
                    <a:lstStyle/>
                    <a:p>
                      <a:r>
                        <a:t>up_mes_only_MCODE_ALL</a:t>
                      </a:r>
                    </a:p>
                  </a:txBody>
                  <a:tcPr/>
                </a:tc>
                <a:tc>
                  <a:txBody>
                    <a:bodyPr/>
                    <a:lstStyle/>
                    <a:p>
                      <a:r>
                        <a:t>R-HSA-9705683|SARS-CoV-2-host interactions|-14.0;R-HSA-9705671|SARS-CoV-2 activates/modulates innate and adaptive immune responses|-13.7;R-HSA-913531|Interferon Signaling|-12.9</a:t>
                      </a:r>
                    </a:p>
                  </a:txBody>
                  <a:tcPr/>
                </a:tc>
              </a:tr>
              <a:tr h="731520">
                <a:tc>
                  <a:txBody>
                    <a:bodyPr/>
                    <a:lstStyle/>
                    <a:p>
                      <a:r>
                        <a:t>up_mes_only_SUB1_MCODE_1</a:t>
                      </a:r>
                    </a:p>
                  </a:txBody>
                  <a:tcPr/>
                </a:tc>
                <a:tc>
                  <a:txBody>
                    <a:bodyPr/>
                    <a:lstStyle/>
                    <a:p>
                      <a:r>
                        <a:t>R-HSA-499943|Interconversion of nucleotide di- and triphosphates|-10.3;R-HSA-15869|Metabolism of nucleotides|-8.1;GO:0006221|pyrimidine nucleotide biosynthetic process|-7.2</a:t>
                      </a:r>
                    </a:p>
                  </a:txBody>
                  <a:tcPr/>
                </a:tc>
              </a:tr>
              <a:tr h="731520">
                <a:tc>
                  <a:txBody>
                    <a:bodyPr/>
                    <a:lstStyle/>
                    <a:p>
                      <a:r>
                        <a:t>up_mes_only_SUB1_MCODE_2</a:t>
                      </a:r>
                    </a:p>
                  </a:txBody>
                  <a:tcPr/>
                </a:tc>
                <a:tc>
                  <a:txBody>
                    <a:bodyPr/>
                    <a:lstStyle/>
                    <a:p>
                      <a:r>
                        <a:t>R-HSA-170822|Regulation of Glucokinase by Glucokinase Regulatory Protein|-12.0;R-HSA-168271|Transport of Ribonucleoproteins into the Host Nucleus|-12.0;R-HSA-5619107|Defective TPR may confer susceptibility towards thyroid papillary carcinoma (TPC)|-12.0</a:t>
                      </a:r>
                    </a:p>
                  </a:txBody>
                  <a:tcPr/>
                </a:tc>
              </a:tr>
              <a:tr h="731520">
                <a:tc>
                  <a:txBody>
                    <a:bodyPr/>
                    <a:lstStyle/>
                    <a:p>
                      <a:r>
                        <a:t>up_mes_only_SUB1_MCODE_3</a:t>
                      </a:r>
                    </a:p>
                  </a:txBody>
                  <a:tcPr/>
                </a:tc>
                <a:tc>
                  <a:txBody>
                    <a:bodyPr/>
                    <a:lstStyle/>
                    <a:p>
                      <a:r>
                        <a:t>R-HSA-72163|mRNA Splicing - Major Pathway|-8.7;R-HSA-72172|mRNA Splicing|-8.6;R-HSA-72203|Processing of Capped Intron-Containing Pre-mRNA|-8.1</a:t>
                      </a:r>
                    </a:p>
                  </a:txBody>
                  <a:tcPr/>
                </a:tc>
              </a:tr>
              <a:tr h="731520">
                <a:tc>
                  <a:txBody>
                    <a:bodyPr/>
                    <a:lstStyle/>
                    <a:p>
                      <a:r>
                        <a:t>up_mes_only_SUB1_MCODE_5</a:t>
                      </a:r>
                    </a:p>
                  </a:txBody>
                  <a:tcPr/>
                </a:tc>
                <a:tc>
                  <a:txBody>
                    <a:bodyPr/>
                    <a:lstStyle/>
                    <a:p>
                      <a:r>
                        <a:t>R-HSA-877300|Interferon gamma signaling|-7.5;R-HSA-9705671|SARS-CoV-2 activates/modulates innate and adaptive immune responses|-7.2;hsa05169|Epstein-Barr virus infection|-6.5</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pic>
        <p:nvPicPr>
          <p:cNvPr id="4" name="Picture 3" descr="up_mes_only_MCODE_ALL_PPIColorByCluster.png"/>
          <p:cNvPicPr>
            <a:picLocks noChangeAspect="1"/>
          </p:cNvPicPr>
          <p:nvPr/>
        </p:nvPicPr>
        <p:blipFill>
          <a:blip r:embed="rId2"/>
          <a:stretch>
            <a:fillRect/>
          </a:stretch>
        </p:blipFill>
        <p:spPr>
          <a:xfrm>
            <a:off x="1555827" y="1665465"/>
            <a:ext cx="9080041" cy="51206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only_PPIColorByCluster.png"/>
          <p:cNvPicPr>
            <a:picLocks noChangeAspect="1"/>
          </p:cNvPicPr>
          <p:nvPr/>
        </p:nvPicPr>
        <p:blipFill>
          <a:blip r:embed="rId2"/>
          <a:stretch>
            <a:fillRect/>
          </a:stretch>
        </p:blipFill>
        <p:spPr>
          <a:xfrm>
            <a:off x="1206056" y="1665465"/>
            <a:ext cx="9779582"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graphicFrame>
        <p:nvGraphicFramePr>
          <p:cNvPr id="4" name="Table 3"/>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up_mes_down_epi</a:t>
                      </a:r>
                    </a:p>
                  </a:txBody>
                  <a:tcPr/>
                </a:tc>
                <a:tc>
                  <a:txBody>
                    <a:bodyPr/>
                    <a:lstStyle/>
                    <a:p>
                      <a:r>
                        <a:t>M5924|HALLMARK MTORC1 SIGNALING|-37.7;R-HSA-191273|Cholesterol biosynthesis|-27.5;GO:0016126|sterol biosynthetic process|-27.0</a:t>
                      </a:r>
                    </a:p>
                  </a:txBody>
                  <a:tcPr/>
                </a:tc>
              </a:tr>
              <a:tr h="568960">
                <a:tc>
                  <a:txBody>
                    <a:bodyPr/>
                    <a:lstStyle/>
                    <a:p>
                      <a:r>
                        <a:t>up_mes_down_epi_MCODE_ALL</a:t>
                      </a:r>
                    </a:p>
                  </a:txBody>
                  <a:tcPr/>
                </a:tc>
                <a:tc>
                  <a:txBody>
                    <a:bodyPr/>
                    <a:lstStyle/>
                    <a:p>
                      <a:r>
                        <a:t>R-HSA-191273|Cholesterol biosynthesis|-18.0;WP4718|Cholesterol metabolism with Bloch and Kandutsch Russell pathways|-17.8;M5924|HALLMARK MTORC1 SIGNALING|-16.0</a:t>
                      </a:r>
                    </a:p>
                  </a:txBody>
                  <a:tcPr/>
                </a:tc>
              </a:tr>
              <a:tr h="568960">
                <a:tc>
                  <a:txBody>
                    <a:bodyPr/>
                    <a:lstStyle/>
                    <a:p>
                      <a:r>
                        <a:t>up_mes_down_epi_SUB1_MCODE_1</a:t>
                      </a:r>
                    </a:p>
                  </a:txBody>
                  <a:tcPr/>
                </a:tc>
                <a:tc>
                  <a:txBody>
                    <a:bodyPr/>
                    <a:lstStyle/>
                    <a:p>
                      <a:r>
                        <a:t>WP3963|Mevalonate pathway|-10.8;WP4190|Mevalonate arm of cholesterol biosynthesis pathway|-9.5;WP197|Cholesterol biosynthesis pathway|-9.2</a:t>
                      </a:r>
                    </a:p>
                  </a:txBody>
                  <a:tcPr/>
                </a:tc>
              </a:tr>
              <a:tr h="568960">
                <a:tc>
                  <a:txBody>
                    <a:bodyPr/>
                    <a:lstStyle/>
                    <a:p>
                      <a:r>
                        <a:t>up_mes_down_epi_SUB1_MCODE_2</a:t>
                      </a:r>
                    </a:p>
                  </a:txBody>
                  <a:tcPr/>
                </a:tc>
                <a:tc>
                  <a:txBody>
                    <a:bodyPr/>
                    <a:lstStyle/>
                    <a:p>
                      <a:r>
                        <a:t>R-HSA-191273|Cholesterol biosynthesis|-10.2;GO:0016125|sterol metabolic process|-9.7;GO:0016126|sterol biosynthetic process|-9.3</a:t>
                      </a:r>
                    </a:p>
                  </a:txBody>
                  <a:tcPr/>
                </a:tc>
              </a:tr>
              <a:tr h="568960">
                <a:tc>
                  <a:txBody>
                    <a:bodyPr/>
                    <a:lstStyle/>
                    <a:p>
                      <a:r>
                        <a:t>up_mes_down_epi_SUB1_MCODE_3</a:t>
                      </a:r>
                    </a:p>
                  </a:txBody>
                  <a:tcPr/>
                </a:tc>
                <a:tc>
                  <a:txBody>
                    <a:bodyPr/>
                    <a:lstStyle/>
                    <a:p>
                      <a:r>
                        <a:t>hsa00010|Glycolysis / Gluconeogenesis|-6.4;GO:0005975|carbohydrate metabolic process|-5.8;GO:0090407|organophosphate biosynthetic process|-5.5</a:t>
                      </a:r>
                    </a:p>
                  </a:txBody>
                  <a:tcPr/>
                </a:tc>
              </a:tr>
              <a:tr h="568960">
                <a:tc>
                  <a:txBody>
                    <a:bodyPr/>
                    <a:lstStyle/>
                    <a:p>
                      <a:r>
                        <a:t>up_mes_down_epi_SUB1_MCODE_4</a:t>
                      </a:r>
                    </a:p>
                  </a:txBody>
                  <a:tcPr/>
                </a:tc>
                <a:tc>
                  <a:txBody>
                    <a:bodyPr/>
                    <a:lstStyle/>
                    <a:p>
                      <a:r>
                        <a:t>WP4786|Type I collagen synthesis in the context of osteogenesis imperfecta|-7.6;hsa00310|Lysine degradation|-6.8;R-HSA-1650814|Collagen biosynthesis and modifying enzymes|-6.7</a:t>
                      </a:r>
                    </a:p>
                  </a:txBody>
                  <a:tcPr/>
                </a:tc>
              </a:tr>
              <a:tr h="568960">
                <a:tc>
                  <a:txBody>
                    <a:bodyPr/>
                    <a:lstStyle/>
                    <a:p>
                      <a:r>
                        <a:t>up_mes_down_epi_SUB1_MCODE_5</a:t>
                      </a:r>
                    </a:p>
                  </a:txBody>
                  <a:tcPr/>
                </a:tc>
                <a:tc>
                  <a:txBody>
                    <a:bodyPr/>
                    <a:lstStyle/>
                    <a:p>
                      <a:r>
                        <a:t>hsa04141|Protein processing in endoplasmic reticulum|-7.8;GO:0006457|protein folding|-7.4;GO:0034976|response to endoplasmic reticulum stress|-7.3</a:t>
                      </a:r>
                    </a:p>
                  </a:txBody>
                  <a:tcPr/>
                </a:tc>
              </a:tr>
              <a:tr h="568960">
                <a:tc>
                  <a:txBody>
                    <a:bodyPr/>
                    <a:lstStyle/>
                    <a:p>
                      <a:r>
                        <a:t>up_mes_down_epi_SUB1_MCODE_6</a:t>
                      </a:r>
                    </a:p>
                  </a:txBody>
                  <a:tcPr/>
                </a:tc>
                <a:tc>
                  <a:txBody>
                    <a:bodyPr/>
                    <a:lstStyle/>
                    <a:p>
                      <a:r>
                        <a:t>R-HSA-446203|Asparagine N-linked glycosylation|-5.0</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pic>
        <p:nvPicPr>
          <p:cNvPr id="4" name="Picture 3" descr="up_mes_down_epi_MCODE_ALL_PPIColorByCluster.png"/>
          <p:cNvPicPr>
            <a:picLocks noChangeAspect="1"/>
          </p:cNvPicPr>
          <p:nvPr/>
        </p:nvPicPr>
        <p:blipFill>
          <a:blip r:embed="rId2"/>
          <a:stretch>
            <a:fillRect/>
          </a:stretch>
        </p:blipFill>
        <p:spPr>
          <a:xfrm>
            <a:off x="975207" y="1665465"/>
            <a:ext cx="10241280" cy="512064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down_epi_PPIColorByCluster.png"/>
          <p:cNvPicPr>
            <a:picLocks noChangeAspect="1"/>
          </p:cNvPicPr>
          <p:nvPr/>
        </p:nvPicPr>
        <p:blipFill>
          <a:blip r:embed="rId2"/>
          <a:stretch>
            <a:fillRect/>
          </a:stretch>
        </p:blipFill>
        <p:spPr>
          <a:xfrm>
            <a:off x="2661101" y="1665465"/>
            <a:ext cx="6869492"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up_epi_only</a:t>
                      </a:r>
                    </a:p>
                  </a:txBody>
                  <a:tcPr/>
                </a:tc>
                <a:tc>
                  <a:txBody>
                    <a:bodyPr/>
                    <a:lstStyle/>
                    <a:p>
                      <a:r>
                        <a:t>R-HSA-1280218|Adaptive Immune System|-16.2;hsa04814|Motor proteins|-14.8;R-HSA-8856688|Golgi-to-ER retrograde transport|-13.0</a:t>
                      </a:r>
                    </a:p>
                  </a:txBody>
                  <a:tcPr/>
                </a:tc>
              </a:tr>
              <a:tr h="731520">
                <a:tc>
                  <a:txBody>
                    <a:bodyPr/>
                    <a:lstStyle/>
                    <a:p>
                      <a:r>
                        <a:t>up_epi_only_MCODE_ALL</a:t>
                      </a:r>
                    </a:p>
                  </a:txBody>
                  <a:tcPr/>
                </a:tc>
                <a:tc>
                  <a:txBody>
                    <a:bodyPr/>
                    <a:lstStyle/>
                    <a:p>
                      <a:r>
                        <a:t>hsa04814|Motor proteins|-22.6;R-HSA-8856688|Golgi-to-ER retrograde transport|-20.4;R-HSA-1280218|Adaptive Immune System|-18.9</a:t>
                      </a:r>
                    </a:p>
                  </a:txBody>
                  <a:tcPr/>
                </a:tc>
              </a:tr>
              <a:tr h="731520">
                <a:tc>
                  <a:txBody>
                    <a:bodyPr/>
                    <a:lstStyle/>
                    <a:p>
                      <a:r>
                        <a:t>up_epi_only_SUB1_MCODE_1</a:t>
                      </a:r>
                    </a:p>
                  </a:txBody>
                  <a:tcPr/>
                </a:tc>
                <a:tc>
                  <a:txBody>
                    <a:bodyPr/>
                    <a:lstStyle/>
                    <a:p>
                      <a:r>
                        <a:t>R-HSA-418594|G alpha (i) signalling events|-9.0;R-HSA-1280218|Adaptive Immune System|-8.3;GO:0070936|protein K48-linked ubiquitination|-7.7</a:t>
                      </a:r>
                    </a:p>
                  </a:txBody>
                  <a:tcPr/>
                </a:tc>
              </a:tr>
              <a:tr h="731520">
                <a:tc>
                  <a:txBody>
                    <a:bodyPr/>
                    <a:lstStyle/>
                    <a:p>
                      <a:r>
                        <a:t>up_epi_only_SUB1_MCODE_2</a:t>
                      </a:r>
                    </a:p>
                  </a:txBody>
                  <a:tcPr/>
                </a:tc>
                <a:tc>
                  <a:txBody>
                    <a:bodyPr/>
                    <a:lstStyle/>
                    <a:p>
                      <a:r>
                        <a:t>R-HSA-983189|Kinesins|-15.5;hsa04814|Motor proteins|-15.4;R-HSA-6811434|COPI-dependent Golgi-to-ER retrograde traffic|-14.1</a:t>
                      </a:r>
                    </a:p>
                  </a:txBody>
                  <a:tcPr/>
                </a:tc>
              </a:tr>
              <a:tr h="731520">
                <a:tc>
                  <a:txBody>
                    <a:bodyPr/>
                    <a:lstStyle/>
                    <a:p>
                      <a:r>
                        <a:t>up_epi_only_SUB1_MCODE_3</a:t>
                      </a:r>
                    </a:p>
                  </a:txBody>
                  <a:tcPr/>
                </a:tc>
                <a:tc>
                  <a:txBody>
                    <a:bodyPr/>
                    <a:lstStyle/>
                    <a:p>
                      <a:r>
                        <a:t>R-HSA-389977|Post-chaperonin tubulin folding pathway|-7.9;R-HSA-391251|Protein folding|-6.0;GO:0000226|microtubule cytoskeleton organization|-5.4</a:t>
                      </a:r>
                    </a:p>
                  </a:txBody>
                  <a:tcPr/>
                </a:tc>
              </a:tr>
              <a:tr h="731520">
                <a:tc>
                  <a:txBody>
                    <a:bodyPr/>
                    <a:lstStyle/>
                    <a:p>
                      <a:r>
                        <a:t>up_epi_only_SUB1_MCODE_4</a:t>
                      </a:r>
                    </a:p>
                  </a:txBody>
                  <a:tcPr/>
                </a:tc>
                <a:tc>
                  <a:txBody>
                    <a:bodyPr/>
                    <a:lstStyle/>
                    <a:p>
                      <a:r>
                        <a:t>R-HSA-6811436|COPI-independent Golgi-to-ER retrograde traffic|-10.4;R-HSA-3371497|HSP90 chaperone cycle for steroid hormone receptors (SHR) in the presence of ligand|-10.3;R-HSA-6807878|COPI-mediated anterograde transport|-9.2</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pic>
        <p:nvPicPr>
          <p:cNvPr id="4" name="Picture 3" descr="up_epi_only_MCODE_ALL_PPIColorByCluster.png"/>
          <p:cNvPicPr>
            <a:picLocks noChangeAspect="1"/>
          </p:cNvPicPr>
          <p:nvPr/>
        </p:nvPicPr>
        <p:blipFill>
          <a:blip r:embed="rId2"/>
          <a:stretch>
            <a:fillRect/>
          </a:stretch>
        </p:blipFill>
        <p:spPr>
          <a:xfrm>
            <a:off x="1422914" y="1665465"/>
            <a:ext cx="9345867" cy="51206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epi_only_PPIColorByCluster.png"/>
          <p:cNvPicPr>
            <a:picLocks noChangeAspect="1"/>
          </p:cNvPicPr>
          <p:nvPr/>
        </p:nvPicPr>
        <p:blipFill>
          <a:blip r:embed="rId2"/>
          <a:stretch>
            <a:fillRect/>
          </a:stretch>
        </p:blipFill>
        <p:spPr>
          <a:xfrm>
            <a:off x="2045505" y="1665465"/>
            <a:ext cx="8100684" cy="51206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up_common_genes</a:t>
                      </a:r>
                    </a:p>
                  </a:txBody>
                  <a:tcPr/>
                </a:tc>
                <a:tc>
                  <a:txBody>
                    <a:bodyPr/>
                    <a:lstStyle/>
                    <a:p>
                      <a:r>
                        <a:t>R-HSA-1280215|Cytokine Signaling in Immune system|-45.8;M5890|HALLMARK TNFA SIGNALING VIA NFKB|-35.1;hsa05169|Epstein-Barr virus infection|-34.9</a:t>
                      </a:r>
                    </a:p>
                  </a:txBody>
                  <a:tcPr/>
                </a:tc>
              </a:tr>
              <a:tr h="640080">
                <a:tc>
                  <a:txBody>
                    <a:bodyPr/>
                    <a:lstStyle/>
                    <a:p>
                      <a:r>
                        <a:t>up_common_genes_MCODE_ALL</a:t>
                      </a:r>
                    </a:p>
                  </a:txBody>
                  <a:tcPr/>
                </a:tc>
                <a:tc>
                  <a:txBody>
                    <a:bodyPr/>
                    <a:lstStyle/>
                    <a:p>
                      <a:r>
                        <a:t>R-HSA-5668541|TNFR2 non-canonical NF-kB pathway|-49.0;R-HSA-1236975|Antigen processing-Cross presentation|-46.2;hsa03050|Proteasome|-45.7</a:t>
                      </a:r>
                    </a:p>
                  </a:txBody>
                  <a:tcPr/>
                </a:tc>
              </a:tr>
              <a:tr h="640080">
                <a:tc>
                  <a:txBody>
                    <a:bodyPr/>
                    <a:lstStyle/>
                    <a:p>
                      <a:r>
                        <a:t>up_common_genes_SUB1_MCODE_1</a:t>
                      </a:r>
                    </a:p>
                  </a:txBody>
                  <a:tcPr/>
                </a:tc>
                <a:tc>
                  <a:txBody>
                    <a:bodyPr/>
                    <a:lstStyle/>
                    <a:p>
                      <a:r>
                        <a:t>R-HSA-5668541|TNFR2 non-canonical NF-kB pathway|-56.9;R-HSA-5676590|NIK--&gt;noncanonical NF-kB signaling|-51.6;hsa03050|Proteasome|-51.4</a:t>
                      </a:r>
                    </a:p>
                  </a:txBody>
                  <a:tcPr/>
                </a:tc>
              </a:tr>
              <a:tr h="640080">
                <a:tc>
                  <a:txBody>
                    <a:bodyPr/>
                    <a:lstStyle/>
                    <a:p>
                      <a:r>
                        <a:t>up_common_genes_SUB1_MCODE_2</a:t>
                      </a:r>
                    </a:p>
                  </a:txBody>
                  <a:tcPr/>
                </a:tc>
                <a:tc>
                  <a:txBody>
                    <a:bodyPr/>
                    <a:lstStyle/>
                    <a:p>
                      <a:r>
                        <a:t>R-HSA-418594|G alpha (i) signalling events|-10.0;R-HSA-500792|GPCR ligand binding|-9.0;hsa04062|Chemokine signaling pathway|-8.9</a:t>
                      </a:r>
                    </a:p>
                  </a:txBody>
                  <a:tcPr/>
                </a:tc>
              </a:tr>
              <a:tr h="640080">
                <a:tc>
                  <a:txBody>
                    <a:bodyPr/>
                    <a:lstStyle/>
                    <a:p>
                      <a:r>
                        <a:t>up_common_genes_SUB1_MCODE_3</a:t>
                      </a:r>
                    </a:p>
                  </a:txBody>
                  <a:tcPr/>
                </a:tc>
                <a:tc>
                  <a:txBody>
                    <a:bodyPr/>
                    <a:lstStyle/>
                    <a:p>
                      <a:r>
                        <a:t>GO:0043122|regulation of canonical NF-kappaB signal transduction|-10.1;WP231|TNF alpha signaling pathway|-9.5;M10082|BIOCARTA TNFR2 PATHWAY|-8.8</a:t>
                      </a:r>
                    </a:p>
                  </a:txBody>
                  <a:tcPr/>
                </a:tc>
              </a:tr>
              <a:tr h="640080">
                <a:tc>
                  <a:txBody>
                    <a:bodyPr/>
                    <a:lstStyle/>
                    <a:p>
                      <a:r>
                        <a:t>up_common_genes_SUB1_MCODE_4</a:t>
                      </a:r>
                    </a:p>
                  </a:txBody>
                  <a:tcPr/>
                </a:tc>
                <a:tc>
                  <a:txBody>
                    <a:bodyPr/>
                    <a:lstStyle/>
                    <a:p>
                      <a:r>
                        <a:t>R-HSA-3000157|Laminin interactions|-15.2;R-HSA-3000171|Non-integrin membrane-ECM interactions|-13.6;R-HSA-2214320|Anchoring fibril formation|-12.7</a:t>
                      </a:r>
                    </a:p>
                  </a:txBody>
                  <a:tcPr/>
                </a:tc>
              </a:tr>
              <a:tr h="640080">
                <a:tc>
                  <a:txBody>
                    <a:bodyPr/>
                    <a:lstStyle/>
                    <a:p>
                      <a:r>
                        <a:t>up_common_genes_SUB1_MCODE_5</a:t>
                      </a:r>
                    </a:p>
                  </a:txBody>
                  <a:tcPr/>
                </a:tc>
                <a:tc>
                  <a:txBody>
                    <a:bodyPr/>
                    <a:lstStyle/>
                    <a:p>
                      <a:r>
                        <a:t>GO:0019885|antigen processing and presentation of endogenous peptide antigen via MHC class I|-12.6;GO:0002483|antigen processing and presentation of endogenous peptide antigen|-12.4;R-HSA-983170|Antigen Presentation: Folding, assembly and peptide loading of class I MHC|-12.2</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pic>
        <p:nvPicPr>
          <p:cNvPr id="4" name="Picture 3" descr="up_common_genes_MCODE_ALL_PPIColorByCluster.png"/>
          <p:cNvPicPr>
            <a:picLocks noChangeAspect="1"/>
          </p:cNvPicPr>
          <p:nvPr/>
        </p:nvPicPr>
        <p:blipFill>
          <a:blip r:embed="rId2"/>
          <a:stretch>
            <a:fillRect/>
          </a:stretch>
        </p:blipFill>
        <p:spPr>
          <a:xfrm>
            <a:off x="1821652" y="1665465"/>
            <a:ext cx="8548390" cy="512064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common_genes_PPIColorByCluster.png"/>
          <p:cNvPicPr>
            <a:picLocks noChangeAspect="1"/>
          </p:cNvPicPr>
          <p:nvPr/>
        </p:nvPicPr>
        <p:blipFill>
          <a:blip r:embed="rId2"/>
          <a:stretch>
            <a:fillRect/>
          </a:stretch>
        </p:blipFill>
        <p:spPr>
          <a:xfrm>
            <a:off x="2556170" y="1665465"/>
            <a:ext cx="7079354"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graphicFrame>
        <p:nvGraphicFramePr>
          <p:cNvPr id="4" name="Table 3"/>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down_mes_up_epi</a:t>
                      </a:r>
                    </a:p>
                  </a:txBody>
                  <a:tcPr/>
                </a:tc>
                <a:tc>
                  <a:txBody>
                    <a:bodyPr/>
                    <a:lstStyle/>
                    <a:p>
                      <a:r>
                        <a:t>GO:0032989|cellular anatomical entity morphogenesis|-9.6;GO:0048667|cell morphogenesis involved in neuron differentiation|-8.6;GO:0048812|neuron projection morphogenesis|-8.1</a:t>
                      </a:r>
                    </a:p>
                  </a:txBody>
                  <a:tcPr/>
                </a:tc>
              </a:tr>
              <a:tr h="1280160">
                <a:tc>
                  <a:txBody>
                    <a:bodyPr/>
                    <a:lstStyle/>
                    <a:p>
                      <a:r>
                        <a:t>down_mes_up_epi_MCODE_ALL</a:t>
                      </a:r>
                    </a:p>
                  </a:txBody>
                  <a:tcPr/>
                </a:tc>
                <a:tc>
                  <a:txBody>
                    <a:bodyPr/>
                    <a:lstStyle/>
                    <a:p>
                      <a:r>
                        <a:t>R-HSA-1280218|Adaptive Immune System|-6.7;hsa05235|PD-L1 expression and PD-1 checkpoint pathway in cancer|-6.1;hsa05022|Pathways of neurodegeneration - multiple diseases|-5.7</a:t>
                      </a:r>
                    </a:p>
                  </a:txBody>
                  <a:tcPr/>
                </a:tc>
              </a:tr>
              <a:tr h="1280160">
                <a:tc>
                  <a:txBody>
                    <a:bodyPr/>
                    <a:lstStyle/>
                    <a:p>
                      <a:r>
                        <a:t>down_mes_up_epi_SUB1_MCODE_1</a:t>
                      </a:r>
                    </a:p>
                  </a:txBody>
                  <a:tcPr/>
                </a:tc>
                <a:tc>
                  <a:txBody>
                    <a:bodyPr/>
                    <a:lstStyle/>
                    <a:p>
                      <a:r>
                        <a:t>R-HSA-1280218|Adaptive Immune System|-6.7;hsa05235|PD-L1 expression and PD-1 checkpoint pathway in cancer|-6.1;hsa05022|Pathways of neurodegeneration - multiple diseases|-5.7</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pic>
        <p:nvPicPr>
          <p:cNvPr id="4" name="Picture 3" descr="down_mes_up_epi_MCODE_ALL_PPIColorByCluster.png"/>
          <p:cNvPicPr>
            <a:picLocks noChangeAspect="1"/>
          </p:cNvPicPr>
          <p:nvPr/>
        </p:nvPicPr>
        <p:blipFill>
          <a:blip r:embed="rId2"/>
          <a:stretch>
            <a:fillRect/>
          </a:stretch>
        </p:blipFill>
        <p:spPr>
          <a:xfrm>
            <a:off x="640080" y="2841043"/>
            <a:ext cx="10911535" cy="2769485"/>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up_epi_PPIColorByCluster.png"/>
          <p:cNvPicPr>
            <a:picLocks noChangeAspect="1"/>
          </p:cNvPicPr>
          <p:nvPr/>
        </p:nvPicPr>
        <p:blipFill>
          <a:blip r:embed="rId2"/>
          <a:stretch>
            <a:fillRect/>
          </a:stretch>
        </p:blipFill>
        <p:spPr>
          <a:xfrm>
            <a:off x="863281" y="1665465"/>
            <a:ext cx="10465133" cy="51206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down_mes_only</a:t>
                      </a:r>
                    </a:p>
                  </a:txBody>
                  <a:tcPr/>
                </a:tc>
                <a:tc>
                  <a:txBody>
                    <a:bodyPr/>
                    <a:lstStyle/>
                    <a:p>
                      <a:r>
                        <a:t>GO:0007167|enzyme-linked receptor protein signaling pathway|-7.4;GO:0007169|transmembrane receptor protein tyrosine kinase signaling pathway|-7.2;GO:0006897|endocytosis|-6.8</a:t>
                      </a:r>
                    </a:p>
                  </a:txBody>
                  <a:tcPr/>
                </a:tc>
              </a:tr>
              <a:tr h="731520">
                <a:tc>
                  <a:txBody>
                    <a:bodyPr/>
                    <a:lstStyle/>
                    <a:p>
                      <a:r>
                        <a:t>down_mes_only_MCODE_ALL</a:t>
                      </a:r>
                    </a:p>
                  </a:txBody>
                  <a:tcPr/>
                </a:tc>
                <a:tc>
                  <a:txBody>
                    <a:bodyPr/>
                    <a:lstStyle/>
                    <a:p>
                      <a:r>
                        <a:t>R-HSA-8856828|Clathrin-mediated endocytosis|-9.1;R-HSA-8856825|Cargo recognition for clathrin-mediated endocytosis|-7.9;GO:0006897|endocytosis|-7.2</a:t>
                      </a:r>
                    </a:p>
                  </a:txBody>
                  <a:tcPr/>
                </a:tc>
              </a:tr>
              <a:tr h="731520">
                <a:tc>
                  <a:txBody>
                    <a:bodyPr/>
                    <a:lstStyle/>
                    <a:p>
                      <a:r>
                        <a:t>down_mes_only_SUB1_MCODE_1</a:t>
                      </a:r>
                    </a:p>
                  </a:txBody>
                  <a:tcPr/>
                </a:tc>
                <a:tc>
                  <a:txBody>
                    <a:bodyPr/>
                    <a:lstStyle/>
                    <a:p>
                      <a:r>
                        <a:t>GO:1902455|negative regulation of stem cell population maintenance|-7.3;GO:0007169|transmembrane receptor protein tyrosine kinase signaling pathway|-7.2;WP5087|Pleural mesothelioma|-7.1</a:t>
                      </a:r>
                    </a:p>
                  </a:txBody>
                  <a:tcPr/>
                </a:tc>
              </a:tr>
              <a:tr h="731520">
                <a:tc>
                  <a:txBody>
                    <a:bodyPr/>
                    <a:lstStyle/>
                    <a:p>
                      <a:r>
                        <a:t>down_mes_only_SUB1_MCODE_2</a:t>
                      </a:r>
                    </a:p>
                  </a:txBody>
                  <a:tcPr/>
                </a:tc>
                <a:tc>
                  <a:txBody>
                    <a:bodyPr/>
                    <a:lstStyle/>
                    <a:p>
                      <a:r>
                        <a:t>R-HSA-8856828|Clathrin-mediated endocytosis|-13.9;R-HSA-8856825|Cargo recognition for clathrin-mediated endocytosis|-11.5;GO:0006897|endocytosis|-10.6</a:t>
                      </a:r>
                    </a:p>
                  </a:txBody>
                  <a:tcPr/>
                </a:tc>
              </a:tr>
              <a:tr h="731520">
                <a:tc>
                  <a:txBody>
                    <a:bodyPr/>
                    <a:lstStyle/>
                    <a:p>
                      <a:r>
                        <a:t>down_mes_only_SUB1_MCODE_3</a:t>
                      </a:r>
                    </a:p>
                  </a:txBody>
                  <a:tcPr/>
                </a:tc>
                <a:tc>
                  <a:txBody>
                    <a:bodyPr/>
                    <a:lstStyle/>
                    <a:p>
                      <a:r>
                        <a:t>R-HSA-381340|Transcriptional regulation of white adipocyte differentiation|-10.3;R-HSA-9843745|Adipogenesis|-9.8;R-HSA-1989781|PPARA activates gene expression|-6.6</a:t>
                      </a:r>
                    </a:p>
                  </a:txBody>
                  <a:tcPr/>
                </a:tc>
              </a:tr>
              <a:tr h="731520">
                <a:tc>
                  <a:txBody>
                    <a:bodyPr/>
                    <a:lstStyle/>
                    <a:p>
                      <a:r>
                        <a:t>down_mes_only_SUB2_MCODE_4</a:t>
                      </a:r>
                    </a:p>
                  </a:txBody>
                  <a:tcPr/>
                </a:tc>
                <a:tc>
                  <a:txBody>
                    <a:bodyPr/>
                    <a:lstStyle/>
                    <a:p>
                      <a:r>
                        <a:t>GO:0009259|ribonucleotide metabolic process|-5.6;GO:0019693|ribose phosphate metabolic process|-5.6;GO:0009117|nucleotide metabolic process|-5.3</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pic>
        <p:nvPicPr>
          <p:cNvPr id="4" name="Picture 3" descr="down_mes_only_MCODE_ALL_PPIColorByCluster.png"/>
          <p:cNvPicPr>
            <a:picLocks noChangeAspect="1"/>
          </p:cNvPicPr>
          <p:nvPr/>
        </p:nvPicPr>
        <p:blipFill>
          <a:blip r:embed="rId2"/>
          <a:stretch>
            <a:fillRect/>
          </a:stretch>
        </p:blipFill>
        <p:spPr>
          <a:xfrm>
            <a:off x="640080" y="1884741"/>
            <a:ext cx="10911535" cy="468208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only_PPIColorByCluster.png"/>
          <p:cNvPicPr>
            <a:picLocks noChangeAspect="1"/>
          </p:cNvPicPr>
          <p:nvPr/>
        </p:nvPicPr>
        <p:blipFill>
          <a:blip r:embed="rId2"/>
          <a:stretch>
            <a:fillRect/>
          </a:stretch>
        </p:blipFill>
        <p:spPr>
          <a:xfrm>
            <a:off x="640080" y="1754485"/>
            <a:ext cx="10911535" cy="4942601"/>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graphicFrame>
        <p:nvGraphicFramePr>
          <p:cNvPr id="4" name="Table 3"/>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down_epi_only</a:t>
                      </a:r>
                    </a:p>
                  </a:txBody>
                  <a:tcPr/>
                </a:tc>
                <a:tc>
                  <a:txBody>
                    <a:bodyPr/>
                    <a:lstStyle/>
                    <a:p>
                      <a:r>
                        <a:t>GO:1901615|organic hydroxy compound metabolic process|-17.0;GO:0006066|alcohol metabolic process|-14.7;GO:0010817|regulation of hormone levels|-12.1</a:t>
                      </a:r>
                    </a:p>
                  </a:txBody>
                  <a:tcPr/>
                </a:tc>
              </a:tr>
              <a:tr h="568960">
                <a:tc>
                  <a:txBody>
                    <a:bodyPr/>
                    <a:lstStyle/>
                    <a:p>
                      <a:r>
                        <a:t>down_epi_only_MCODE_ALL</a:t>
                      </a:r>
                    </a:p>
                  </a:txBody>
                  <a:tcPr/>
                </a:tc>
                <a:tc>
                  <a:txBody>
                    <a:bodyPr/>
                    <a:lstStyle/>
                    <a:p>
                      <a:r>
                        <a:t>GO:0097006|regulation of plasma lipoprotein particle levels|-12.1;GO:0034368|protein-lipid complex remodeling|-11.8;GO:0034369|plasma lipoprotein particle remodeling|-11.8</a:t>
                      </a:r>
                    </a:p>
                  </a:txBody>
                  <a:tcPr/>
                </a:tc>
              </a:tr>
              <a:tr h="568960">
                <a:tc>
                  <a:txBody>
                    <a:bodyPr/>
                    <a:lstStyle/>
                    <a:p>
                      <a:r>
                        <a:t>down_epi_only_SUB1_MCODE_1</a:t>
                      </a:r>
                    </a:p>
                  </a:txBody>
                  <a:tcPr/>
                </a:tc>
                <a:tc>
                  <a:txBody>
                    <a:bodyPr/>
                    <a:lstStyle/>
                    <a:p>
                      <a:r>
                        <a:t>R-HSA-913709|O-linked glycosylation of mucins|-10.6;R-HSA-5173105|O-linked glycosylation|-9.3;R-HSA-5083625|Defective GALNT3 causes HFTC|-7.4</a:t>
                      </a:r>
                    </a:p>
                  </a:txBody>
                  <a:tcPr/>
                </a:tc>
              </a:tr>
              <a:tr h="568960">
                <a:tc>
                  <a:txBody>
                    <a:bodyPr/>
                    <a:lstStyle/>
                    <a:p>
                      <a:r>
                        <a:t>down_epi_only_SUB1_MCODE_2</a:t>
                      </a:r>
                    </a:p>
                  </a:txBody>
                  <a:tcPr/>
                </a:tc>
                <a:tc>
                  <a:txBody>
                    <a:bodyPr/>
                    <a:lstStyle/>
                    <a:p>
                      <a:r>
                        <a:t>hsa04979|Cholesterol metabolism|-15.9;GO:0097006|regulation of plasma lipoprotein particle levels|-15.5;WP5304|Cholesterol metabolism|-15.0</a:t>
                      </a:r>
                    </a:p>
                  </a:txBody>
                  <a:tcPr/>
                </a:tc>
              </a:tr>
              <a:tr h="568960">
                <a:tc>
                  <a:txBody>
                    <a:bodyPr/>
                    <a:lstStyle/>
                    <a:p>
                      <a:r>
                        <a:t>down_epi_only_SUB1_MCODE_3</a:t>
                      </a:r>
                    </a:p>
                  </a:txBody>
                  <a:tcPr/>
                </a:tc>
                <a:tc>
                  <a:txBody>
                    <a:bodyPr/>
                    <a:lstStyle/>
                    <a:p>
                      <a:r>
                        <a:t>WP692|Sulfation biotransformation reaction|-9.2;WP702|Metapathway biotransformation Phase I and II|-8.9;GO:0051923|sulfation|-8.9</a:t>
                      </a:r>
                    </a:p>
                  </a:txBody>
                  <a:tcPr/>
                </a:tc>
              </a:tr>
              <a:tr h="568960">
                <a:tc>
                  <a:txBody>
                    <a:bodyPr/>
                    <a:lstStyle/>
                    <a:p>
                      <a:r>
                        <a:t>down_epi_only_SUB1_MCODE_4</a:t>
                      </a:r>
                    </a:p>
                  </a:txBody>
                  <a:tcPr/>
                </a:tc>
                <a:tc>
                  <a:txBody>
                    <a:bodyPr/>
                    <a:lstStyle/>
                    <a:p>
                      <a:r>
                        <a:t>R-HSA-375276|Peptide ligand-binding receptors|-8.7;R-HSA-416476|G alpha (q) signalling events|-8.6;R-HSA-373076|Class A/1 (Rhodopsin-like receptors)|-7.8</a:t>
                      </a:r>
                    </a:p>
                  </a:txBody>
                  <a:tcPr/>
                </a:tc>
              </a:tr>
              <a:tr h="568960">
                <a:tc>
                  <a:txBody>
                    <a:bodyPr/>
                    <a:lstStyle/>
                    <a:p>
                      <a:r>
                        <a:t>down_epi_only_SUB1_MCODE_5</a:t>
                      </a:r>
                    </a:p>
                  </a:txBody>
                  <a:tcPr/>
                </a:tc>
                <a:tc>
                  <a:txBody>
                    <a:bodyPr/>
                    <a:lstStyle/>
                    <a:p>
                      <a:r>
                        <a:t>R-HSA-432722|Golgi Associated Vesicle Biogenesis|-7.6;R-HSA-199992|trans-Golgi Network Vesicle Budding|-7.3;R-HSA-199991|Membrane Trafficking|-4.4</a:t>
                      </a:r>
                    </a:p>
                  </a:txBody>
                  <a:tcPr/>
                </a:tc>
              </a:tr>
              <a:tr h="568960">
                <a:tc>
                  <a:txBody>
                    <a:bodyPr/>
                    <a:lstStyle/>
                    <a:p>
                      <a:r>
                        <a:t>down_epi_only_SUB1_MCODE_6</a:t>
                      </a:r>
                    </a:p>
                  </a:txBody>
                  <a:tcPr/>
                </a:tc>
                <a:tc>
                  <a:txBody>
                    <a:bodyPr/>
                    <a:lstStyle/>
                    <a:p>
                      <a:r>
                        <a:t>R-HSA-9662361|Sensory processing of sound by outer hair cells of the cochlea|-8.3;R-HSA-9662360|Sensory processing of sound by inner hair cells of the cochlea|-7.9;R-HSA-9659379|Sensory processing of sound|-7.8</a:t>
                      </a:r>
                    </a:p>
                  </a:txBody>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pic>
        <p:nvPicPr>
          <p:cNvPr id="4" name="Picture 3" descr="down_epi_only_MCODE_ALL_PPIColorByCluster.png"/>
          <p:cNvPicPr>
            <a:picLocks noChangeAspect="1"/>
          </p:cNvPicPr>
          <p:nvPr/>
        </p:nvPicPr>
        <p:blipFill>
          <a:blip r:embed="rId2"/>
          <a:stretch>
            <a:fillRect/>
          </a:stretch>
        </p:blipFill>
        <p:spPr>
          <a:xfrm>
            <a:off x="640080" y="1698177"/>
            <a:ext cx="10911535" cy="5055217"/>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epi_only_PPIColorByCluster.png"/>
          <p:cNvPicPr>
            <a:picLocks noChangeAspect="1"/>
          </p:cNvPicPr>
          <p:nvPr/>
        </p:nvPicPr>
        <p:blipFill>
          <a:blip r:embed="rId2"/>
          <a:stretch>
            <a:fillRect/>
          </a:stretch>
        </p:blipFill>
        <p:spPr>
          <a:xfrm>
            <a:off x="2045505" y="1665465"/>
            <a:ext cx="8100684" cy="5120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1993</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宋体</vt:lpstr>
      <vt:lpstr>Arial</vt:lpstr>
      <vt:lpstr>Calibri</vt:lpstr>
      <vt:lpstr>Office Theme</vt:lpstr>
      <vt:lpstr>PowerPoint Presentation</vt:lpstr>
      <vt:lpstr>Gene List Summary</vt:lpstr>
      <vt:lpstr>Gene Overlap Analysis</vt:lpstr>
      <vt:lpstr>Membership Analysis</vt:lpstr>
      <vt:lpstr>Gene Overlap Analysis Expanded via Shared Enriched Ontologies</vt:lpstr>
      <vt:lpstr>Enriched Ontology Clusters Across Studies</vt:lpstr>
      <vt:lpstr>Enriched Ontology Clusters Colored by Cluster ID</vt:lpstr>
      <vt:lpstr>Enriched Ontology Clusters Colored by p-Value</vt:lpstr>
      <vt:lpstr>Enriched Ontology Clusters Pied by Gene Counts Across Studies</vt:lpstr>
      <vt:lpstr>Protein-protein Interaction Network</vt:lpstr>
      <vt:lpstr>PPI MCODE Components</vt:lpstr>
      <vt:lpstr>Biological Interpretation PPI Network &amp; MCODE Components</vt:lpstr>
      <vt:lpstr>PPI Network for Lists Merged Pied by Gene Origin in Studies </vt:lpstr>
      <vt:lpstr>PPI Network for Lists Merged Colored by MCODE ID</vt:lpstr>
      <vt:lpstr>PowerPoint Presentation</vt:lpstr>
      <vt:lpstr>MCODE for Lists Merged Pied by Gene Origin in Studies</vt:lpstr>
      <vt:lpstr>Biological Interpretation MCODE Components for Lists Merged</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2021-12-03T05:56:47Z</dcterms:modified>
</cp:coreProperties>
</file>