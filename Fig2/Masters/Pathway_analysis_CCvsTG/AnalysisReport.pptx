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77" r:id="rId2"/>
    <p:sldId id="257" r:id="rId3"/>
    <p:sldId id="267" r:id="rId4"/>
    <p:sldId id="268" r:id="rId6"/>
    <p:sldId id="261" r:id="rId7"/>
    <p:sldId id="262" r:id="rId8"/>
    <p:sldId id="265" r:id="rId9"/>
    <p:sldId id="269" r:id="rId10"/>
    <p:sldId id="263" r:id="rId11"/>
    <p:sldId id="266" r:id="rId12"/>
    <p:sldId id="264" r:id="rId13"/>
    <p:sldId id="300" r:id="rId46"/>
    <p:sldId id="299" r:id="rId45"/>
    <p:sldId id="298" r:id="rId44"/>
    <p:sldId id="297" r:id="rId43"/>
    <p:sldId id="296" r:id="rId42"/>
    <p:sldId id="295" r:id="rId41"/>
    <p:sldId id="294" r:id="rId40"/>
    <p:sldId id="293" r:id="rId39"/>
    <p:sldId id="292" r:id="rId38"/>
    <p:sldId id="291" r:id="rId37"/>
    <p:sldId id="290" r:id="rId36"/>
    <p:sldId id="289" r:id="rId35"/>
    <p:sldId id="288" r:id="rId34"/>
    <p:sldId id="287" r:id="rId33"/>
    <p:sldId id="286" r:id="rId32"/>
    <p:sldId id="285" r:id="rId31"/>
    <p:sldId id="284" r:id="rId30"/>
    <p:sldId id="283" r:id="rId29"/>
    <p:sldId id="282" r:id="rId28"/>
    <p:sldId id="281" r:id="rId27"/>
    <p:sldId id="280" r:id="rId26"/>
    <p:sldId id="276" r:id="rId19"/>
    <p:sldId id="27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 Type="http://schemas.openxmlformats.org/officeDocument/2006/relationships/slide" Target="slides/slide1.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 Type="http://schemas.openxmlformats.org/officeDocument/2006/relationships/slide" Target="slides/slide2.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 Type="http://schemas.openxmlformats.org/officeDocument/2006/relationships/slide" Target="slides/slide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analysis</a:t>
            </a:r>
            <a:r>
              <a:rPr lang="en-US" baseline="0" dirty="0" smtClean="0"/>
              <a:t> report is automatically generated by Metascape (https://metascape.org).</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83003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first</a:t>
            </a:r>
            <a:r>
              <a:rPr lang="en-US" baseline="0" dirty="0" smtClean="0"/>
              <a:t> </a:t>
            </a:r>
            <a:r>
              <a:rPr lang="en-US" dirty="0" smtClean="0"/>
              <a:t>automatically </a:t>
            </a:r>
            <a:r>
              <a:rPr lang="en-US" baseline="0" dirty="0" smtClean="0"/>
              <a:t>converts you input identifiers (</a:t>
            </a:r>
            <a:r>
              <a:rPr lang="en-US" baseline="0" dirty="0" err="1" smtClean="0"/>
              <a:t>Entrez</a:t>
            </a:r>
            <a:r>
              <a:rPr lang="en-US" baseline="0" dirty="0" smtClean="0"/>
              <a:t> Gene 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Symbol) into Human </a:t>
            </a:r>
            <a:r>
              <a:rPr lang="en-US" baseline="0" dirty="0" err="1" smtClean="0"/>
              <a:t>Entrez</a:t>
            </a:r>
            <a:r>
              <a:rPr lang="en-US" baseline="0" dirty="0" smtClean="0"/>
              <a:t> Gene ID.  For example, input identifiers can be from human, mouse or rat </a:t>
            </a:r>
            <a:r>
              <a:rPr lang="en-US" baseline="0" dirty="0" err="1" smtClean="0"/>
              <a:t>orthologs</a:t>
            </a:r>
            <a:r>
              <a:rPr lang="en-US" baseline="0" dirty="0" smtClean="0"/>
              <a:t>, which can be mapped into human (or “analysis as” species) based on 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baseline="0" dirty="0" smtClean="0"/>
          </a:p>
          <a:p>
            <a:r>
              <a:rPr lang="en-US" baseline="0" dirty="0" smtClean="0"/>
              <a:t>The background of each row is the color code used in the various plots within this report, where each color is consistently used to code a corresponding gene list.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a:t>
            </a:r>
            <a:r>
              <a:rPr lang="en-US" dirty="0" err="1" smtClean="0"/>
              <a:t>Circos</a:t>
            </a:r>
            <a:r>
              <a:rPr lang="en-US" baseline="0" dirty="0" smtClean="0"/>
              <a:t> plot shows how genes from the input gene lists overlap.</a:t>
            </a:r>
          </a:p>
          <a:p>
            <a:endParaRPr lang="en-US" baseline="0" dirty="0" smtClean="0"/>
          </a:p>
          <a:p>
            <a:r>
              <a:rPr lang="en-US" baseline="0" dirty="0" smtClean="0"/>
              <a:t>On the outside, each arc represents the identity of each gene list, using the same color code as the color used for table rows in slide #2.</a:t>
            </a:r>
          </a:p>
          <a:p>
            <a:endParaRPr lang="en-US" baseline="0" dirty="0" smtClean="0"/>
          </a:p>
          <a:p>
            <a:r>
              <a:rPr lang="en-US" baseline="0" dirty="0" smtClean="0"/>
              <a:t>On the inside, each arc represents a gene list, where each gene member of that list is assigned a spot on the arc.  Dark orange color represents the genes that are shared by multiple lists and light orange color represents genes that are unique to that gene list.</a:t>
            </a:r>
          </a:p>
          <a:p>
            <a:endParaRPr lang="en-US" baseline="0" dirty="0" smtClean="0"/>
          </a:p>
          <a:p>
            <a:r>
              <a:rPr lang="en-US" baseline="0" dirty="0" smtClean="0"/>
              <a:t>Purple lines link the same gene that are shared by multiple gene lists (notice a gene that appears in two gene lists will be mapped once onto each gene list, therefore, the two positions are purple linked).</a:t>
            </a:r>
          </a:p>
          <a:p>
            <a:endParaRPr lang="en-US" baseline="0" dirty="0" smtClean="0"/>
          </a:p>
          <a:p>
            <a:r>
              <a:rPr lang="en-US" baseline="0" dirty="0" smtClean="0"/>
              <a:t>The greater the number of purple links and the longer the dark orange arcs implies greater overlap among the input gene lists.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01090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distribution.</a:t>
            </a:r>
          </a:p>
          <a:p>
            <a:r>
              <a:rPr lang="en-US" baseline="0" dirty="0" smtClean="0"/>
              <a:t>By 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a:t>
            </a:r>
            <a:r>
              <a:rPr lang="en-US" dirty="0" err="1" smtClean="0"/>
              <a:t>Circos</a:t>
            </a:r>
            <a:r>
              <a:rPr lang="en-US" baseline="0" dirty="0" smtClean="0"/>
              <a:t> plot shows how genes from the input gene lists overlap.</a:t>
            </a:r>
          </a:p>
          <a:p>
            <a:endParaRPr lang="en-US" baseline="0" dirty="0" smtClean="0"/>
          </a:p>
          <a:p>
            <a:r>
              <a:rPr lang="en-US" baseline="0" dirty="0" smtClean="0"/>
              <a:t>On the outside, each arc represents the identity of each gene list, using the same color code as the color used for table rows in slide #2.</a:t>
            </a:r>
          </a:p>
          <a:p>
            <a:endParaRPr lang="en-US" baseline="0" dirty="0" smtClean="0"/>
          </a:p>
          <a:p>
            <a:r>
              <a:rPr lang="en-US" baseline="0" dirty="0" smtClean="0"/>
              <a:t>On the inside, each arc represents a gene list, where each gene member of that list is assigned a spot on the arc.  Dark orange color represents the genes that are shared by multiple lists and light orange color represents genes that are unique to that gene list.</a:t>
            </a:r>
          </a:p>
          <a:p>
            <a:endParaRPr lang="en-US" baseline="0" dirty="0" smtClean="0"/>
          </a:p>
          <a:p>
            <a:r>
              <a:rPr lang="en-US" baseline="0" dirty="0" smtClean="0"/>
              <a:t>Purple lines link the same gene that are shared by multiple gene lists (notice a gene that appears in two gene lists will be mapped once onto each gene list, therefore, the two positions are purple linked).  Blue lines link the genes, although different, fall under the same ontology term (the term has to statistically significantly enriched and with size no larger than 100).</a:t>
            </a:r>
          </a:p>
          <a:p>
            <a:endParaRPr lang="en-US" baseline="0" dirty="0" smtClean="0"/>
          </a:p>
          <a:p>
            <a:r>
              <a:rPr lang="en-US" baseline="0" dirty="0" smtClean="0"/>
              <a:t>The greater the number of purple links and the longer the dark orange arcs implies greater overlap among the input gene lists.  Blue links indicate the amount of functional overlap among the input gene lists.  It is common in meta-analysis that we observe little directly overlap among studies, due to the variations in the biological assays used.  However, we tend to see a lot more functional overlap, as these studies probably pick up different subset of gene members of the same biological processes.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3750659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the term with the best p-value within each cluster as its representative term and display them in a </a:t>
            </a:r>
            <a:r>
              <a:rPr lang="en-US" baseline="0" dirty="0" err="1" smtClean="0"/>
              <a:t>dendrogram</a:t>
            </a:r>
            <a:r>
              <a:rPr lang="en-US" baseline="0" dirty="0" smtClean="0"/>
              <a:t>. The </a:t>
            </a:r>
            <a:r>
              <a:rPr lang="en-US" baseline="0" dirty="0" err="1" smtClean="0"/>
              <a:t>heatmap</a:t>
            </a:r>
            <a:r>
              <a:rPr lang="en-US" baseline="0" dirty="0" smtClean="0"/>
              <a:t> cells are colored by their p-values, white cells indicate the lack of enrichment for that term in the corresponding gene list.  We also export files behind this </a:t>
            </a:r>
            <a:r>
              <a:rPr lang="en-US" baseline="0" dirty="0" err="1" smtClean="0"/>
              <a:t>heatmap</a:t>
            </a:r>
            <a:r>
              <a:rPr lang="en-US" baseline="0" dirty="0" smtClean="0"/>
              <a:t> (.</a:t>
            </a:r>
            <a:r>
              <a:rPr lang="en-US" baseline="0" dirty="0" err="1" smtClean="0"/>
              <a:t>cdt</a:t>
            </a:r>
            <a:r>
              <a:rPr lang="en-US" baseline="0" dirty="0" smtClean="0"/>
              <a:t>, .</a:t>
            </a:r>
            <a:r>
              <a:rPr lang="en-US" baseline="0" dirty="0" err="1" smtClean="0"/>
              <a:t>gtr</a:t>
            </a:r>
            <a:r>
              <a:rPr lang="en-US" baseline="0" dirty="0" smtClean="0"/>
              <a:t>, .</a:t>
            </a:r>
            <a:r>
              <a:rPr lang="en-US" baseline="0" dirty="0" err="1" smtClean="0"/>
              <a:t>atr</a:t>
            </a:r>
            <a:r>
              <a:rPr lang="en-US" baseline="0" dirty="0" smtClean="0"/>
              <a:t>, and .</a:t>
            </a:r>
            <a:r>
              <a:rPr lang="en-US" baseline="0" dirty="0" err="1" smtClean="0"/>
              <a:t>jtv</a:t>
            </a:r>
            <a:r>
              <a:rPr lang="en-US" baseline="0" dirty="0" smtClean="0"/>
              <a:t> files), so that one can visualize it interactively using </a:t>
            </a:r>
            <a:r>
              <a:rPr lang="en-US" baseline="0" dirty="0" err="1" smtClean="0"/>
              <a:t>JTreeView</a:t>
            </a:r>
            <a:r>
              <a:rPr lang="en-US" baseline="0" dirty="0" smtClean="0"/>
              <a:t> program (http://sourceforge.net/projects/jtreeview/).  The PDF version of the graph can be found in the zip package.</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converted them into a network layout.  More specifically, each term is represented by a circle node, where its size is proportional to the number of input genes fall under 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with “force-directed”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displayed as pies.  Each pie sector is proportional to the number of hits originated from a gene list.</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Color code for pie sector represents a gene list and is consistent with the colors used for table rows in slide #2.</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8393612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extract “biological meanings”.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Each MCODE network is assigned a unique color.</a:t>
            </a:r>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12</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input gene lists were also merged into one list and resulted in a PPI network.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Network nodes are displayed as pies.   Color code for pie sector represents a gene list and is consistent with the colors used for table rows in slide #2.</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13</a:t>
            </a:fld>
            <a:endParaRPr lang="en-US"/>
          </a:p>
        </p:txBody>
      </p:sp>
    </p:spTree>
    <p:extLst>
      <p:ext uri="{BB962C8B-B14F-4D97-AF65-F5344CB8AC3E}">
        <p14:creationId xmlns:p14="http://schemas.microsoft.com/office/powerpoint/2010/main" val="5563768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input gene lists were also merged. Each MCODE network is assigned a unique color.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14</a:t>
            </a:fld>
            <a:endParaRPr lang="en-US"/>
          </a:p>
        </p:txBody>
      </p:sp>
    </p:spTree>
    <p:extLst>
      <p:ext uri="{BB962C8B-B14F-4D97-AF65-F5344CB8AC3E}">
        <p14:creationId xmlns:p14="http://schemas.microsoft.com/office/powerpoint/2010/main" val="12787868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components  were identified from the merged network. Each MCODE network is assigned a unique color.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15</a:t>
            </a:fld>
            <a:endParaRPr lang="en-US"/>
          </a:p>
        </p:txBody>
      </p:sp>
    </p:spTree>
    <p:extLst>
      <p:ext uri="{BB962C8B-B14F-4D97-AF65-F5344CB8AC3E}">
        <p14:creationId xmlns:p14="http://schemas.microsoft.com/office/powerpoint/2010/main" val="21772089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Network nodes are displayed as pies.   Color code for pie sector represents a gene list and is consistent with the colors used for table rows in slide #2.</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16</a:t>
            </a:fld>
            <a:endParaRPr lang="en-US"/>
          </a:p>
        </p:txBody>
      </p:sp>
    </p:spTree>
    <p:extLst>
      <p:ext uri="{BB962C8B-B14F-4D97-AF65-F5344CB8AC3E}">
        <p14:creationId xmlns:p14="http://schemas.microsoft.com/office/powerpoint/2010/main" val="34661620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original PPI network and its MCODE network components to extract their “biological meanings”, where top three best p-value terms were retained.</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17</a:t>
            </a:fld>
            <a:endParaRPr lang="en-US"/>
          </a:p>
        </p:txBody>
      </p:sp>
    </p:spTree>
    <p:extLst>
      <p:ext uri="{BB962C8B-B14F-4D97-AF65-F5344CB8AC3E}">
        <p14:creationId xmlns:p14="http://schemas.microsoft.com/office/powerpoint/2010/main" val="33384152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18</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19</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JP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Feb 8, 2024</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2" name="Rectangle 1"/>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5" name="Rectangle 4"/>
          <p:cNvSpPr/>
          <p:nvPr/>
        </p:nvSpPr>
        <p:spPr>
          <a:xfrm>
            <a:off x="3347310" y="6581001"/>
            <a:ext cx="5955495" cy="276999"/>
          </a:xfrm>
          <a:prstGeom prst="rect">
            <a:avLst/>
          </a:prstGeom>
          <a:noFill/>
        </p:spPr>
        <p:txBody>
          <a:bodyPr wrap="square">
            <a:spAutoFit/>
          </a:bodyPr>
          <a:lstStyle/>
          <a:p>
            <a:r>
              <a:rPr lang="en-US" sz="1200" dirty="0">
                <a:solidFill>
                  <a:schemeClr val="tx2"/>
                </a:solidFill>
                <a:latin typeface="Arial" panose="020B0604020202020204" pitchFamily="34" charset="0"/>
                <a:cs typeface="Arial" panose="020B0604020202020204" pitchFamily="34" charset="0"/>
              </a:rPr>
              <a:t>Please check online </a:t>
            </a:r>
            <a:r>
              <a:rPr lang="en-US" sz="1200" dirty="0" err="1">
                <a:solidFill>
                  <a:schemeClr val="tx2"/>
                </a:solidFill>
                <a:latin typeface="Arial" panose="020B0604020202020204" pitchFamily="34" charset="0"/>
                <a:cs typeface="Arial" panose="020B0604020202020204" pitchFamily="34" charset="0"/>
                <a:hlinkClick r:id="rId3"/>
              </a:rPr>
              <a:t>Metascape</a:t>
            </a:r>
            <a:r>
              <a:rPr lang="en-US" sz="1200" dirty="0">
                <a:solidFill>
                  <a:schemeClr val="tx2"/>
                </a:solidFill>
                <a:latin typeface="Arial" panose="020B0604020202020204" pitchFamily="34" charset="0"/>
                <a:cs typeface="Arial" panose="020B0604020202020204" pitchFamily="34" charset="0"/>
                <a:hlinkClick r:id="rId3"/>
              </a:rPr>
              <a:t> User Manual</a:t>
            </a:r>
            <a:r>
              <a:rPr lang="en-US" sz="1200" dirty="0">
                <a:solidFill>
                  <a:schemeClr val="tx2"/>
                </a:solidFill>
                <a:latin typeface="Arial" panose="020B0604020202020204" pitchFamily="34" charset="0"/>
                <a:cs typeface="Arial" panose="020B0604020202020204" pitchFamily="34" charset="0"/>
              </a:rPr>
              <a:t> for explanation of each annotation field.</a:t>
            </a:r>
          </a:p>
        </p:txBody>
      </p:sp>
      <p:graphicFrame>
        <p:nvGraphicFramePr>
          <p:cNvPr id="6" name="Table 5"/>
          <p:cNvGraphicFramePr>
            <a:graphicFrameLocks noGrp="1"/>
          </p:cNvGraphicFramePr>
          <p:nvPr/>
        </p:nvGraphicFramePr>
        <p:xfrm>
          <a:off x="640080" y="1665465"/>
          <a:ext cx="10911535" cy="4729480"/>
        </p:xfrm>
        <a:graphic>
          <a:graphicData uri="http://schemas.openxmlformats.org/drawingml/2006/table">
            <a:tbl>
              <a:tblPr firstRow="1" bandRow="1">
                <a:tableStyleId>{5C22544A-7EE6-4342-B048-85BDC9FD1C3A}</a:tableStyleId>
              </a:tblPr>
              <a:tblGrid>
                <a:gridCol w="2727883"/>
                <a:gridCol w="2727883"/>
                <a:gridCol w="2727883"/>
                <a:gridCol w="2727886"/>
              </a:tblGrid>
              <a:tr h="177800">
                <a:tc>
                  <a:txBody>
                    <a:bodyPr/>
                    <a:lstStyle/>
                    <a:p>
                      <a:r>
                        <a:t>Name</a:t>
                      </a:r>
                    </a:p>
                  </a:txBody>
                  <a:tcPr/>
                </a:tc>
                <a:tc>
                  <a:txBody>
                    <a:bodyPr/>
                    <a:lstStyle/>
                    <a:p>
                      <a:r>
                        <a:t>Total</a:t>
                      </a:r>
                    </a:p>
                  </a:txBody>
                  <a:tcPr/>
                </a:tc>
                <a:tc>
                  <a:txBody>
                    <a:bodyPr/>
                    <a:lstStyle/>
                    <a:p>
                      <a:r>
                        <a:t>Unique</a:t>
                      </a:r>
                    </a:p>
                  </a:txBody>
                  <a:tcPr/>
                </a:tc>
                <a:tc>
                  <a:txBody>
                    <a:bodyPr/>
                    <a:lstStyle/>
                    <a:p>
                      <a:r>
                        <a:t>_Color_</a:t>
                      </a:r>
                    </a:p>
                  </a:txBody>
                  <a:tcPr/>
                </a:tc>
              </a:tr>
              <a:tr h="568960">
                <a:tc>
                  <a:txBody>
                    <a:bodyPr/>
                    <a:lstStyle/>
                    <a:p>
                      <a:r>
                        <a:t>down_common_genes</a:t>
                      </a:r>
                    </a:p>
                  </a:txBody>
                  <a:tcPr/>
                </a:tc>
                <a:tc>
                  <a:txBody>
                    <a:bodyPr/>
                    <a:lstStyle/>
                    <a:p>
                      <a:r>
                        <a:t>233</a:t>
                      </a:r>
                    </a:p>
                  </a:txBody>
                  <a:tcPr/>
                </a:tc>
                <a:tc>
                  <a:txBody>
                    <a:bodyPr/>
                    <a:lstStyle/>
                    <a:p>
                      <a:r>
                        <a:t>233</a:t>
                      </a:r>
                    </a:p>
                  </a:txBody>
                  <a:tcPr/>
                </a:tc>
                <a:tc>
                  <a:txBody>
                    <a:bodyPr/>
                    <a:lstStyle/>
                    <a:p>
                      <a:r>
                        <a:t>#E41A1C</a:t>
                      </a:r>
                    </a:p>
                  </a:txBody>
                  <a:tcPr>
                    <a:solidFill>
                      <a:srgbClr val="E41A1C"/>
                    </a:solidFill>
                  </a:tcPr>
                </a:tc>
              </a:tr>
              <a:tr h="568960">
                <a:tc>
                  <a:txBody>
                    <a:bodyPr/>
                    <a:lstStyle/>
                    <a:p>
                      <a:r>
                        <a:t>down_epi_only</a:t>
                      </a:r>
                    </a:p>
                  </a:txBody>
                  <a:tcPr/>
                </a:tc>
                <a:tc>
                  <a:txBody>
                    <a:bodyPr/>
                    <a:lstStyle/>
                    <a:p>
                      <a:r>
                        <a:t>367</a:t>
                      </a:r>
                    </a:p>
                  </a:txBody>
                  <a:tcPr/>
                </a:tc>
                <a:tc>
                  <a:txBody>
                    <a:bodyPr/>
                    <a:lstStyle/>
                    <a:p>
                      <a:r>
                        <a:t>367</a:t>
                      </a:r>
                    </a:p>
                  </a:txBody>
                  <a:tcPr/>
                </a:tc>
                <a:tc>
                  <a:txBody>
                    <a:bodyPr/>
                    <a:lstStyle/>
                    <a:p>
                      <a:r>
                        <a:t>#377EB8</a:t>
                      </a:r>
                    </a:p>
                  </a:txBody>
                  <a:tcPr>
                    <a:solidFill>
                      <a:srgbClr val="377EB8"/>
                    </a:solidFill>
                  </a:tcPr>
                </a:tc>
              </a:tr>
              <a:tr h="568960">
                <a:tc>
                  <a:txBody>
                    <a:bodyPr/>
                    <a:lstStyle/>
                    <a:p>
                      <a:r>
                        <a:t>down_mes_only</a:t>
                      </a:r>
                    </a:p>
                  </a:txBody>
                  <a:tcPr/>
                </a:tc>
                <a:tc>
                  <a:txBody>
                    <a:bodyPr/>
                    <a:lstStyle/>
                    <a:p>
                      <a:r>
                        <a:t>333</a:t>
                      </a:r>
                    </a:p>
                  </a:txBody>
                  <a:tcPr/>
                </a:tc>
                <a:tc>
                  <a:txBody>
                    <a:bodyPr/>
                    <a:lstStyle/>
                    <a:p>
                      <a:r>
                        <a:t>333</a:t>
                      </a:r>
                    </a:p>
                  </a:txBody>
                  <a:tcPr/>
                </a:tc>
                <a:tc>
                  <a:txBody>
                    <a:bodyPr/>
                    <a:lstStyle/>
                    <a:p>
                      <a:r>
                        <a:t>#4DAF4A</a:t>
                      </a:r>
                    </a:p>
                  </a:txBody>
                  <a:tcPr>
                    <a:solidFill>
                      <a:srgbClr val="4DAF4A"/>
                    </a:solidFill>
                  </a:tcPr>
                </a:tc>
              </a:tr>
              <a:tr h="568960">
                <a:tc>
                  <a:txBody>
                    <a:bodyPr/>
                    <a:lstStyle/>
                    <a:p>
                      <a:r>
                        <a:t>down_mes_up_epi</a:t>
                      </a:r>
                    </a:p>
                  </a:txBody>
                  <a:tcPr/>
                </a:tc>
                <a:tc>
                  <a:txBody>
                    <a:bodyPr/>
                    <a:lstStyle/>
                    <a:p>
                      <a:r>
                        <a:t>194</a:t>
                      </a:r>
                    </a:p>
                  </a:txBody>
                  <a:tcPr/>
                </a:tc>
                <a:tc>
                  <a:txBody>
                    <a:bodyPr/>
                    <a:lstStyle/>
                    <a:p>
                      <a:r>
                        <a:t>194</a:t>
                      </a:r>
                    </a:p>
                  </a:txBody>
                  <a:tcPr/>
                </a:tc>
                <a:tc>
                  <a:txBody>
                    <a:bodyPr/>
                    <a:lstStyle/>
                    <a:p>
                      <a:r>
                        <a:t>#984EA3</a:t>
                      </a:r>
                    </a:p>
                  </a:txBody>
                  <a:tcPr>
                    <a:solidFill>
                      <a:srgbClr val="984EA3"/>
                    </a:solidFill>
                  </a:tcPr>
                </a:tc>
              </a:tr>
              <a:tr h="568960">
                <a:tc>
                  <a:txBody>
                    <a:bodyPr/>
                    <a:lstStyle/>
                    <a:p>
                      <a:r>
                        <a:t>up_common_genes</a:t>
                      </a:r>
                    </a:p>
                  </a:txBody>
                  <a:tcPr/>
                </a:tc>
                <a:tc>
                  <a:txBody>
                    <a:bodyPr/>
                    <a:lstStyle/>
                    <a:p>
                      <a:r>
                        <a:t>234</a:t>
                      </a:r>
                    </a:p>
                  </a:txBody>
                  <a:tcPr/>
                </a:tc>
                <a:tc>
                  <a:txBody>
                    <a:bodyPr/>
                    <a:lstStyle/>
                    <a:p>
                      <a:r>
                        <a:t>234</a:t>
                      </a:r>
                    </a:p>
                  </a:txBody>
                  <a:tcPr/>
                </a:tc>
                <a:tc>
                  <a:txBody>
                    <a:bodyPr/>
                    <a:lstStyle/>
                    <a:p>
                      <a:r>
                        <a:t>#FF7F00</a:t>
                      </a:r>
                    </a:p>
                  </a:txBody>
                  <a:tcPr>
                    <a:solidFill>
                      <a:srgbClr val="FF7F00"/>
                    </a:solidFill>
                  </a:tcPr>
                </a:tc>
              </a:tr>
              <a:tr h="568960">
                <a:tc>
                  <a:txBody>
                    <a:bodyPr/>
                    <a:lstStyle/>
                    <a:p>
                      <a:r>
                        <a:t>up_epi_only</a:t>
                      </a:r>
                    </a:p>
                  </a:txBody>
                  <a:tcPr/>
                </a:tc>
                <a:tc>
                  <a:txBody>
                    <a:bodyPr/>
                    <a:lstStyle/>
                    <a:p>
                      <a:r>
                        <a:t>370</a:t>
                      </a:r>
                    </a:p>
                  </a:txBody>
                  <a:tcPr/>
                </a:tc>
                <a:tc>
                  <a:txBody>
                    <a:bodyPr/>
                    <a:lstStyle/>
                    <a:p>
                      <a:r>
                        <a:t>370</a:t>
                      </a:r>
                    </a:p>
                  </a:txBody>
                  <a:tcPr/>
                </a:tc>
                <a:tc>
                  <a:txBody>
                    <a:bodyPr/>
                    <a:lstStyle/>
                    <a:p>
                      <a:r>
                        <a:t>#FFFF33</a:t>
                      </a:r>
                    </a:p>
                  </a:txBody>
                  <a:tcPr>
                    <a:solidFill>
                      <a:srgbClr val="FFFF33"/>
                    </a:solidFill>
                  </a:tcPr>
                </a:tc>
              </a:tr>
              <a:tr h="568960">
                <a:tc>
                  <a:txBody>
                    <a:bodyPr/>
                    <a:lstStyle/>
                    <a:p>
                      <a:r>
                        <a:t>up_mes_down_epi</a:t>
                      </a:r>
                    </a:p>
                  </a:txBody>
                  <a:tcPr/>
                </a:tc>
                <a:tc>
                  <a:txBody>
                    <a:bodyPr/>
                    <a:lstStyle/>
                    <a:p>
                      <a:r>
                        <a:t>189</a:t>
                      </a:r>
                    </a:p>
                  </a:txBody>
                  <a:tcPr/>
                </a:tc>
                <a:tc>
                  <a:txBody>
                    <a:bodyPr/>
                    <a:lstStyle/>
                    <a:p>
                      <a:r>
                        <a:t>189</a:t>
                      </a:r>
                    </a:p>
                  </a:txBody>
                  <a:tcPr/>
                </a:tc>
                <a:tc>
                  <a:txBody>
                    <a:bodyPr/>
                    <a:lstStyle/>
                    <a:p>
                      <a:r>
                        <a:t>#A65628</a:t>
                      </a:r>
                    </a:p>
                  </a:txBody>
                  <a:tcPr>
                    <a:solidFill>
                      <a:srgbClr val="A65628"/>
                    </a:solidFill>
                  </a:tcPr>
                </a:tc>
              </a:tr>
              <a:tr h="568960">
                <a:tc>
                  <a:txBody>
                    <a:bodyPr/>
                    <a:lstStyle/>
                    <a:p>
                      <a:r>
                        <a:t>up_mes_only</a:t>
                      </a:r>
                    </a:p>
                  </a:txBody>
                  <a:tcPr/>
                </a:tc>
                <a:tc>
                  <a:txBody>
                    <a:bodyPr/>
                    <a:lstStyle/>
                    <a:p>
                      <a:r>
                        <a:t>281</a:t>
                      </a:r>
                    </a:p>
                  </a:txBody>
                  <a:tcPr/>
                </a:tc>
                <a:tc>
                  <a:txBody>
                    <a:bodyPr/>
                    <a:lstStyle/>
                    <a:p>
                      <a:r>
                        <a:t>281</a:t>
                      </a:r>
                    </a:p>
                  </a:txBody>
                  <a:tcPr/>
                </a:tc>
                <a:tc>
                  <a:txBody>
                    <a:bodyPr/>
                    <a:lstStyle/>
                    <a:p>
                      <a:r>
                        <a:t>#F781BF</a:t>
                      </a:r>
                    </a:p>
                  </a:txBody>
                  <a:tcPr>
                    <a:solidFill>
                      <a:srgbClr val="F781BF"/>
                    </a:solidFill>
                  </a:tcPr>
                </a:tc>
              </a:tr>
            </a:tbl>
          </a:graphicData>
        </a:graphic>
      </p:graphicFrame>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Overlap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ircosOverlapByGene.png"/>
          <p:cNvPicPr>
            <a:picLocks noChangeAspect="1"/>
          </p:cNvPicPr>
          <p:nvPr/>
        </p:nvPicPr>
        <p:blipFill>
          <a:blip r:embed="rId3"/>
          <a:stretch>
            <a:fillRect/>
          </a:stretch>
        </p:blipFill>
        <p:spPr>
          <a:xfrm>
            <a:off x="3535527" y="1665465"/>
            <a:ext cx="5120640" cy="5120640"/>
          </a:xfrm>
          <a:prstGeom prst="rect">
            <a:avLst/>
          </a:prstGeom>
        </p:spPr>
      </p:pic>
    </p:spTree>
    <p:extLst>
      <p:ext uri="{BB962C8B-B14F-4D97-AF65-F5344CB8AC3E}">
        <p14:creationId xmlns:p14="http://schemas.microsoft.com/office/powerpoint/2010/main" val="304524071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
            </a:r>
            <a:r>
              <a:rPr lang="en-US" sz="2000" b="1" dirty="0" err="1">
                <a:solidFill>
                  <a:srgbClr val="C00000"/>
                </a:solidFill>
                <a:latin typeface="Arial" panose="020B0604020202020204" pitchFamily="34" charset="0"/>
                <a:cs typeface="Arial" panose="020B0604020202020204" pitchFamily="34" charset="0"/>
              </a:rPr>
              <a:t/>
            </a:r>
            <a:endParaRPr lang="en-US" sz="2000" b="1"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Overlap Analysis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Expanded via Shared Enriched Ontologies</a:t>
            </a:r>
          </a:p>
        </p:txBody>
      </p:sp>
      <p:pic>
        <p:nvPicPr>
          <p:cNvPr id="3" name="Picture 2" descr="CircosOverlapByGO.png"/>
          <p:cNvPicPr>
            <a:picLocks noChangeAspect="1"/>
          </p:cNvPicPr>
          <p:nvPr/>
        </p:nvPicPr>
        <p:blipFill>
          <a:blip r:embed="rId3"/>
          <a:stretch>
            <a:fillRect/>
          </a:stretch>
        </p:blipFill>
        <p:spPr>
          <a:xfrm>
            <a:off x="3535527" y="1665465"/>
            <a:ext cx="5120640" cy="5120640"/>
          </a:xfrm>
          <a:prstGeom prst="rect">
            <a:avLst/>
          </a:prstGeom>
        </p:spPr>
      </p:pic>
    </p:spTree>
    <p:extLst>
      <p:ext uri="{BB962C8B-B14F-4D97-AF65-F5344CB8AC3E}">
        <p14:creationId xmlns:p14="http://schemas.microsoft.com/office/powerpoint/2010/main" val="6932698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1914321" y="1665465"/>
            <a:ext cx="8363052" cy="5120640"/>
          </a:xfrm>
          <a:prstGeom prst="rect">
            <a:avLst/>
          </a:prstGeom>
        </p:spPr>
      </p:pic>
    </p:spTree>
    <p:extLst>
      <p:ext uri="{BB962C8B-B14F-4D97-AF65-F5344CB8AC3E}">
        <p14:creationId xmlns:p14="http://schemas.microsoft.com/office/powerpoint/2010/main" val="3330464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640080" y="2428476"/>
            <a:ext cx="10911535" cy="3594619"/>
          </a:xfrm>
          <a:prstGeom prst="rect">
            <a:avLst/>
          </a:prstGeom>
        </p:spPr>
      </p:pic>
    </p:spTree>
    <p:extLst>
      <p:ext uri="{BB962C8B-B14F-4D97-AF65-F5344CB8AC3E}">
        <p14:creationId xmlns:p14="http://schemas.microsoft.com/office/powerpoint/2010/main" val="614239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640080" y="1778713"/>
            <a:ext cx="10911535" cy="4894144"/>
          </a:xfrm>
          <a:prstGeom prst="rect">
            <a:avLst/>
          </a:prstGeom>
        </p:spPr>
      </p:pic>
    </p:spTree>
    <p:extLst>
      <p:ext uri="{BB962C8B-B14F-4D97-AF65-F5344CB8AC3E}">
        <p14:creationId xmlns:p14="http://schemas.microsoft.com/office/powerpoint/2010/main" val="3490378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Pied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Counts 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Counts.png"/>
          <p:cNvPicPr>
            <a:picLocks noChangeAspect="1"/>
          </p:cNvPicPr>
          <p:nvPr/>
        </p:nvPicPr>
        <p:blipFill>
          <a:blip r:embed="rId3"/>
          <a:stretch>
            <a:fillRect/>
          </a:stretch>
        </p:blipFill>
        <p:spPr>
          <a:xfrm>
            <a:off x="640080" y="1778713"/>
            <a:ext cx="10911535" cy="4894144"/>
          </a:xfrm>
          <a:prstGeom prst="rect">
            <a:avLst/>
          </a:prstGeom>
        </p:spPr>
      </p:pic>
    </p:spTree>
    <p:extLst>
      <p:ext uri="{BB962C8B-B14F-4D97-AF65-F5344CB8AC3E}">
        <p14:creationId xmlns:p14="http://schemas.microsoft.com/office/powerpoint/2010/main" val="29458083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78375" y="1291130"/>
            <a:ext cx="7758754" cy="400110"/>
          </a:xfrm>
          <a:prstGeom prst="rect">
            <a:avLst/>
          </a:prstGeom>
          <a:noFill/>
        </p:spPr>
        <p:txBody>
          <a:bodyPr wrap="square" rtlCol="0">
            <a:spAutoFit/>
          </a:bodyPr>
          <a:lstStyle/>
          <a:p>
            <a:r>
              <a:t>Gene List: down_common_genes</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down_common_genes_PPIColorByCluster.png"/>
          <p:cNvPicPr>
            <a:picLocks noChangeAspect="1"/>
          </p:cNvPicPr>
          <p:nvPr/>
        </p:nvPicPr>
        <p:blipFill>
          <a:blip r:embed="rId3"/>
          <a:stretch>
            <a:fillRect/>
          </a:stretch>
        </p:blipFill>
        <p:spPr>
          <a:xfrm>
            <a:off x="2661101" y="1665465"/>
            <a:ext cx="6869492" cy="5120640"/>
          </a:xfrm>
          <a:prstGeom prst="rect">
            <a:avLst/>
          </a:prstGeom>
        </p:spPr>
      </p:pic>
    </p:spTree>
    <p:extLst>
      <p:ext uri="{BB962C8B-B14F-4D97-AF65-F5344CB8AC3E}">
        <p14:creationId xmlns:p14="http://schemas.microsoft.com/office/powerpoint/2010/main" val="12771647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down_common_genes</a:t>
            </a:r>
          </a:p>
        </p:txBody>
      </p:sp>
      <p:pic>
        <p:nvPicPr>
          <p:cNvPr id="4" name="Picture 3" descr="down_common_genes_MCODE_ALL_PPIColorByCluster.png"/>
          <p:cNvPicPr>
            <a:picLocks noChangeAspect="1"/>
          </p:cNvPicPr>
          <p:nvPr/>
        </p:nvPicPr>
        <p:blipFill>
          <a:blip r:embed="rId3"/>
          <a:stretch>
            <a:fillRect/>
          </a:stretch>
        </p:blipFill>
        <p:spPr>
          <a:xfrm>
            <a:off x="640080" y="1688542"/>
            <a:ext cx="10911535" cy="5074487"/>
          </a:xfrm>
          <a:prstGeom prst="rect">
            <a:avLst/>
          </a:prstGeom>
        </p:spPr>
      </p:pic>
    </p:spTree>
    <p:extLst>
      <p:ext uri="{BB962C8B-B14F-4D97-AF65-F5344CB8AC3E}">
        <p14:creationId xmlns:p14="http://schemas.microsoft.com/office/powerpoint/2010/main" val="2358684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down_common_genes</a:t>
            </a:r>
          </a:p>
        </p:txBody>
      </p:sp>
      <p:graphicFrame>
        <p:nvGraphicFramePr>
          <p:cNvPr id="4" name="Table 3"/>
          <p:cNvGraphicFramePr>
            <a:graphicFrameLocks noGrp="1"/>
          </p:cNvGraphicFramePr>
          <p:nvPr/>
        </p:nvGraphicFramePr>
        <p:xfrm>
          <a:off x="640080" y="1665465"/>
          <a:ext cx="10911535" cy="45669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731520">
                <a:tc>
                  <a:txBody>
                    <a:bodyPr/>
                    <a:lstStyle/>
                    <a:p>
                      <a:r>
                        <a:t>down_common_genes</a:t>
                      </a:r>
                    </a:p>
                  </a:txBody>
                  <a:tcPr/>
                </a:tc>
                <a:tc>
                  <a:txBody>
                    <a:bodyPr/>
                    <a:lstStyle/>
                    <a:p>
                      <a:r>
                        <a:t>GO:0044282|small molecule catabolic process|-13.4;GO:0016054|organic acid catabolic process|-13.2;GO:0046395|carboxylic acid catabolic process|-13.2</a:t>
                      </a:r>
                    </a:p>
                  </a:txBody>
                  <a:tcPr/>
                </a:tc>
              </a:tr>
              <a:tr h="731520">
                <a:tc>
                  <a:txBody>
                    <a:bodyPr/>
                    <a:lstStyle/>
                    <a:p>
                      <a:r>
                        <a:t>down_common_genes_MCODE_ALL</a:t>
                      </a:r>
                    </a:p>
                  </a:txBody>
                  <a:tcPr/>
                </a:tc>
                <a:tc>
                  <a:txBody>
                    <a:bodyPr/>
                    <a:lstStyle/>
                    <a:p>
                      <a:r>
                        <a:t>GO:0072329|monocarboxylic acid catabolic process|-9.6;R-HSA-9033241|Peroxisomal protein import|-9.5;GO:0006631|fatty acid metabolic process|-9.3</a:t>
                      </a:r>
                    </a:p>
                  </a:txBody>
                  <a:tcPr/>
                </a:tc>
              </a:tr>
              <a:tr h="731520">
                <a:tc>
                  <a:txBody>
                    <a:bodyPr/>
                    <a:lstStyle/>
                    <a:p>
                      <a:r>
                        <a:t>down_common_genes_SUB1_MCODE_1</a:t>
                      </a:r>
                    </a:p>
                  </a:txBody>
                  <a:tcPr/>
                </a:tc>
                <a:tc>
                  <a:txBody>
                    <a:bodyPr/>
                    <a:lstStyle/>
                    <a:p>
                      <a:r>
                        <a:t>R-HSA-9033241|Peroxisomal protein import|-9.7;R-HSA-9609507|Protein localization|-7.6;hsa04146|Peroxisome|-6.9</a:t>
                      </a:r>
                    </a:p>
                  </a:txBody>
                  <a:tcPr/>
                </a:tc>
              </a:tr>
              <a:tr h="731520">
                <a:tc>
                  <a:txBody>
                    <a:bodyPr/>
                    <a:lstStyle/>
                    <a:p>
                      <a:r>
                        <a:t>down_common_genes_SUB1_MCODE_2</a:t>
                      </a:r>
                    </a:p>
                  </a:txBody>
                  <a:tcPr/>
                </a:tc>
                <a:tc>
                  <a:txBody>
                    <a:bodyPr/>
                    <a:lstStyle/>
                    <a:p>
                      <a:r>
                        <a:t>GO:0072329|monocarboxylic acid catabolic process|-4.5;GO:0031503|protein-containing complex localization|-4.1;GO:0090407|organophosphate biosynthetic process|-3.8</a:t>
                      </a:r>
                    </a:p>
                  </a:txBody>
                  <a:tcPr/>
                </a:tc>
              </a:tr>
              <a:tr h="731520">
                <a:tc>
                  <a:txBody>
                    <a:bodyPr/>
                    <a:lstStyle/>
                    <a:p>
                      <a:r>
                        <a:t>down_common_genes_SUB1_MCODE_3</a:t>
                      </a:r>
                    </a:p>
                  </a:txBody>
                  <a:tcPr/>
                </a:tc>
                <a:tc>
                  <a:txBody>
                    <a:bodyPr/>
                    <a:lstStyle/>
                    <a:p>
                      <a:r>
                        <a:t>GO:0006364|rRNA processing|-5.1;GO:0016072|rRNA metabolic process|-5.0;GO:0042254|ribosome biogenesis|-4.7</a:t>
                      </a:r>
                    </a:p>
                  </a:txBody>
                  <a:tcPr/>
                </a:tc>
              </a:tr>
              <a:tr h="731520">
                <a:tc>
                  <a:txBody>
                    <a:bodyPr/>
                    <a:lstStyle/>
                    <a:p>
                      <a:r>
                        <a:t>down_common_genes_SUB1_MCODE_4</a:t>
                      </a:r>
                    </a:p>
                  </a:txBody>
                  <a:tcPr/>
                </a:tc>
                <a:tc>
                  <a:txBody>
                    <a:bodyPr/>
                    <a:lstStyle/>
                    <a:p>
                      <a:r>
                        <a:t>GO:0006631|fatty acid metabolic process|-5.9;GO:0032787|monocarboxylic acid metabolic process|-5.3</a:t>
                      </a:r>
                    </a:p>
                  </a:txBody>
                  <a:tcPr/>
                </a:tc>
              </a:tr>
            </a:tbl>
          </a:graphicData>
        </a:graphic>
      </p:graphicFrame>
    </p:spTree>
    <p:extLst>
      <p:ext uri="{BB962C8B-B14F-4D97-AF65-F5344CB8AC3E}">
        <p14:creationId xmlns:p14="http://schemas.microsoft.com/office/powerpoint/2010/main" val="3323729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Network for Lists Merged</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Pied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Origin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in </a:t>
            </a: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Studies </a:t>
            </a:r>
            <a:endPar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679973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for Lists Merged</a:t>
            </a:r>
            <a:br>
              <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by MCODE ID</a:t>
            </a:r>
          </a:p>
        </p:txBody>
      </p:sp>
    </p:spTree>
    <p:extLst>
      <p:ext uri="{BB962C8B-B14F-4D97-AF65-F5344CB8AC3E}">
        <p14:creationId xmlns:p14="http://schemas.microsoft.com/office/powerpoint/2010/main" val="28758200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524000" y="374650"/>
            <a:ext cx="8847740" cy="458788"/>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000" b="1" dirty="0">
                <a:ln w="3175" cap="rnd">
                  <a:solidFill>
                    <a:schemeClr val="accent1">
                      <a:lumMod val="20000"/>
                      <a:lumOff val="80000"/>
                    </a:schemeClr>
                  </a:solidFill>
                  <a:round/>
                </a:ln>
                <a:solidFill>
                  <a:schemeClr val="bg1"/>
                </a:solidFill>
                <a:effectLst>
                  <a:glow rad="101600">
                    <a:schemeClr val="tx2">
                      <a:alpha val="60000"/>
                    </a:schemeClr>
                  </a:glow>
                </a:effectLst>
                <a:latin typeface="Arial" panose="020B0604020202020204" pitchFamily="34" charset="0"/>
                <a:cs typeface="Arial" panose="020B0604020202020204" pitchFamily="34" charset="0"/>
              </a:rPr>
              <a:t>Protein-protein Interaction Network</a:t>
            </a:r>
          </a:p>
        </p:txBody>
      </p:sp>
    </p:spTree>
    <p:extLst>
      <p:ext uri="{BB962C8B-B14F-4D97-AF65-F5344CB8AC3E}">
        <p14:creationId xmlns:p14="http://schemas.microsoft.com/office/powerpoint/2010/main" val="1528487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MCODE for Lists Merged</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Pied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Origin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in </a:t>
            </a: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Studies</a:t>
            </a:r>
            <a:endPar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714826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Autofit/>
          </a:bodyPr>
          <a:lstStyle/>
          <a:p>
            <a:pPr algn="l"/>
            <a:r>
              <a:rPr lang="en-US" sz="40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sz="40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200" b="1" dirty="0">
                <a:ln w="3175" cap="rnd">
                  <a:solidFill>
                    <a:schemeClr val="accent1">
                      <a:lumMod val="20000"/>
                      <a:lumOff val="80000"/>
                    </a:schemeClr>
                  </a:solidFill>
                  <a:round/>
                </a:ln>
                <a:latin typeface="Arial" panose="020B0604020202020204" pitchFamily="34" charset="0"/>
                <a:cs typeface="Arial" panose="020B0604020202020204" pitchFamily="34" charset="0"/>
              </a:rPr>
              <a:t>MCODE Components for Lists Merged</a:t>
            </a:r>
          </a:p>
        </p:txBody>
      </p:sp>
    </p:spTree>
    <p:extLst>
      <p:ext uri="{BB962C8B-B14F-4D97-AF65-F5344CB8AC3E}">
        <p14:creationId xmlns:p14="http://schemas.microsoft.com/office/powerpoint/2010/main" val="8021821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up_mes_only</a:t>
            </a:r>
          </a:p>
        </p:txBody>
      </p:sp>
      <p:graphicFrame>
        <p:nvGraphicFramePr>
          <p:cNvPr id="4" name="Table 3"/>
          <p:cNvGraphicFramePr>
            <a:graphicFrameLocks noGrp="1"/>
          </p:cNvGraphicFramePr>
          <p:nvPr/>
        </p:nvGraphicFramePr>
        <p:xfrm>
          <a:off x="640080" y="1665465"/>
          <a:ext cx="10911535" cy="4786376"/>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512064">
                <a:tc>
                  <a:txBody>
                    <a:bodyPr/>
                    <a:lstStyle/>
                    <a:p>
                      <a:r>
                        <a:t>up_mes_only</a:t>
                      </a:r>
                    </a:p>
                  </a:txBody>
                  <a:tcPr/>
                </a:tc>
                <a:tc>
                  <a:txBody>
                    <a:bodyPr/>
                    <a:lstStyle/>
                    <a:p>
                      <a:r>
                        <a:t>R-HSA-446203|Asparagine N-linked glycosylation|-28.0;GO:0048193|Golgi vesicle transport|-22.8;R-HSA-948021|Transport to the Golgi and subsequent modification|-19.6</a:t>
                      </a:r>
                    </a:p>
                  </a:txBody>
                  <a:tcPr/>
                </a:tc>
              </a:tr>
              <a:tr h="512064">
                <a:tc>
                  <a:txBody>
                    <a:bodyPr/>
                    <a:lstStyle/>
                    <a:p>
                      <a:r>
                        <a:t>up_mes_only_MCODE_ALL</a:t>
                      </a:r>
                    </a:p>
                  </a:txBody>
                  <a:tcPr/>
                </a:tc>
                <a:tc>
                  <a:txBody>
                    <a:bodyPr/>
                    <a:lstStyle/>
                    <a:p>
                      <a:r>
                        <a:t>R-HSA-446203|Asparagine N-linked glycosylation|-27.9;R-HSA-948021|Transport to the Golgi and subsequent modification|-20.8;R-HSA-6807878|COPI-mediated anterograde transport|-20.7</a:t>
                      </a:r>
                    </a:p>
                  </a:txBody>
                  <a:tcPr/>
                </a:tc>
              </a:tr>
              <a:tr h="512064">
                <a:tc>
                  <a:txBody>
                    <a:bodyPr/>
                    <a:lstStyle/>
                    <a:p>
                      <a:r>
                        <a:t>up_mes_only_SUB1_MCODE_1</a:t>
                      </a:r>
                    </a:p>
                  </a:txBody>
                  <a:tcPr/>
                </a:tc>
                <a:tc>
                  <a:txBody>
                    <a:bodyPr/>
                    <a:lstStyle/>
                    <a:p>
                      <a:r>
                        <a:t>R-HSA-6807878|COPI-mediated anterograde transport|-30.0;R-HSA-199977|ER to Golgi Anterograde Transport|-27.7;R-HSA-948021|Transport to the Golgi and subsequent modification|-26.7</a:t>
                      </a:r>
                    </a:p>
                  </a:txBody>
                  <a:tcPr/>
                </a:tc>
              </a:tr>
              <a:tr h="512064">
                <a:tc>
                  <a:txBody>
                    <a:bodyPr/>
                    <a:lstStyle/>
                    <a:p>
                      <a:r>
                        <a:t>up_mes_only_SUB1_MCODE_2</a:t>
                      </a:r>
                    </a:p>
                  </a:txBody>
                  <a:tcPr/>
                </a:tc>
                <a:tc>
                  <a:txBody>
                    <a:bodyPr/>
                    <a:lstStyle/>
                    <a:p>
                      <a:r>
                        <a:t>R-HSA-72163|mRNA Splicing - Major Pathway|-4.3;R-HSA-72172|mRNA Splicing|-4.3;R-HSA-72203|Processing of Capped Intron-Containing Pre-mRNA|-3.9</a:t>
                      </a:r>
                    </a:p>
                  </a:txBody>
                  <a:tcPr/>
                </a:tc>
              </a:tr>
              <a:tr h="512064">
                <a:tc>
                  <a:txBody>
                    <a:bodyPr/>
                    <a:lstStyle/>
                    <a:p>
                      <a:r>
                        <a:t>up_mes_only_SUB1_MCODE_3</a:t>
                      </a:r>
                    </a:p>
                  </a:txBody>
                  <a:tcPr/>
                </a:tc>
                <a:tc>
                  <a:txBody>
                    <a:bodyPr/>
                    <a:lstStyle/>
                    <a:p>
                      <a:r>
                        <a:t>R-HSA-1650814|Collagen biosynthesis and modifying enzymes|-18.7;R-HSA-1474290|Collagen formation|-17.8;R-HSA-1474244|Extracellular matrix organization|-14.1</a:t>
                      </a:r>
                    </a:p>
                  </a:txBody>
                  <a:tcPr/>
                </a:tc>
              </a:tr>
              <a:tr h="512064">
                <a:tc>
                  <a:txBody>
                    <a:bodyPr/>
                    <a:lstStyle/>
                    <a:p>
                      <a:r>
                        <a:t>up_mes_only_SUB1_MCODE_4</a:t>
                      </a:r>
                    </a:p>
                  </a:txBody>
                  <a:tcPr/>
                </a:tc>
                <a:tc>
                  <a:txBody>
                    <a:bodyPr/>
                    <a:lstStyle/>
                    <a:p>
                      <a:r>
                        <a:t>hsa04141|Protein processing in endoplasmic reticulum|-12.7;R-HSA-381119|Unfolded Protein Response (UPR)|-11.2;R-HSA-381038|XBP1(S) activates chaperone genes|-9.6</a:t>
                      </a:r>
                    </a:p>
                  </a:txBody>
                  <a:tcPr/>
                </a:tc>
              </a:tr>
              <a:tr h="512064">
                <a:tc>
                  <a:txBody>
                    <a:bodyPr/>
                    <a:lstStyle/>
                    <a:p>
                      <a:r>
                        <a:t>up_mes_only_SUB1_MCODE_5</a:t>
                      </a:r>
                    </a:p>
                  </a:txBody>
                  <a:tcPr/>
                </a:tc>
                <a:tc>
                  <a:txBody>
                    <a:bodyPr/>
                    <a:lstStyle/>
                    <a:p>
                      <a:r>
                        <a:t>hsa03015|mRNA surveillance pathway|-6.2;R-HSA-422475|Axon guidance|-3.9;R-HSA-9675108|Nervous system development|-3.9</a:t>
                      </a:r>
                    </a:p>
                  </a:txBody>
                  <a:tcPr/>
                </a:tc>
              </a:tr>
              <a:tr h="512064">
                <a:tc>
                  <a:txBody>
                    <a:bodyPr/>
                    <a:lstStyle/>
                    <a:p>
                      <a:r>
                        <a:t>up_mes_only_SUB1_MCODE_7</a:t>
                      </a:r>
                    </a:p>
                  </a:txBody>
                  <a:tcPr/>
                </a:tc>
                <a:tc>
                  <a:txBody>
                    <a:bodyPr/>
                    <a:lstStyle/>
                    <a:p>
                      <a:r>
                        <a:t>R-HSA-6811434|COPI-dependent Golgi-to-ER retrograde traffic|-7.5;R-HSA-8856688|Golgi-to-ER retrograde transport|-7.1;GO:0007030|Golgi organization|-7.0</a:t>
                      </a:r>
                    </a:p>
                  </a:txBody>
                  <a:tcPr/>
                </a:tc>
              </a:tr>
              <a:tr h="512064">
                <a:tc>
                  <a:txBody>
                    <a:bodyPr/>
                    <a:lstStyle/>
                    <a:p>
                      <a:r>
                        <a:t>up_mes_only_SUB1_MCODE_8</a:t>
                      </a:r>
                    </a:p>
                  </a:txBody>
                  <a:tcPr/>
                </a:tc>
                <a:tc>
                  <a:txBody>
                    <a:bodyPr/>
                    <a:lstStyle/>
                    <a:p>
                      <a:r>
                        <a:t>R-HSA-77387|Insulin receptor recycling|-9.1;R-HSA-917977|Transferrin endocytosis and recycling|-9.0;R-HSA-1222556|ROS and RNS production in phagocytes|-8.8</a:t>
                      </a:r>
                    </a:p>
                  </a:txBody>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up_mes_only</a:t>
            </a:r>
          </a:p>
        </p:txBody>
      </p:sp>
      <p:pic>
        <p:nvPicPr>
          <p:cNvPr id="4" name="Picture 3" descr="up_mes_only_MCODE_ALL_PPIColorByCluster.png"/>
          <p:cNvPicPr>
            <a:picLocks noChangeAspect="1"/>
          </p:cNvPicPr>
          <p:nvPr/>
        </p:nvPicPr>
        <p:blipFill>
          <a:blip r:embed="rId2"/>
          <a:stretch>
            <a:fillRect/>
          </a:stretch>
        </p:blipFill>
        <p:spPr>
          <a:xfrm>
            <a:off x="640080" y="2031473"/>
            <a:ext cx="10911535" cy="4388624"/>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up_mes_only</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up_mes_only_PPIColorByCluster.png"/>
          <p:cNvPicPr>
            <a:picLocks noChangeAspect="1"/>
          </p:cNvPicPr>
          <p:nvPr/>
        </p:nvPicPr>
        <p:blipFill>
          <a:blip r:embed="rId2"/>
          <a:stretch>
            <a:fillRect/>
          </a:stretch>
        </p:blipFill>
        <p:spPr>
          <a:xfrm>
            <a:off x="2884954" y="1665465"/>
            <a:ext cx="6421786" cy="512064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up_mes_down_epi</a:t>
            </a:r>
          </a:p>
        </p:txBody>
      </p:sp>
      <p:graphicFrame>
        <p:nvGraphicFramePr>
          <p:cNvPr id="4" name="Table 3"/>
          <p:cNvGraphicFramePr>
            <a:graphicFrameLocks noGrp="1"/>
          </p:cNvGraphicFramePr>
          <p:nvPr/>
        </p:nvGraphicFramePr>
        <p:xfrm>
          <a:off x="640080" y="1665465"/>
          <a:ext cx="10911535" cy="45669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731520">
                <a:tc>
                  <a:txBody>
                    <a:bodyPr/>
                    <a:lstStyle/>
                    <a:p>
                      <a:r>
                        <a:t>up_mes_down_epi</a:t>
                      </a:r>
                    </a:p>
                  </a:txBody>
                  <a:tcPr/>
                </a:tc>
                <a:tc>
                  <a:txBody>
                    <a:bodyPr/>
                    <a:lstStyle/>
                    <a:p>
                      <a:r>
                        <a:t>M5924|HALLMARK MTORC1 SIGNALING|-12.7;hsa04141|Protein processing in endoplasmic reticulum|-12.5;GO:0006457|protein folding|-12.2</a:t>
                      </a:r>
                    </a:p>
                  </a:txBody>
                  <a:tcPr/>
                </a:tc>
              </a:tr>
              <a:tr h="731520">
                <a:tc>
                  <a:txBody>
                    <a:bodyPr/>
                    <a:lstStyle/>
                    <a:p>
                      <a:r>
                        <a:t>up_mes_down_epi_MCODE_ALL</a:t>
                      </a:r>
                    </a:p>
                  </a:txBody>
                  <a:tcPr/>
                </a:tc>
                <a:tc>
                  <a:txBody>
                    <a:bodyPr/>
                    <a:lstStyle/>
                    <a:p>
                      <a:r>
                        <a:t>GO:0006520|amino acid metabolic process|-11.3;R-HSA-72766|Translation|-9.6;GO:0034660|ncRNA metabolic process|-9.0</a:t>
                      </a:r>
                    </a:p>
                  </a:txBody>
                  <a:tcPr/>
                </a:tc>
              </a:tr>
              <a:tr h="731520">
                <a:tc>
                  <a:txBody>
                    <a:bodyPr/>
                    <a:lstStyle/>
                    <a:p>
                      <a:r>
                        <a:t>up_mes_down_epi_SUB1_MCODE_1</a:t>
                      </a:r>
                    </a:p>
                  </a:txBody>
                  <a:tcPr/>
                </a:tc>
                <a:tc>
                  <a:txBody>
                    <a:bodyPr/>
                    <a:lstStyle/>
                    <a:p>
                      <a:r>
                        <a:t>GO:0006412|translation|-9.9;GO:0043043|peptide biosynthetic process|-9.7;GO:0006518|peptide metabolic process|-9.2</a:t>
                      </a:r>
                    </a:p>
                  </a:txBody>
                  <a:tcPr/>
                </a:tc>
              </a:tr>
              <a:tr h="731520">
                <a:tc>
                  <a:txBody>
                    <a:bodyPr/>
                    <a:lstStyle/>
                    <a:p>
                      <a:r>
                        <a:t>up_mes_down_epi_SUB1_MCODE_2</a:t>
                      </a:r>
                    </a:p>
                  </a:txBody>
                  <a:tcPr/>
                </a:tc>
                <a:tc>
                  <a:txBody>
                    <a:bodyPr/>
                    <a:lstStyle/>
                    <a:p>
                      <a:r>
                        <a:t>R-HSA-6790901|rRNA modification in the nucleus and cytosol|-11.8;R-HSA-8868773|rRNA processing in the nucleus and cytosol|-9.2;R-HSA-72312|rRNA processing|-9.1</a:t>
                      </a:r>
                    </a:p>
                  </a:txBody>
                  <a:tcPr/>
                </a:tc>
              </a:tr>
              <a:tr h="731520">
                <a:tc>
                  <a:txBody>
                    <a:bodyPr/>
                    <a:lstStyle/>
                    <a:p>
                      <a:r>
                        <a:t>up_mes_down_epi_SUB1_MCODE_3</a:t>
                      </a:r>
                    </a:p>
                  </a:txBody>
                  <a:tcPr/>
                </a:tc>
                <a:tc>
                  <a:txBody>
                    <a:bodyPr/>
                    <a:lstStyle/>
                    <a:p>
                      <a:r>
                        <a:t>hsa04141|Protein processing in endoplasmic reticulum|-5.5;GO:0072657|protein localization to membrane|-4.1;GO:0051668|localization within membrane|-3.9</a:t>
                      </a:r>
                    </a:p>
                  </a:txBody>
                  <a:tcPr/>
                </a:tc>
              </a:tr>
              <a:tr h="731520">
                <a:tc>
                  <a:txBody>
                    <a:bodyPr/>
                    <a:lstStyle/>
                    <a:p>
                      <a:r>
                        <a:t>up_mes_down_epi_SUB1_MCODE_4</a:t>
                      </a:r>
                    </a:p>
                  </a:txBody>
                  <a:tcPr/>
                </a:tc>
                <a:tc>
                  <a:txBody>
                    <a:bodyPr/>
                    <a:lstStyle/>
                    <a:p>
                      <a:r>
                        <a:t>GO:0006520|amino acid metabolic process|-8.1;WP3925|Amino acid metabolism|-7.0;R-HSA-71291|Metabolism of amino acids and derivatives|-5.1</a:t>
                      </a:r>
                    </a:p>
                  </a:txBody>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up_mes_down_epi</a:t>
            </a:r>
          </a:p>
        </p:txBody>
      </p:sp>
      <p:pic>
        <p:nvPicPr>
          <p:cNvPr id="4" name="Picture 3" descr="up_mes_down_epi_MCODE_ALL_PPIColorByCluster.png"/>
          <p:cNvPicPr>
            <a:picLocks noChangeAspect="1"/>
          </p:cNvPicPr>
          <p:nvPr/>
        </p:nvPicPr>
        <p:blipFill>
          <a:blip r:embed="rId2"/>
          <a:stretch>
            <a:fillRect/>
          </a:stretch>
        </p:blipFill>
        <p:spPr>
          <a:xfrm>
            <a:off x="640080" y="1784696"/>
            <a:ext cx="10911535" cy="4882178"/>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up_mes_down_epi</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up_mes_down_epi_PPIColorByCluster.png"/>
          <p:cNvPicPr>
            <a:picLocks noChangeAspect="1"/>
          </p:cNvPicPr>
          <p:nvPr/>
        </p:nvPicPr>
        <p:blipFill>
          <a:blip r:embed="rId2"/>
          <a:stretch>
            <a:fillRect/>
          </a:stretch>
        </p:blipFill>
        <p:spPr>
          <a:xfrm>
            <a:off x="1947569" y="1665465"/>
            <a:ext cx="8296556" cy="512064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up_epi_only</a:t>
            </a:r>
          </a:p>
        </p:txBody>
      </p:sp>
      <p:graphicFrame>
        <p:nvGraphicFramePr>
          <p:cNvPr id="4" name="Table 3"/>
          <p:cNvGraphicFramePr>
            <a:graphicFrameLocks noGrp="1"/>
          </p:cNvGraphicFramePr>
          <p:nvPr/>
        </p:nvGraphicFramePr>
        <p:xfrm>
          <a:off x="640080" y="1665465"/>
          <a:ext cx="10911535" cy="465836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640080">
                <a:tc>
                  <a:txBody>
                    <a:bodyPr/>
                    <a:lstStyle/>
                    <a:p>
                      <a:r>
                        <a:t>up_epi_only</a:t>
                      </a:r>
                    </a:p>
                  </a:txBody>
                  <a:tcPr/>
                </a:tc>
                <a:tc>
                  <a:txBody>
                    <a:bodyPr/>
                    <a:lstStyle/>
                    <a:p>
                      <a:r>
                        <a:t>M5890|HALLMARK TNFA SIGNALING VIA NFKB|-22.6;R-HSA-1280215|Cytokine Signaling in Immune system|-19.9;M5932|HALLMARK INFLAMMATORY RESPONSE|-12.1</a:t>
                      </a:r>
                    </a:p>
                  </a:txBody>
                  <a:tcPr/>
                </a:tc>
              </a:tr>
              <a:tr h="640080">
                <a:tc>
                  <a:txBody>
                    <a:bodyPr/>
                    <a:lstStyle/>
                    <a:p>
                      <a:r>
                        <a:t>up_epi_only_MCODE_ALL</a:t>
                      </a:r>
                    </a:p>
                  </a:txBody>
                  <a:tcPr/>
                </a:tc>
                <a:tc>
                  <a:txBody>
                    <a:bodyPr/>
                    <a:lstStyle/>
                    <a:p>
                      <a:r>
                        <a:t>WP4239|Epithelial to mesenchymal transition in colorectal cancer|-13.0;WP3617|Photodynamic therapy induced NF kB survival signaling|-12.9;R-HSA-500792|GPCR ligand binding|-12.4</a:t>
                      </a:r>
                    </a:p>
                  </a:txBody>
                  <a:tcPr/>
                </a:tc>
              </a:tr>
              <a:tr h="640080">
                <a:tc>
                  <a:txBody>
                    <a:bodyPr/>
                    <a:lstStyle/>
                    <a:p>
                      <a:r>
                        <a:t>up_epi_only_SUB1_MCODE_1</a:t>
                      </a:r>
                    </a:p>
                  </a:txBody>
                  <a:tcPr/>
                </a:tc>
                <a:tc>
                  <a:txBody>
                    <a:bodyPr/>
                    <a:lstStyle/>
                    <a:p>
                      <a:r>
                        <a:t>R-HSA-375276|Peptide ligand-binding receptors|-14.8;hsa05323|Rheumatoid arthritis|-14.8;R-HSA-6783783|Interleukin-10 signaling|-14.0</a:t>
                      </a:r>
                    </a:p>
                  </a:txBody>
                  <a:tcPr/>
                </a:tc>
              </a:tr>
              <a:tr h="640080">
                <a:tc>
                  <a:txBody>
                    <a:bodyPr/>
                    <a:lstStyle/>
                    <a:p>
                      <a:r>
                        <a:t>up_epi_only_SUB1_MCODE_2</a:t>
                      </a:r>
                    </a:p>
                  </a:txBody>
                  <a:tcPr/>
                </a:tc>
                <a:tc>
                  <a:txBody>
                    <a:bodyPr/>
                    <a:lstStyle/>
                    <a:p>
                      <a:r>
                        <a:t>M153|PID P75 NTR PATHWAY|-6.0;WP4541|Hippo Merlin signaling dysregulation|-5.3;GO:0031345|negative regulation of cell projection organization|-4.7</a:t>
                      </a:r>
                    </a:p>
                  </a:txBody>
                  <a:tcPr/>
                </a:tc>
              </a:tr>
              <a:tr h="640080">
                <a:tc>
                  <a:txBody>
                    <a:bodyPr/>
                    <a:lstStyle/>
                    <a:p>
                      <a:r>
                        <a:t>up_epi_only_SUB1_MCODE_3</a:t>
                      </a:r>
                    </a:p>
                  </a:txBody>
                  <a:tcPr/>
                </a:tc>
                <a:tc>
                  <a:txBody>
                    <a:bodyPr/>
                    <a:lstStyle/>
                    <a:p>
                      <a:r>
                        <a:t>R-HSA-3238698|WNT ligand biogenesis and trafficking|-11.2;hsa04310|Wnt signaling pathway|-10.5;hsa05217|Basal cell carcinoma|-9.6</a:t>
                      </a:r>
                    </a:p>
                  </a:txBody>
                  <a:tcPr/>
                </a:tc>
              </a:tr>
              <a:tr h="640080">
                <a:tc>
                  <a:txBody>
                    <a:bodyPr/>
                    <a:lstStyle/>
                    <a:p>
                      <a:r>
                        <a:t>up_epi_only_SUB1_MCODE_4</a:t>
                      </a:r>
                    </a:p>
                  </a:txBody>
                  <a:tcPr/>
                </a:tc>
                <a:tc>
                  <a:txBody>
                    <a:bodyPr/>
                    <a:lstStyle/>
                    <a:p>
                      <a:r>
                        <a:t>GO:0007043|cell-cell junction assembly|-11.2;GO:0034330|cell junction organization|-10.5;GO:0045216|cell-cell junction organization|-10.4</a:t>
                      </a:r>
                    </a:p>
                  </a:txBody>
                  <a:tcPr/>
                </a:tc>
              </a:tr>
              <a:tr h="640080">
                <a:tc>
                  <a:txBody>
                    <a:bodyPr/>
                    <a:lstStyle/>
                    <a:p>
                      <a:r>
                        <a:t>up_epi_only_SUB1_MCODE_5</a:t>
                      </a:r>
                    </a:p>
                  </a:txBody>
                  <a:tcPr/>
                </a:tc>
                <a:tc>
                  <a:txBody>
                    <a:bodyPr/>
                    <a:lstStyle/>
                    <a:p>
                      <a:r>
                        <a:t>M45|PID CD40 PATHWAY|-12.0;GO:0033209|tumor necrosis factor-mediated signaling pathway|-10.9;hsa05222|Small cell lung cancer|-10.1</a:t>
                      </a:r>
                    </a:p>
                  </a:txBody>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up_epi_only</a:t>
            </a:r>
          </a:p>
        </p:txBody>
      </p:sp>
      <p:pic>
        <p:nvPicPr>
          <p:cNvPr id="4" name="Picture 3" descr="up_epi_only_MCODE_ALL_PPIColorByCluster.png"/>
          <p:cNvPicPr>
            <a:picLocks noChangeAspect="1"/>
          </p:cNvPicPr>
          <p:nvPr/>
        </p:nvPicPr>
        <p:blipFill>
          <a:blip r:embed="rId2"/>
          <a:stretch>
            <a:fillRect/>
          </a:stretch>
        </p:blipFill>
        <p:spPr>
          <a:xfrm>
            <a:off x="640080" y="1745275"/>
            <a:ext cx="10911535" cy="496102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up_epi_only</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up_epi_only_PPIColorByCluster.png"/>
          <p:cNvPicPr>
            <a:picLocks noChangeAspect="1"/>
          </p:cNvPicPr>
          <p:nvPr/>
        </p:nvPicPr>
        <p:blipFill>
          <a:blip r:embed="rId2"/>
          <a:stretch>
            <a:fillRect/>
          </a:stretch>
        </p:blipFill>
        <p:spPr>
          <a:xfrm>
            <a:off x="2856973" y="1665465"/>
            <a:ext cx="6477749" cy="512064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up_common_genes</a:t>
            </a:r>
          </a:p>
        </p:txBody>
      </p:sp>
      <p:graphicFrame>
        <p:nvGraphicFramePr>
          <p:cNvPr id="4" name="Table 3"/>
          <p:cNvGraphicFramePr>
            <a:graphicFrameLocks noGrp="1"/>
          </p:cNvGraphicFramePr>
          <p:nvPr/>
        </p:nvGraphicFramePr>
        <p:xfrm>
          <a:off x="640080" y="1665465"/>
          <a:ext cx="10911535" cy="465836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640080">
                <a:tc>
                  <a:txBody>
                    <a:bodyPr/>
                    <a:lstStyle/>
                    <a:p>
                      <a:r>
                        <a:t>up_common_genes</a:t>
                      </a:r>
                    </a:p>
                  </a:txBody>
                  <a:tcPr/>
                </a:tc>
                <a:tc>
                  <a:txBody>
                    <a:bodyPr/>
                    <a:lstStyle/>
                    <a:p>
                      <a:r>
                        <a:t>M5930|HALLMARK EPITHELIAL MESENCHYMAL TRANSITION|-28.6;GO:0035239|tube morphogenesis|-21.9;GO:0001944|vasculature development|-21.8</a:t>
                      </a:r>
                    </a:p>
                  </a:txBody>
                  <a:tcPr/>
                </a:tc>
              </a:tr>
              <a:tr h="640080">
                <a:tc>
                  <a:txBody>
                    <a:bodyPr/>
                    <a:lstStyle/>
                    <a:p>
                      <a:r>
                        <a:t>up_common_genes_MCODE_ALL</a:t>
                      </a:r>
                    </a:p>
                  </a:txBody>
                  <a:tcPr/>
                </a:tc>
                <a:tc>
                  <a:txBody>
                    <a:bodyPr/>
                    <a:lstStyle/>
                    <a:p>
                      <a:r>
                        <a:t>GO:0030029|actin filament-based process|-22.0;GO:0030036|actin cytoskeleton organization|-21.4;M5930|HALLMARK EPITHELIAL MESENCHYMAL TRANSITION|-17.9</a:t>
                      </a:r>
                    </a:p>
                  </a:txBody>
                  <a:tcPr/>
                </a:tc>
              </a:tr>
              <a:tr h="640080">
                <a:tc>
                  <a:txBody>
                    <a:bodyPr/>
                    <a:lstStyle/>
                    <a:p>
                      <a:r>
                        <a:t>up_common_genes_SUB1_MCODE_1</a:t>
                      </a:r>
                    </a:p>
                  </a:txBody>
                  <a:tcPr/>
                </a:tc>
                <a:tc>
                  <a:txBody>
                    <a:bodyPr/>
                    <a:lstStyle/>
                    <a:p>
                      <a:r>
                        <a:t>R-HSA-76002|Platelet activation, signaling and aggregation|-10.7;GO:0061061|muscle structure development|-10.4;M286|PID TGFBR PATHWAY|-10.4</a:t>
                      </a:r>
                    </a:p>
                  </a:txBody>
                  <a:tcPr/>
                </a:tc>
              </a:tr>
              <a:tr h="640080">
                <a:tc>
                  <a:txBody>
                    <a:bodyPr/>
                    <a:lstStyle/>
                    <a:p>
                      <a:r>
                        <a:t>up_common_genes_SUB1_MCODE_2</a:t>
                      </a:r>
                    </a:p>
                  </a:txBody>
                  <a:tcPr/>
                </a:tc>
                <a:tc>
                  <a:txBody>
                    <a:bodyPr/>
                    <a:lstStyle/>
                    <a:p>
                      <a:r>
                        <a:t>M53|PID INTEGRIN3 PATHWAY|-9.1;GO:0001568|blood vessel development|-8.3;GO:0001944|vasculature development|-8.2</a:t>
                      </a:r>
                    </a:p>
                  </a:txBody>
                  <a:tcPr/>
                </a:tc>
              </a:tr>
              <a:tr h="640080">
                <a:tc>
                  <a:txBody>
                    <a:bodyPr/>
                    <a:lstStyle/>
                    <a:p>
                      <a:r>
                        <a:t>up_common_genes_SUB1_MCODE_3</a:t>
                      </a:r>
                    </a:p>
                  </a:txBody>
                  <a:tcPr/>
                </a:tc>
                <a:tc>
                  <a:txBody>
                    <a:bodyPr/>
                    <a:lstStyle/>
                    <a:p>
                      <a:r>
                        <a:t>GO:0006886|intracellular protein transport|-3.8;GO:0000226|microtubule cytoskeleton organization|-3.7;GO:0097435|supramolecular fiber organization|-3.6</a:t>
                      </a:r>
                    </a:p>
                  </a:txBody>
                  <a:tcPr/>
                </a:tc>
              </a:tr>
              <a:tr h="640080">
                <a:tc>
                  <a:txBody>
                    <a:bodyPr/>
                    <a:lstStyle/>
                    <a:p>
                      <a:r>
                        <a:t>up_common_genes_SUB1_MCODE_4</a:t>
                      </a:r>
                    </a:p>
                  </a:txBody>
                  <a:tcPr/>
                </a:tc>
                <a:tc>
                  <a:txBody>
                    <a:bodyPr/>
                    <a:lstStyle/>
                    <a:p>
                      <a:r>
                        <a:t>M16801|SIG REGULATION OF THE ACTIN CYTOSKELETON BY RHO GTPASES|-10.7;GO:0030036|actin cytoskeleton organization|-10.5;GO:0030029|actin filament-based process|-10.2</a:t>
                      </a:r>
                    </a:p>
                  </a:txBody>
                  <a:tcPr/>
                </a:tc>
              </a:tr>
              <a:tr h="640080">
                <a:tc>
                  <a:txBody>
                    <a:bodyPr/>
                    <a:lstStyle/>
                    <a:p>
                      <a:r>
                        <a:t>up_common_genes_SUB1_MCODE_5</a:t>
                      </a:r>
                    </a:p>
                  </a:txBody>
                  <a:tcPr/>
                </a:tc>
                <a:tc>
                  <a:txBody>
                    <a:bodyPr/>
                    <a:lstStyle/>
                    <a:p>
                      <a:r>
                        <a:t>hsa04814|Motor proteins|-10.2;GO:0030029|actin filament-based process|-10.2;GO:0030036|actin cytoskeleton organization|-8.0</a:t>
                      </a:r>
                    </a:p>
                  </a:txBody>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up_common_genes</a:t>
            </a:r>
          </a:p>
        </p:txBody>
      </p:sp>
      <p:pic>
        <p:nvPicPr>
          <p:cNvPr id="4" name="Picture 3" descr="up_common_genes_MCODE_ALL_PPIColorByCluster.png"/>
          <p:cNvPicPr>
            <a:picLocks noChangeAspect="1"/>
          </p:cNvPicPr>
          <p:nvPr/>
        </p:nvPicPr>
        <p:blipFill>
          <a:blip r:embed="rId2"/>
          <a:stretch>
            <a:fillRect/>
          </a:stretch>
        </p:blipFill>
        <p:spPr>
          <a:xfrm>
            <a:off x="640080" y="1665772"/>
            <a:ext cx="10911535" cy="5120027"/>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up_common_genes</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up_common_genes_PPIColorByCluster.png"/>
          <p:cNvPicPr>
            <a:picLocks noChangeAspect="1"/>
          </p:cNvPicPr>
          <p:nvPr/>
        </p:nvPicPr>
        <p:blipFill>
          <a:blip r:embed="rId2"/>
          <a:stretch>
            <a:fillRect/>
          </a:stretch>
        </p:blipFill>
        <p:spPr>
          <a:xfrm>
            <a:off x="3038853" y="1665465"/>
            <a:ext cx="6113988" cy="512064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down_mes_up_epi</a:t>
            </a:r>
          </a:p>
        </p:txBody>
      </p:sp>
      <p:graphicFrame>
        <p:nvGraphicFramePr>
          <p:cNvPr id="4" name="Table 3"/>
          <p:cNvGraphicFramePr>
            <a:graphicFrameLocks noGrp="1"/>
          </p:cNvGraphicFramePr>
          <p:nvPr/>
        </p:nvGraphicFramePr>
        <p:xfrm>
          <a:off x="640080" y="1665465"/>
          <a:ext cx="10911535" cy="444500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853440">
                <a:tc>
                  <a:txBody>
                    <a:bodyPr/>
                    <a:lstStyle/>
                    <a:p>
                      <a:r>
                        <a:t>down_mes_up_epi</a:t>
                      </a:r>
                    </a:p>
                  </a:txBody>
                  <a:tcPr/>
                </a:tc>
                <a:tc>
                  <a:txBody>
                    <a:bodyPr/>
                    <a:lstStyle/>
                    <a:p>
                      <a:r>
                        <a:t>M5890|HALLMARK TNFA SIGNALING VIA NFKB|-22.1;R-HSA-1280215|Cytokine Signaling in Immune system|-17.7;M5913|HALLMARK INTERFERON GAMMA RESPONSE|-15.0</a:t>
                      </a:r>
                    </a:p>
                  </a:txBody>
                  <a:tcPr/>
                </a:tc>
              </a:tr>
              <a:tr h="853440">
                <a:tc>
                  <a:txBody>
                    <a:bodyPr/>
                    <a:lstStyle/>
                    <a:p>
                      <a:r>
                        <a:t>down_mes_up_epi_MCODE_ALL</a:t>
                      </a:r>
                    </a:p>
                  </a:txBody>
                  <a:tcPr/>
                </a:tc>
                <a:tc>
                  <a:txBody>
                    <a:bodyPr/>
                    <a:lstStyle/>
                    <a:p>
                      <a:r>
                        <a:t>R-HSA-1280215|Cytokine Signaling in Immune system|-9.3;R-HSA-909733|Interferon alpha/beta signaling|-7.4;WP619|Type II interferon signaling|-6.2</a:t>
                      </a:r>
                    </a:p>
                  </a:txBody>
                  <a:tcPr/>
                </a:tc>
              </a:tr>
              <a:tr h="853440">
                <a:tc>
                  <a:txBody>
                    <a:bodyPr/>
                    <a:lstStyle/>
                    <a:p>
                      <a:r>
                        <a:t>down_mes_up_epi_SUB1_MCODE_1</a:t>
                      </a:r>
                    </a:p>
                  </a:txBody>
                  <a:tcPr/>
                </a:tc>
                <a:tc>
                  <a:txBody>
                    <a:bodyPr/>
                    <a:lstStyle/>
                    <a:p>
                      <a:r>
                        <a:t>R-HSA-2173793|Transcriptional activity of SMAD2/SMAD3:SMAD4 heterotrimer|-7.0;R-HSA-174084|Autodegradation of Cdh1 by Cdh1:APC/C|-6.8;R-HSA-69017|CDK-mediated phosphorylation and removal of Cdc6|-6.6</a:t>
                      </a:r>
                    </a:p>
                  </a:txBody>
                  <a:tcPr/>
                </a:tc>
              </a:tr>
              <a:tr h="853440">
                <a:tc>
                  <a:txBody>
                    <a:bodyPr/>
                    <a:lstStyle/>
                    <a:p>
                      <a:r>
                        <a:t>down_mes_up_epi_SUB1_MCODE_2</a:t>
                      </a:r>
                    </a:p>
                  </a:txBody>
                  <a:tcPr/>
                </a:tc>
                <a:tc>
                  <a:txBody>
                    <a:bodyPr/>
                    <a:lstStyle/>
                    <a:p>
                      <a:r>
                        <a:t>R-HSA-418594|G alpha (i) signalling events|-7.9;R-HSA-373076|Class A/1 (Rhodopsin-like receptors)|-7.8;R-HSA-500792|GPCR ligand binding|-7.2</a:t>
                      </a:r>
                    </a:p>
                  </a:txBody>
                  <a:tcPr/>
                </a:tc>
              </a:tr>
              <a:tr h="853440">
                <a:tc>
                  <a:txBody>
                    <a:bodyPr/>
                    <a:lstStyle/>
                    <a:p>
                      <a:r>
                        <a:t>down_mes_up_epi_SUB1_MCODE_3</a:t>
                      </a:r>
                    </a:p>
                  </a:txBody>
                  <a:tcPr/>
                </a:tc>
                <a:tc>
                  <a:txBody>
                    <a:bodyPr/>
                    <a:lstStyle/>
                    <a:p>
                      <a:r>
                        <a:t>R-HSA-909733|Interferon alpha/beta signaling|-10.4;R-HSA-913531|Interferon Signaling|-8.2;R-HSA-877300|Interferon gamma signaling|-6.9</a:t>
                      </a:r>
                    </a:p>
                  </a:txBody>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down_mes_up_epi</a:t>
            </a:r>
          </a:p>
        </p:txBody>
      </p:sp>
      <p:pic>
        <p:nvPicPr>
          <p:cNvPr id="4" name="Picture 3" descr="down_mes_up_epi_MCODE_ALL_PPIColorByCluster.png"/>
          <p:cNvPicPr>
            <a:picLocks noChangeAspect="1"/>
          </p:cNvPicPr>
          <p:nvPr/>
        </p:nvPicPr>
        <p:blipFill>
          <a:blip r:embed="rId2"/>
          <a:stretch>
            <a:fillRect/>
          </a:stretch>
        </p:blipFill>
        <p:spPr>
          <a:xfrm>
            <a:off x="640080" y="2071491"/>
            <a:ext cx="10911535" cy="4308589"/>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down_mes_up_epi</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down_mes_up_epi_PPIColorByCluster.png"/>
          <p:cNvPicPr>
            <a:picLocks noChangeAspect="1"/>
          </p:cNvPicPr>
          <p:nvPr/>
        </p:nvPicPr>
        <p:blipFill>
          <a:blip r:embed="rId2"/>
          <a:stretch>
            <a:fillRect/>
          </a:stretch>
        </p:blipFill>
        <p:spPr>
          <a:xfrm>
            <a:off x="1709726" y="1665465"/>
            <a:ext cx="8772243" cy="512064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down_mes_only</a:t>
            </a:r>
          </a:p>
        </p:txBody>
      </p:sp>
      <p:graphicFrame>
        <p:nvGraphicFramePr>
          <p:cNvPr id="4" name="Table 3"/>
          <p:cNvGraphicFramePr>
            <a:graphicFrameLocks noGrp="1"/>
          </p:cNvGraphicFramePr>
          <p:nvPr/>
        </p:nvGraphicFramePr>
        <p:xfrm>
          <a:off x="640080" y="1665465"/>
          <a:ext cx="10911535" cy="465836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640080">
                <a:tc>
                  <a:txBody>
                    <a:bodyPr/>
                    <a:lstStyle/>
                    <a:p>
                      <a:r>
                        <a:t>down_mes_only</a:t>
                      </a:r>
                    </a:p>
                  </a:txBody>
                  <a:tcPr/>
                </a:tc>
                <a:tc>
                  <a:txBody>
                    <a:bodyPr/>
                    <a:lstStyle/>
                    <a:p>
                      <a:r>
                        <a:t>GO:0060322|head development|-11.2;GO:0007420|brain development|-9.8;GO:0009725|response to hormone|-8.4</a:t>
                      </a:r>
                    </a:p>
                  </a:txBody>
                  <a:tcPr/>
                </a:tc>
              </a:tr>
              <a:tr h="640080">
                <a:tc>
                  <a:txBody>
                    <a:bodyPr/>
                    <a:lstStyle/>
                    <a:p>
                      <a:r>
                        <a:t>down_mes_only_MCODE_ALL</a:t>
                      </a:r>
                    </a:p>
                  </a:txBody>
                  <a:tcPr/>
                </a:tc>
                <a:tc>
                  <a:txBody>
                    <a:bodyPr/>
                    <a:lstStyle/>
                    <a:p>
                      <a:r>
                        <a:t>R-HSA-5083635|Defective B3GALTL causes PpS|-12.0;R-HSA-5173214|O-glycosylation of TSR domain-containing proteins|-11.9;hsa04919|Thyroid hormone signaling pathway|-10.7</a:t>
                      </a:r>
                    </a:p>
                  </a:txBody>
                  <a:tcPr/>
                </a:tc>
              </a:tr>
              <a:tr h="640080">
                <a:tc>
                  <a:txBody>
                    <a:bodyPr/>
                    <a:lstStyle/>
                    <a:p>
                      <a:r>
                        <a:t>down_mes_only_SUB1_MCODE_1</a:t>
                      </a:r>
                    </a:p>
                  </a:txBody>
                  <a:tcPr/>
                </a:tc>
                <a:tc>
                  <a:txBody>
                    <a:bodyPr/>
                    <a:lstStyle/>
                    <a:p>
                      <a:r>
                        <a:t>R-HSA-5083635|Defective B3GALTL causes PpS|-17.7;R-HSA-5173214|O-glycosylation of TSR domain-containing proteins|-17.6;R-HSA-3906995|Diseases associated with O-glycosylation of proteins|-16.0</a:t>
                      </a:r>
                    </a:p>
                  </a:txBody>
                  <a:tcPr/>
                </a:tc>
              </a:tr>
              <a:tr h="640080">
                <a:tc>
                  <a:txBody>
                    <a:bodyPr/>
                    <a:lstStyle/>
                    <a:p>
                      <a:r>
                        <a:t>down_mes_only_SUB1_MCODE_2</a:t>
                      </a:r>
                    </a:p>
                  </a:txBody>
                  <a:tcPr/>
                </a:tc>
                <a:tc>
                  <a:txBody>
                    <a:bodyPr/>
                    <a:lstStyle/>
                    <a:p>
                      <a:r>
                        <a:t>M13404|BIOCARTA VDR PATHWAY|-11.3;WP4204|Tumor suppressor activity of SMARCB1|-7.7;GO:0006338|chromatin remodeling|-7.6</a:t>
                      </a:r>
                    </a:p>
                  </a:txBody>
                  <a:tcPr/>
                </a:tc>
              </a:tr>
              <a:tr h="640080">
                <a:tc>
                  <a:txBody>
                    <a:bodyPr/>
                    <a:lstStyle/>
                    <a:p>
                      <a:r>
                        <a:t>down_mes_only_SUB1_MCODE_3</a:t>
                      </a:r>
                    </a:p>
                  </a:txBody>
                  <a:tcPr/>
                </a:tc>
                <a:tc>
                  <a:txBody>
                    <a:bodyPr/>
                    <a:lstStyle/>
                    <a:p>
                      <a:r>
                        <a:t>R-HSA-909733|Interferon alpha/beta signaling|-13.0;M5913|HALLMARK INTERFERON GAMMA RESPONSE|-10.9;R-HSA-913531|Interferon Signaling|-10.3</a:t>
                      </a:r>
                    </a:p>
                  </a:txBody>
                  <a:tcPr/>
                </a:tc>
              </a:tr>
              <a:tr h="640080">
                <a:tc>
                  <a:txBody>
                    <a:bodyPr/>
                    <a:lstStyle/>
                    <a:p>
                      <a:r>
                        <a:t>down_mes_only_SUB1_MCODE_4</a:t>
                      </a:r>
                    </a:p>
                  </a:txBody>
                  <a:tcPr/>
                </a:tc>
                <a:tc>
                  <a:txBody>
                    <a:bodyPr/>
                    <a:lstStyle/>
                    <a:p>
                      <a:r>
                        <a:t>GO:0048013|ephrin receptor signaling pathway|-10.5;R-HSA-3928665|EPH-ephrin mediated repulsion of cells|-10.4;R-HSA-2682334|EPH-Ephrin signaling|-9.4</a:t>
                      </a:r>
                    </a:p>
                  </a:txBody>
                  <a:tcPr/>
                </a:tc>
              </a:tr>
              <a:tr h="640080">
                <a:tc>
                  <a:txBody>
                    <a:bodyPr/>
                    <a:lstStyle/>
                    <a:p>
                      <a:r>
                        <a:t>down_mes_only_SUB1_MCODE_5</a:t>
                      </a:r>
                    </a:p>
                  </a:txBody>
                  <a:tcPr/>
                </a:tc>
                <a:tc>
                  <a:txBody>
                    <a:bodyPr/>
                    <a:lstStyle/>
                    <a:p>
                      <a:r>
                        <a:t>GO:0060261|positive regulation of transcription initiation by RNA polymerase II|-7.5;GO:2000144|positive regulation of DNA-templated transcription initiation|-7.4;GO:0060260|regulation of transcription initiation by RNA polymerase II|-7.3</a:t>
                      </a:r>
                    </a:p>
                  </a:txBody>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down_mes_only</a:t>
            </a:r>
          </a:p>
        </p:txBody>
      </p:sp>
      <p:pic>
        <p:nvPicPr>
          <p:cNvPr id="4" name="Picture 3" descr="down_mes_only_MCODE_ALL_PPIColorByCluster.png"/>
          <p:cNvPicPr>
            <a:picLocks noChangeAspect="1"/>
          </p:cNvPicPr>
          <p:nvPr/>
        </p:nvPicPr>
        <p:blipFill>
          <a:blip r:embed="rId2"/>
          <a:stretch>
            <a:fillRect/>
          </a:stretch>
        </p:blipFill>
        <p:spPr>
          <a:xfrm>
            <a:off x="640080" y="1871402"/>
            <a:ext cx="10911535" cy="4708767"/>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down_mes_only</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down_mes_only_PPIColorByCluster.png"/>
          <p:cNvPicPr>
            <a:picLocks noChangeAspect="1"/>
          </p:cNvPicPr>
          <p:nvPr/>
        </p:nvPicPr>
        <p:blipFill>
          <a:blip r:embed="rId2"/>
          <a:stretch>
            <a:fillRect/>
          </a:stretch>
        </p:blipFill>
        <p:spPr>
          <a:xfrm>
            <a:off x="1779680" y="1665465"/>
            <a:ext cx="8632335" cy="512064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down_epi_only</a:t>
            </a:r>
          </a:p>
        </p:txBody>
      </p:sp>
      <p:graphicFrame>
        <p:nvGraphicFramePr>
          <p:cNvPr id="4" name="Table 3"/>
          <p:cNvGraphicFramePr>
            <a:graphicFrameLocks noGrp="1"/>
          </p:cNvGraphicFramePr>
          <p:nvPr/>
        </p:nvGraphicFramePr>
        <p:xfrm>
          <a:off x="640080" y="1665465"/>
          <a:ext cx="10911535" cy="45669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731520">
                <a:tc>
                  <a:txBody>
                    <a:bodyPr/>
                    <a:lstStyle/>
                    <a:p>
                      <a:r>
                        <a:t>down_epi_only</a:t>
                      </a:r>
                    </a:p>
                  </a:txBody>
                  <a:tcPr/>
                </a:tc>
                <a:tc>
                  <a:txBody>
                    <a:bodyPr/>
                    <a:lstStyle/>
                    <a:p>
                      <a:r>
                        <a:t>GO:0044282|small molecule catabolic process|-16.1;GO:0046395|carboxylic acid catabolic process|-12.7;GO:0016054|organic acid catabolic process|-12.7</a:t>
                      </a:r>
                    </a:p>
                  </a:txBody>
                  <a:tcPr/>
                </a:tc>
              </a:tr>
              <a:tr h="731520">
                <a:tc>
                  <a:txBody>
                    <a:bodyPr/>
                    <a:lstStyle/>
                    <a:p>
                      <a:r>
                        <a:t>down_epi_only_MCODE_ALL</a:t>
                      </a:r>
                    </a:p>
                  </a:txBody>
                  <a:tcPr/>
                </a:tc>
                <a:tc>
                  <a:txBody>
                    <a:bodyPr/>
                    <a:lstStyle/>
                    <a:p>
                      <a:r>
                        <a:t>M5935|HALLMARK FATTY ACID METABOLISM|-9.6;GO:0043604|amide biosynthetic process|-8.8;WP3942|PPAR signaling pathway|-8.8</a:t>
                      </a:r>
                    </a:p>
                  </a:txBody>
                  <a:tcPr/>
                </a:tc>
              </a:tr>
              <a:tr h="731520">
                <a:tc>
                  <a:txBody>
                    <a:bodyPr/>
                    <a:lstStyle/>
                    <a:p>
                      <a:r>
                        <a:t>down_epi_only_SUB1_MCODE_1</a:t>
                      </a:r>
                    </a:p>
                  </a:txBody>
                  <a:tcPr/>
                </a:tc>
                <a:tc>
                  <a:txBody>
                    <a:bodyPr/>
                    <a:lstStyle/>
                    <a:p>
                      <a:r>
                        <a:t>M5935|HALLMARK FATTY ACID METABOLISM|-8.6;GO:0044283|small molecule biosynthetic process|-7.3;WP4583|Biomarkers for urea cycle disorders|-7.0</a:t>
                      </a:r>
                    </a:p>
                  </a:txBody>
                  <a:tcPr/>
                </a:tc>
              </a:tr>
              <a:tr h="731520">
                <a:tc>
                  <a:txBody>
                    <a:bodyPr/>
                    <a:lstStyle/>
                    <a:p>
                      <a:r>
                        <a:t>down_epi_only_SUB1_MCODE_2</a:t>
                      </a:r>
                    </a:p>
                  </a:txBody>
                  <a:tcPr/>
                </a:tc>
                <a:tc>
                  <a:txBody>
                    <a:bodyPr/>
                    <a:lstStyle/>
                    <a:p>
                      <a:r>
                        <a:t>GO:0009152|purine ribonucleotide biosynthetic process|-5.6;GO:0009260|ribonucleotide biosynthetic process|-5.5;GO:0046390|ribose phosphate biosynthetic process|-5.4</a:t>
                      </a:r>
                    </a:p>
                  </a:txBody>
                  <a:tcPr/>
                </a:tc>
              </a:tr>
              <a:tr h="731520">
                <a:tc>
                  <a:txBody>
                    <a:bodyPr/>
                    <a:lstStyle/>
                    <a:p>
                      <a:r>
                        <a:t>down_epi_only_SUB1_MCODE_3</a:t>
                      </a:r>
                    </a:p>
                  </a:txBody>
                  <a:tcPr/>
                </a:tc>
                <a:tc>
                  <a:txBody>
                    <a:bodyPr/>
                    <a:lstStyle/>
                    <a:p>
                      <a:r>
                        <a:t>R-HSA-5419276|Mitochondrial translation termination|-9.0;R-HSA-5368287|Mitochondrial translation|-8.9;GO:0032543|mitochondrial translation|-8.6</a:t>
                      </a:r>
                    </a:p>
                  </a:txBody>
                  <a:tcPr/>
                </a:tc>
              </a:tr>
              <a:tr h="731520">
                <a:tc>
                  <a:txBody>
                    <a:bodyPr/>
                    <a:lstStyle/>
                    <a:p>
                      <a:r>
                        <a:t>down_epi_only_SUB1_MCODE_4</a:t>
                      </a:r>
                    </a:p>
                  </a:txBody>
                  <a:tcPr/>
                </a:tc>
                <a:tc>
                  <a:txBody>
                    <a:bodyPr/>
                    <a:lstStyle/>
                    <a:p>
                      <a:r>
                        <a:t>M5905|HALLMARK ADIPOGENESIS|-8.0</a:t>
                      </a:r>
                    </a:p>
                  </a:txBody>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down_epi_only</a:t>
            </a:r>
          </a:p>
        </p:txBody>
      </p:sp>
      <p:pic>
        <p:nvPicPr>
          <p:cNvPr id="4" name="Picture 3" descr="down_epi_only_MCODE_ALL_PPIColorByCluster.png"/>
          <p:cNvPicPr>
            <a:picLocks noChangeAspect="1"/>
          </p:cNvPicPr>
          <p:nvPr/>
        </p:nvPicPr>
        <p:blipFill>
          <a:blip r:embed="rId2"/>
          <a:stretch>
            <a:fillRect/>
          </a:stretch>
        </p:blipFill>
        <p:spPr>
          <a:xfrm>
            <a:off x="2542179" y="1665465"/>
            <a:ext cx="7107336" cy="512064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down_epi_only</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down_epi_only_PPIColorByCluster.png"/>
          <p:cNvPicPr>
            <a:picLocks noChangeAspect="1"/>
          </p:cNvPicPr>
          <p:nvPr/>
        </p:nvPicPr>
        <p:blipFill>
          <a:blip r:embed="rId2"/>
          <a:stretch>
            <a:fillRect/>
          </a:stretch>
        </p:blipFill>
        <p:spPr>
          <a:xfrm>
            <a:off x="800322" y="1665465"/>
            <a:ext cx="10591050" cy="5120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1766</TotalTime>
  <Words>1993</Words>
  <Application>Microsoft Office PowerPoint</Application>
  <PresentationFormat>Widescreen</PresentationFormat>
  <Paragraphs>123</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宋体</vt:lpstr>
      <vt:lpstr>Arial</vt:lpstr>
      <vt:lpstr>Calibri</vt:lpstr>
      <vt:lpstr>Office Theme</vt:lpstr>
      <vt:lpstr>PowerPoint Presentation</vt:lpstr>
      <vt:lpstr>Gene List Summary</vt:lpstr>
      <vt:lpstr>Gene Overlap Analysis</vt:lpstr>
      <vt:lpstr>Membership Analysis</vt:lpstr>
      <vt:lpstr>Gene Overlap Analysis Expanded via Shared Enriched Ontologies</vt:lpstr>
      <vt:lpstr>Enriched Ontology Clusters Across Studies</vt:lpstr>
      <vt:lpstr>Enriched Ontology Clusters Colored by Cluster ID</vt:lpstr>
      <vt:lpstr>Enriched Ontology Clusters Colored by p-Value</vt:lpstr>
      <vt:lpstr>Enriched Ontology Clusters Pied by Gene Counts Across Studies</vt:lpstr>
      <vt:lpstr>Protein-protein Interaction Network</vt:lpstr>
      <vt:lpstr>PPI MCODE Components</vt:lpstr>
      <vt:lpstr>Biological Interpretation PPI Network &amp; MCODE Components</vt:lpstr>
      <vt:lpstr>PPI Network for Lists Merged Pied by Gene Origin in Studies </vt:lpstr>
      <vt:lpstr>PPI Network for Lists Merged Colored by MCODE ID</vt:lpstr>
      <vt:lpstr>PowerPoint Presentation</vt:lpstr>
      <vt:lpstr>MCODE for Lists Merged Pied by Gene Origin in Studies</vt:lpstr>
      <vt:lpstr>Biological Interpretation MCODE Components for Lists Merged</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2021-12-03T05:56:47Z</dcterms:modified>
</cp:coreProperties>
</file>