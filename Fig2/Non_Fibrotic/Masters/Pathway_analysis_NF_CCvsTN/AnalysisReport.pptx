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77" r:id="rId2"/>
    <p:sldId id="257" r:id="rId3"/>
    <p:sldId id="267" r:id="rId4"/>
    <p:sldId id="268" r:id="rId6"/>
    <p:sldId id="261" r:id="rId7"/>
    <p:sldId id="262" r:id="rId8"/>
    <p:sldId id="265" r:id="rId9"/>
    <p:sldId id="269" r:id="rId10"/>
    <p:sldId id="263" r:id="rId11"/>
    <p:sldId id="266" r:id="rId12"/>
    <p:sldId id="264" r:id="rId13"/>
    <p:sldId id="300" r:id="rId46"/>
    <p:sldId id="299" r:id="rId45"/>
    <p:sldId id="298" r:id="rId44"/>
    <p:sldId id="297" r:id="rId43"/>
    <p:sldId id="296" r:id="rId42"/>
    <p:sldId id="295" r:id="rId41"/>
    <p:sldId id="294" r:id="rId40"/>
    <p:sldId id="293" r:id="rId39"/>
    <p:sldId id="292" r:id="rId38"/>
    <p:sldId id="291" r:id="rId37"/>
    <p:sldId id="290" r:id="rId36"/>
    <p:sldId id="289" r:id="rId35"/>
    <p:sldId id="288" r:id="rId34"/>
    <p:sldId id="287" r:id="rId33"/>
    <p:sldId id="286" r:id="rId32"/>
    <p:sldId id="285" r:id="rId31"/>
    <p:sldId id="284" r:id="rId30"/>
    <p:sldId id="283" r:id="rId29"/>
    <p:sldId id="282" r:id="rId28"/>
    <p:sldId id="281" r:id="rId27"/>
    <p:sldId id="280" r:id="rId26"/>
    <p:sldId id="276" r:id="rId19"/>
    <p:sldId id="27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 Type="http://schemas.openxmlformats.org/officeDocument/2006/relationships/slide" Target="slides/slide1.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 Type="http://schemas.openxmlformats.org/officeDocument/2006/relationships/slide" Target="slides/slide2.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 Type="http://schemas.openxmlformats.org/officeDocument/2006/relationships/slide" Target="slides/slide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analysis</a:t>
            </a:r>
            <a:r>
              <a:rPr lang="en-US" baseline="0" dirty="0" smtClean="0"/>
              <a:t> report is automatically generated by Metascape (https://metascape.org).</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83003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first</a:t>
            </a:r>
            <a:r>
              <a:rPr lang="en-US" baseline="0" dirty="0" smtClean="0"/>
              <a:t> </a:t>
            </a:r>
            <a:r>
              <a:rPr lang="en-US" dirty="0" smtClean="0"/>
              <a:t>automatically </a:t>
            </a:r>
            <a:r>
              <a:rPr lang="en-US" baseline="0" dirty="0" smtClean="0"/>
              <a:t>converts you input identifiers (</a:t>
            </a:r>
            <a:r>
              <a:rPr lang="en-US" baseline="0" dirty="0" err="1" smtClean="0"/>
              <a:t>Entrez</a:t>
            </a:r>
            <a:r>
              <a:rPr lang="en-US" baseline="0" dirty="0" smtClean="0"/>
              <a:t> Gene 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Symbol) into Human </a:t>
            </a:r>
            <a:r>
              <a:rPr lang="en-US" baseline="0" dirty="0" err="1" smtClean="0"/>
              <a:t>Entrez</a:t>
            </a:r>
            <a:r>
              <a:rPr lang="en-US" baseline="0" dirty="0" smtClean="0"/>
              <a:t> Gene ID.  For example, input identifiers can be from human, mouse or rat </a:t>
            </a:r>
            <a:r>
              <a:rPr lang="en-US" baseline="0" dirty="0" err="1" smtClean="0"/>
              <a:t>orthologs</a:t>
            </a:r>
            <a:r>
              <a:rPr lang="en-US" baseline="0" dirty="0" smtClean="0"/>
              <a:t>, which can be mapped into human (or “analysis as” species) based on 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baseline="0" dirty="0" smtClean="0"/>
          </a:p>
          <a:p>
            <a:r>
              <a:rPr lang="en-US" baseline="0" dirty="0" smtClean="0"/>
              <a:t>The background of each row is the color code used in the various plots within this report, where each color is consistently used to code a corresponding gene list.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a:t>
            </a:r>
            <a:r>
              <a:rPr lang="en-US" dirty="0" err="1" smtClean="0"/>
              <a:t>Circos</a:t>
            </a:r>
            <a:r>
              <a:rPr lang="en-US" baseline="0" dirty="0" smtClean="0"/>
              <a:t> plot shows how genes from the input gene lists overlap.</a:t>
            </a:r>
          </a:p>
          <a:p>
            <a:endParaRPr lang="en-US" baseline="0" dirty="0" smtClean="0"/>
          </a:p>
          <a:p>
            <a:r>
              <a:rPr lang="en-US" baseline="0" dirty="0" smtClean="0"/>
              <a:t>On the outside, each arc represents the identity of each gene list, using the same color code as the color used for table rows in slide #2.</a:t>
            </a:r>
          </a:p>
          <a:p>
            <a:endParaRPr lang="en-US" baseline="0" dirty="0" smtClean="0"/>
          </a:p>
          <a:p>
            <a:r>
              <a:rPr lang="en-US" baseline="0" dirty="0" smtClean="0"/>
              <a:t>On the inside, each arc represents a gene list, where each gene member of that list is assigned a spot on the arc.  Dark orange color represents the genes that are shared by multiple lists and light orange color represents genes that are unique to that gene list.</a:t>
            </a:r>
          </a:p>
          <a:p>
            <a:endParaRPr lang="en-US" baseline="0" dirty="0" smtClean="0"/>
          </a:p>
          <a:p>
            <a:r>
              <a:rPr lang="en-US" baseline="0" dirty="0" smtClean="0"/>
              <a:t>Purple lines link the same gene that are shared by multiple gene lists (notice a gene that appears in two gene lists will be mapped once onto each gene list, therefore, the two positions are purple linked).</a:t>
            </a:r>
          </a:p>
          <a:p>
            <a:endParaRPr lang="en-US" baseline="0" dirty="0" smtClean="0"/>
          </a:p>
          <a:p>
            <a:r>
              <a:rPr lang="en-US" baseline="0" dirty="0" smtClean="0"/>
              <a:t>The greater the number of purple links and the longer the dark orange arcs implies greater overlap among the input gene lists.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01090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distribution.</a:t>
            </a:r>
          </a:p>
          <a:p>
            <a:r>
              <a:rPr lang="en-US" baseline="0" dirty="0" smtClean="0"/>
              <a:t>By 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a:t>
            </a:r>
            <a:r>
              <a:rPr lang="en-US" dirty="0" err="1" smtClean="0"/>
              <a:t>Circos</a:t>
            </a:r>
            <a:r>
              <a:rPr lang="en-US" baseline="0" dirty="0" smtClean="0"/>
              <a:t> plot shows how genes from the input gene lists overlap.</a:t>
            </a:r>
          </a:p>
          <a:p>
            <a:endParaRPr lang="en-US" baseline="0" dirty="0" smtClean="0"/>
          </a:p>
          <a:p>
            <a:r>
              <a:rPr lang="en-US" baseline="0" dirty="0" smtClean="0"/>
              <a:t>On the outside, each arc represents the identity of each gene list, using the same color code as the color used for table rows in slide #2.</a:t>
            </a:r>
          </a:p>
          <a:p>
            <a:endParaRPr lang="en-US" baseline="0" dirty="0" smtClean="0"/>
          </a:p>
          <a:p>
            <a:r>
              <a:rPr lang="en-US" baseline="0" dirty="0" smtClean="0"/>
              <a:t>On the inside, each arc represents a gene list, where each gene member of that list is assigned a spot on the arc.  Dark orange color represents the genes that are shared by multiple lists and light orange color represents genes that are unique to that gene list.</a:t>
            </a:r>
          </a:p>
          <a:p>
            <a:endParaRPr lang="en-US" baseline="0" dirty="0" smtClean="0"/>
          </a:p>
          <a:p>
            <a:r>
              <a:rPr lang="en-US" baseline="0" dirty="0" smtClean="0"/>
              <a:t>Purple lines link the same gene that are shared by multiple gene lists (notice a gene that appears in two gene lists will be mapped once onto each gene list, therefore, the two positions are purple linked).  Blue lines link the genes, although different, fall under the same ontology term (the term has to statistically significantly enriched and with size no larger than 100).</a:t>
            </a:r>
          </a:p>
          <a:p>
            <a:endParaRPr lang="en-US" baseline="0" dirty="0" smtClean="0"/>
          </a:p>
          <a:p>
            <a:r>
              <a:rPr lang="en-US" baseline="0" dirty="0" smtClean="0"/>
              <a:t>The greater the number of purple links and the longer the dark orange arcs implies greater overlap among the input gene lists.  Blue links indicate the amount of functional overlap among the input gene lists.  It is common in meta-analysis that we observe little directly overlap among studies, due to the variations in the biological assays used.  However, we tend to see a lot more functional overlap, as these studies probably pick up different subset of gene members of the same biological processes.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3750659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the term with the best p-value within each cluster as its representative term and display them in a </a:t>
            </a:r>
            <a:r>
              <a:rPr lang="en-US" baseline="0" dirty="0" err="1" smtClean="0"/>
              <a:t>dendrogram</a:t>
            </a:r>
            <a:r>
              <a:rPr lang="en-US" baseline="0" dirty="0" smtClean="0"/>
              <a:t>. The </a:t>
            </a:r>
            <a:r>
              <a:rPr lang="en-US" baseline="0" dirty="0" err="1" smtClean="0"/>
              <a:t>heatmap</a:t>
            </a:r>
            <a:r>
              <a:rPr lang="en-US" baseline="0" dirty="0" smtClean="0"/>
              <a:t> cells are colored by their p-values, white cells indicate the lack of enrichment for that term in the corresponding gene list.  We also export files behind this </a:t>
            </a:r>
            <a:r>
              <a:rPr lang="en-US" baseline="0" dirty="0" err="1" smtClean="0"/>
              <a:t>heatmap</a:t>
            </a:r>
            <a:r>
              <a:rPr lang="en-US" baseline="0" dirty="0" smtClean="0"/>
              <a:t> (.</a:t>
            </a:r>
            <a:r>
              <a:rPr lang="en-US" baseline="0" dirty="0" err="1" smtClean="0"/>
              <a:t>cdt</a:t>
            </a:r>
            <a:r>
              <a:rPr lang="en-US" baseline="0" dirty="0" smtClean="0"/>
              <a:t>, .</a:t>
            </a:r>
            <a:r>
              <a:rPr lang="en-US" baseline="0" dirty="0" err="1" smtClean="0"/>
              <a:t>gtr</a:t>
            </a:r>
            <a:r>
              <a:rPr lang="en-US" baseline="0" dirty="0" smtClean="0"/>
              <a:t>, .</a:t>
            </a:r>
            <a:r>
              <a:rPr lang="en-US" baseline="0" dirty="0" err="1" smtClean="0"/>
              <a:t>atr</a:t>
            </a:r>
            <a:r>
              <a:rPr lang="en-US" baseline="0" dirty="0" smtClean="0"/>
              <a:t>, and .</a:t>
            </a:r>
            <a:r>
              <a:rPr lang="en-US" baseline="0" dirty="0" err="1" smtClean="0"/>
              <a:t>jtv</a:t>
            </a:r>
            <a:r>
              <a:rPr lang="en-US" baseline="0" dirty="0" smtClean="0"/>
              <a:t> files), so that one can visualize it interactively using </a:t>
            </a:r>
            <a:r>
              <a:rPr lang="en-US" baseline="0" dirty="0" err="1" smtClean="0"/>
              <a:t>JTreeView</a:t>
            </a:r>
            <a:r>
              <a:rPr lang="en-US" baseline="0" dirty="0" smtClean="0"/>
              <a:t> program (http://sourceforge.net/projects/jtreeview/).  The PDF version of the graph can be found in the zip package.</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converted them into a network layout.  More specifically, each term is represented by a circle node, where its size is proportional to the number of input genes fall under 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with “force-directed”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displayed as pies.  Each pie sector is proportional to the number of hits originated from a gene list.</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Color code for pie sector represents a gene list and is consistent with the colors used for table rows in slide #2.</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8393612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extract “biological meanings”.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Each MCODE network is assigned a unique color.</a:t>
            </a:r>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12</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input gene lists were also merged into one list and resulted in a PPI network.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Network nodes are displayed as pies.   Color code for pie sector represents a gene list and is consistent with the colors used for table rows in slide #2.</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13</a:t>
            </a:fld>
            <a:endParaRPr lang="en-US"/>
          </a:p>
        </p:txBody>
      </p:sp>
    </p:spTree>
    <p:extLst>
      <p:ext uri="{BB962C8B-B14F-4D97-AF65-F5344CB8AC3E}">
        <p14:creationId xmlns:p14="http://schemas.microsoft.com/office/powerpoint/2010/main" val="5563768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input gene lists were also merged. Each MCODE network is assigned a unique color.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14</a:t>
            </a:fld>
            <a:endParaRPr lang="en-US"/>
          </a:p>
        </p:txBody>
      </p:sp>
    </p:spTree>
    <p:extLst>
      <p:ext uri="{BB962C8B-B14F-4D97-AF65-F5344CB8AC3E}">
        <p14:creationId xmlns:p14="http://schemas.microsoft.com/office/powerpoint/2010/main" val="12787868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components  were identified from the merged network. Each MCODE network is assigned a unique color.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15</a:t>
            </a:fld>
            <a:endParaRPr lang="en-US"/>
          </a:p>
        </p:txBody>
      </p:sp>
    </p:spTree>
    <p:extLst>
      <p:ext uri="{BB962C8B-B14F-4D97-AF65-F5344CB8AC3E}">
        <p14:creationId xmlns:p14="http://schemas.microsoft.com/office/powerpoint/2010/main" val="21772089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Network nodes are displayed as pies.   Color code for pie sector represents a gene list and is consistent with the colors used for table rows in slide #2.</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16</a:t>
            </a:fld>
            <a:endParaRPr lang="en-US"/>
          </a:p>
        </p:txBody>
      </p:sp>
    </p:spTree>
    <p:extLst>
      <p:ext uri="{BB962C8B-B14F-4D97-AF65-F5344CB8AC3E}">
        <p14:creationId xmlns:p14="http://schemas.microsoft.com/office/powerpoint/2010/main" val="34661620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original PPI network and its MCODE network components to extract their “biological meanings”, where top three best p-value terms were retained.</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17</a:t>
            </a:fld>
            <a:endParaRPr lang="en-US"/>
          </a:p>
        </p:txBody>
      </p:sp>
    </p:spTree>
    <p:extLst>
      <p:ext uri="{BB962C8B-B14F-4D97-AF65-F5344CB8AC3E}">
        <p14:creationId xmlns:p14="http://schemas.microsoft.com/office/powerpoint/2010/main" val="33384152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18</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19</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JP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May 1,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2" name="Rectangle 1"/>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5" name="Rectangle 4"/>
          <p:cNvSpPr/>
          <p:nvPr/>
        </p:nvSpPr>
        <p:spPr>
          <a:xfrm>
            <a:off x="3347310" y="6581001"/>
            <a:ext cx="5955495" cy="276999"/>
          </a:xfrm>
          <a:prstGeom prst="rect">
            <a:avLst/>
          </a:prstGeom>
          <a:noFill/>
        </p:spPr>
        <p:txBody>
          <a:bodyPr wrap="square">
            <a:spAutoFit/>
          </a:bodyPr>
          <a:lstStyle/>
          <a:p>
            <a:r>
              <a:rPr lang="en-US" sz="1200" dirty="0">
                <a:solidFill>
                  <a:schemeClr val="tx2"/>
                </a:solidFill>
                <a:latin typeface="Arial" panose="020B0604020202020204" pitchFamily="34" charset="0"/>
                <a:cs typeface="Arial" panose="020B0604020202020204" pitchFamily="34" charset="0"/>
              </a:rPr>
              <a:t>Please check online </a:t>
            </a:r>
            <a:r>
              <a:rPr lang="en-US" sz="1200" dirty="0" err="1">
                <a:solidFill>
                  <a:schemeClr val="tx2"/>
                </a:solidFill>
                <a:latin typeface="Arial" panose="020B0604020202020204" pitchFamily="34" charset="0"/>
                <a:cs typeface="Arial" panose="020B0604020202020204" pitchFamily="34" charset="0"/>
                <a:hlinkClick r:id="rId3"/>
              </a:rPr>
              <a:t>Metascape</a:t>
            </a:r>
            <a:r>
              <a:rPr lang="en-US" sz="1200" dirty="0">
                <a:solidFill>
                  <a:schemeClr val="tx2"/>
                </a:solidFill>
                <a:latin typeface="Arial" panose="020B0604020202020204" pitchFamily="34" charset="0"/>
                <a:cs typeface="Arial" panose="020B0604020202020204" pitchFamily="34" charset="0"/>
                <a:hlinkClick r:id="rId3"/>
              </a:rPr>
              <a:t> User Manual</a:t>
            </a:r>
            <a:r>
              <a:rPr lang="en-US" sz="1200" dirty="0">
                <a:solidFill>
                  <a:schemeClr val="tx2"/>
                </a:solidFill>
                <a:latin typeface="Arial" panose="020B0604020202020204" pitchFamily="34" charset="0"/>
                <a:cs typeface="Arial" panose="020B0604020202020204" pitchFamily="34" charset="0"/>
              </a:rPr>
              <a:t> for explanation of each annotation field.</a:t>
            </a:r>
          </a:p>
        </p:txBody>
      </p:sp>
      <p:graphicFrame>
        <p:nvGraphicFramePr>
          <p:cNvPr id="6" name="Table 5"/>
          <p:cNvGraphicFramePr>
            <a:graphicFrameLocks noGrp="1"/>
          </p:cNvGraphicFramePr>
          <p:nvPr/>
        </p:nvGraphicFramePr>
        <p:xfrm>
          <a:off x="640080" y="1665465"/>
          <a:ext cx="10911535" cy="4729480"/>
        </p:xfrm>
        <a:graphic>
          <a:graphicData uri="http://schemas.openxmlformats.org/drawingml/2006/table">
            <a:tbl>
              <a:tblPr firstRow="1" bandRow="1">
                <a:tableStyleId>{5C22544A-7EE6-4342-B048-85BDC9FD1C3A}</a:tableStyleId>
              </a:tblPr>
              <a:tblGrid>
                <a:gridCol w="2727883"/>
                <a:gridCol w="2727883"/>
                <a:gridCol w="2727883"/>
                <a:gridCol w="2727886"/>
              </a:tblGrid>
              <a:tr h="177800">
                <a:tc>
                  <a:txBody>
                    <a:bodyPr/>
                    <a:lstStyle/>
                    <a:p>
                      <a:r>
                        <a:t>Name</a:t>
                      </a:r>
                    </a:p>
                  </a:txBody>
                  <a:tcPr/>
                </a:tc>
                <a:tc>
                  <a:txBody>
                    <a:bodyPr/>
                    <a:lstStyle/>
                    <a:p>
                      <a:r>
                        <a:t>Total</a:t>
                      </a:r>
                    </a:p>
                  </a:txBody>
                  <a:tcPr/>
                </a:tc>
                <a:tc>
                  <a:txBody>
                    <a:bodyPr/>
                    <a:lstStyle/>
                    <a:p>
                      <a:r>
                        <a:t>Unique</a:t>
                      </a:r>
                    </a:p>
                  </a:txBody>
                  <a:tcPr/>
                </a:tc>
                <a:tc>
                  <a:txBody>
                    <a:bodyPr/>
                    <a:lstStyle/>
                    <a:p>
                      <a:r>
                        <a:t>_Color_</a:t>
                      </a:r>
                    </a:p>
                  </a:txBody>
                  <a:tcPr/>
                </a:tc>
              </a:tr>
              <a:tr h="568960">
                <a:tc>
                  <a:txBody>
                    <a:bodyPr/>
                    <a:lstStyle/>
                    <a:p>
                      <a:r>
                        <a:t>down_common_genes</a:t>
                      </a:r>
                    </a:p>
                  </a:txBody>
                  <a:tcPr/>
                </a:tc>
                <a:tc>
                  <a:txBody>
                    <a:bodyPr/>
                    <a:lstStyle/>
                    <a:p>
                      <a:r>
                        <a:t>304</a:t>
                      </a:r>
                    </a:p>
                  </a:txBody>
                  <a:tcPr/>
                </a:tc>
                <a:tc>
                  <a:txBody>
                    <a:bodyPr/>
                    <a:lstStyle/>
                    <a:p>
                      <a:r>
                        <a:t>304</a:t>
                      </a:r>
                    </a:p>
                  </a:txBody>
                  <a:tcPr/>
                </a:tc>
                <a:tc>
                  <a:txBody>
                    <a:bodyPr/>
                    <a:lstStyle/>
                    <a:p>
                      <a:r>
                        <a:t>#E41A1C</a:t>
                      </a:r>
                    </a:p>
                  </a:txBody>
                  <a:tcPr>
                    <a:solidFill>
                      <a:srgbClr val="E41A1C"/>
                    </a:solidFill>
                  </a:tcPr>
                </a:tc>
              </a:tr>
              <a:tr h="568960">
                <a:tc>
                  <a:txBody>
                    <a:bodyPr/>
                    <a:lstStyle/>
                    <a:p>
                      <a:r>
                        <a:t>down_epi_only</a:t>
                      </a:r>
                    </a:p>
                  </a:txBody>
                  <a:tcPr/>
                </a:tc>
                <a:tc>
                  <a:txBody>
                    <a:bodyPr/>
                    <a:lstStyle/>
                    <a:p>
                      <a:r>
                        <a:t>275</a:t>
                      </a:r>
                    </a:p>
                  </a:txBody>
                  <a:tcPr/>
                </a:tc>
                <a:tc>
                  <a:txBody>
                    <a:bodyPr/>
                    <a:lstStyle/>
                    <a:p>
                      <a:r>
                        <a:t>275</a:t>
                      </a:r>
                    </a:p>
                  </a:txBody>
                  <a:tcPr/>
                </a:tc>
                <a:tc>
                  <a:txBody>
                    <a:bodyPr/>
                    <a:lstStyle/>
                    <a:p>
                      <a:r>
                        <a:t>#377EB8</a:t>
                      </a:r>
                    </a:p>
                  </a:txBody>
                  <a:tcPr>
                    <a:solidFill>
                      <a:srgbClr val="377EB8"/>
                    </a:solidFill>
                  </a:tcPr>
                </a:tc>
              </a:tr>
              <a:tr h="568960">
                <a:tc>
                  <a:txBody>
                    <a:bodyPr/>
                    <a:lstStyle/>
                    <a:p>
                      <a:r>
                        <a:t>down_mes_only</a:t>
                      </a:r>
                    </a:p>
                  </a:txBody>
                  <a:tcPr/>
                </a:tc>
                <a:tc>
                  <a:txBody>
                    <a:bodyPr/>
                    <a:lstStyle/>
                    <a:p>
                      <a:r>
                        <a:t>438</a:t>
                      </a:r>
                    </a:p>
                  </a:txBody>
                  <a:tcPr/>
                </a:tc>
                <a:tc>
                  <a:txBody>
                    <a:bodyPr/>
                    <a:lstStyle/>
                    <a:p>
                      <a:r>
                        <a:t>438</a:t>
                      </a:r>
                    </a:p>
                  </a:txBody>
                  <a:tcPr/>
                </a:tc>
                <a:tc>
                  <a:txBody>
                    <a:bodyPr/>
                    <a:lstStyle/>
                    <a:p>
                      <a:r>
                        <a:t>#4DAF4A</a:t>
                      </a:r>
                    </a:p>
                  </a:txBody>
                  <a:tcPr>
                    <a:solidFill>
                      <a:srgbClr val="4DAF4A"/>
                    </a:solidFill>
                  </a:tcPr>
                </a:tc>
              </a:tr>
              <a:tr h="568960">
                <a:tc>
                  <a:txBody>
                    <a:bodyPr/>
                    <a:lstStyle/>
                    <a:p>
                      <a:r>
                        <a:t>down_mes_up_epi</a:t>
                      </a:r>
                    </a:p>
                  </a:txBody>
                  <a:tcPr/>
                </a:tc>
                <a:tc>
                  <a:txBody>
                    <a:bodyPr/>
                    <a:lstStyle/>
                    <a:p>
                      <a:r>
                        <a:t>185</a:t>
                      </a:r>
                    </a:p>
                  </a:txBody>
                  <a:tcPr/>
                </a:tc>
                <a:tc>
                  <a:txBody>
                    <a:bodyPr/>
                    <a:lstStyle/>
                    <a:p>
                      <a:r>
                        <a:t>185</a:t>
                      </a:r>
                    </a:p>
                  </a:txBody>
                  <a:tcPr/>
                </a:tc>
                <a:tc>
                  <a:txBody>
                    <a:bodyPr/>
                    <a:lstStyle/>
                    <a:p>
                      <a:r>
                        <a:t>#984EA3</a:t>
                      </a:r>
                    </a:p>
                  </a:txBody>
                  <a:tcPr>
                    <a:solidFill>
                      <a:srgbClr val="984EA3"/>
                    </a:solidFill>
                  </a:tcPr>
                </a:tc>
              </a:tr>
              <a:tr h="568960">
                <a:tc>
                  <a:txBody>
                    <a:bodyPr/>
                    <a:lstStyle/>
                    <a:p>
                      <a:r>
                        <a:t>up_common_genes</a:t>
                      </a:r>
                    </a:p>
                  </a:txBody>
                  <a:tcPr/>
                </a:tc>
                <a:tc>
                  <a:txBody>
                    <a:bodyPr/>
                    <a:lstStyle/>
                    <a:p>
                      <a:r>
                        <a:t>195</a:t>
                      </a:r>
                    </a:p>
                  </a:txBody>
                  <a:tcPr/>
                </a:tc>
                <a:tc>
                  <a:txBody>
                    <a:bodyPr/>
                    <a:lstStyle/>
                    <a:p>
                      <a:r>
                        <a:t>195</a:t>
                      </a:r>
                    </a:p>
                  </a:txBody>
                  <a:tcPr/>
                </a:tc>
                <a:tc>
                  <a:txBody>
                    <a:bodyPr/>
                    <a:lstStyle/>
                    <a:p>
                      <a:r>
                        <a:t>#FF7F00</a:t>
                      </a:r>
                    </a:p>
                  </a:txBody>
                  <a:tcPr>
                    <a:solidFill>
                      <a:srgbClr val="FF7F00"/>
                    </a:solidFill>
                  </a:tcPr>
                </a:tc>
              </a:tr>
              <a:tr h="568960">
                <a:tc>
                  <a:txBody>
                    <a:bodyPr/>
                    <a:lstStyle/>
                    <a:p>
                      <a:r>
                        <a:t>up_epi_only</a:t>
                      </a:r>
                    </a:p>
                  </a:txBody>
                  <a:tcPr/>
                </a:tc>
                <a:tc>
                  <a:txBody>
                    <a:bodyPr/>
                    <a:lstStyle/>
                    <a:p>
                      <a:r>
                        <a:t>159</a:t>
                      </a:r>
                    </a:p>
                  </a:txBody>
                  <a:tcPr/>
                </a:tc>
                <a:tc>
                  <a:txBody>
                    <a:bodyPr/>
                    <a:lstStyle/>
                    <a:p>
                      <a:r>
                        <a:t>159</a:t>
                      </a:r>
                    </a:p>
                  </a:txBody>
                  <a:tcPr/>
                </a:tc>
                <a:tc>
                  <a:txBody>
                    <a:bodyPr/>
                    <a:lstStyle/>
                    <a:p>
                      <a:r>
                        <a:t>#FFFF33</a:t>
                      </a:r>
                    </a:p>
                  </a:txBody>
                  <a:tcPr>
                    <a:solidFill>
                      <a:srgbClr val="FFFF33"/>
                    </a:solidFill>
                  </a:tcPr>
                </a:tc>
              </a:tr>
              <a:tr h="568960">
                <a:tc>
                  <a:txBody>
                    <a:bodyPr/>
                    <a:lstStyle/>
                    <a:p>
                      <a:r>
                        <a:t>up_mes_down_epi</a:t>
                      </a:r>
                    </a:p>
                  </a:txBody>
                  <a:tcPr/>
                </a:tc>
                <a:tc>
                  <a:txBody>
                    <a:bodyPr/>
                    <a:lstStyle/>
                    <a:p>
                      <a:r>
                        <a:t>235</a:t>
                      </a:r>
                    </a:p>
                  </a:txBody>
                  <a:tcPr/>
                </a:tc>
                <a:tc>
                  <a:txBody>
                    <a:bodyPr/>
                    <a:lstStyle/>
                    <a:p>
                      <a:r>
                        <a:t>235</a:t>
                      </a:r>
                    </a:p>
                  </a:txBody>
                  <a:tcPr/>
                </a:tc>
                <a:tc>
                  <a:txBody>
                    <a:bodyPr/>
                    <a:lstStyle/>
                    <a:p>
                      <a:r>
                        <a:t>#A65628</a:t>
                      </a:r>
                    </a:p>
                  </a:txBody>
                  <a:tcPr>
                    <a:solidFill>
                      <a:srgbClr val="A65628"/>
                    </a:solidFill>
                  </a:tcPr>
                </a:tc>
              </a:tr>
              <a:tr h="568960">
                <a:tc>
                  <a:txBody>
                    <a:bodyPr/>
                    <a:lstStyle/>
                    <a:p>
                      <a:r>
                        <a:t>up_mes_only</a:t>
                      </a:r>
                    </a:p>
                  </a:txBody>
                  <a:tcPr/>
                </a:tc>
                <a:tc>
                  <a:txBody>
                    <a:bodyPr/>
                    <a:lstStyle/>
                    <a:p>
                      <a:r>
                        <a:t>295</a:t>
                      </a:r>
                    </a:p>
                  </a:txBody>
                  <a:tcPr/>
                </a:tc>
                <a:tc>
                  <a:txBody>
                    <a:bodyPr/>
                    <a:lstStyle/>
                    <a:p>
                      <a:r>
                        <a:t>295</a:t>
                      </a:r>
                    </a:p>
                  </a:txBody>
                  <a:tcPr/>
                </a:tc>
                <a:tc>
                  <a:txBody>
                    <a:bodyPr/>
                    <a:lstStyle/>
                    <a:p>
                      <a:r>
                        <a:t>#F781BF</a:t>
                      </a:r>
                    </a:p>
                  </a:txBody>
                  <a:tcPr>
                    <a:solidFill>
                      <a:srgbClr val="F781BF"/>
                    </a:solidFill>
                  </a:tcPr>
                </a:tc>
              </a:tr>
            </a:tbl>
          </a:graphicData>
        </a:graphic>
      </p:graphicFrame>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Overlap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ircosOverlapByGene.png"/>
          <p:cNvPicPr>
            <a:picLocks noChangeAspect="1"/>
          </p:cNvPicPr>
          <p:nvPr/>
        </p:nvPicPr>
        <p:blipFill>
          <a:blip r:embed="rId3"/>
          <a:stretch>
            <a:fillRect/>
          </a:stretch>
        </p:blipFill>
        <p:spPr>
          <a:xfrm>
            <a:off x="3535527" y="1665465"/>
            <a:ext cx="5120640" cy="5120640"/>
          </a:xfrm>
          <a:prstGeom prst="rect">
            <a:avLst/>
          </a:prstGeom>
        </p:spPr>
      </p:pic>
    </p:spTree>
    <p:extLst>
      <p:ext uri="{BB962C8B-B14F-4D97-AF65-F5344CB8AC3E}">
        <p14:creationId xmlns:p14="http://schemas.microsoft.com/office/powerpoint/2010/main" val="30452407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
            </a:r>
            <a:r>
              <a:rPr lang="en-US" sz="2000" b="1" dirty="0" err="1">
                <a:solidFill>
                  <a:srgbClr val="C00000"/>
                </a:solidFill>
                <a:latin typeface="Arial" panose="020B0604020202020204" pitchFamily="34" charset="0"/>
                <a:cs typeface="Arial" panose="020B0604020202020204" pitchFamily="34" charset="0"/>
              </a:rPr>
              <a:t/>
            </a:r>
            <a:endParaRPr lang="en-US" sz="2000" b="1"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Overlap Analysis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Expanded via Shared Enriched Ontologies</a:t>
            </a:r>
          </a:p>
        </p:txBody>
      </p:sp>
      <p:pic>
        <p:nvPicPr>
          <p:cNvPr id="3" name="Picture 2" descr="CircosOverlapByGO.png"/>
          <p:cNvPicPr>
            <a:picLocks noChangeAspect="1"/>
          </p:cNvPicPr>
          <p:nvPr/>
        </p:nvPicPr>
        <p:blipFill>
          <a:blip r:embed="rId3"/>
          <a:stretch>
            <a:fillRect/>
          </a:stretch>
        </p:blipFill>
        <p:spPr>
          <a:xfrm>
            <a:off x="3535527" y="1665465"/>
            <a:ext cx="5120640" cy="5120640"/>
          </a:xfrm>
          <a:prstGeom prst="rect">
            <a:avLst/>
          </a:prstGeom>
        </p:spPr>
      </p:pic>
    </p:spTree>
    <p:extLst>
      <p:ext uri="{BB962C8B-B14F-4D97-AF65-F5344CB8AC3E}">
        <p14:creationId xmlns:p14="http://schemas.microsoft.com/office/powerpoint/2010/main" val="6932698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1914321" y="1665465"/>
            <a:ext cx="8363052" cy="5120640"/>
          </a:xfrm>
          <a:prstGeom prst="rect">
            <a:avLst/>
          </a:prstGeom>
        </p:spPr>
      </p:pic>
    </p:spTree>
    <p:extLst>
      <p:ext uri="{BB962C8B-B14F-4D97-AF65-F5344CB8AC3E}">
        <p14:creationId xmlns:p14="http://schemas.microsoft.com/office/powerpoint/2010/main" val="3330464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60414" y="1665465"/>
            <a:ext cx="10870866" cy="5120640"/>
          </a:xfrm>
          <a:prstGeom prst="rect">
            <a:avLst/>
          </a:prstGeom>
        </p:spPr>
      </p:pic>
    </p:spTree>
    <p:extLst>
      <p:ext uri="{BB962C8B-B14F-4D97-AF65-F5344CB8AC3E}">
        <p14:creationId xmlns:p14="http://schemas.microsoft.com/office/powerpoint/2010/main" val="614239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2073487" y="1665465"/>
            <a:ext cx="8044721" cy="5120640"/>
          </a:xfrm>
          <a:prstGeom prst="rect">
            <a:avLst/>
          </a:prstGeom>
        </p:spPr>
      </p:pic>
    </p:spTree>
    <p:extLst>
      <p:ext uri="{BB962C8B-B14F-4D97-AF65-F5344CB8AC3E}">
        <p14:creationId xmlns:p14="http://schemas.microsoft.com/office/powerpoint/2010/main" val="3490378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Pied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Counts 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Counts.png"/>
          <p:cNvPicPr>
            <a:picLocks noChangeAspect="1"/>
          </p:cNvPicPr>
          <p:nvPr/>
        </p:nvPicPr>
        <p:blipFill>
          <a:blip r:embed="rId3"/>
          <a:stretch>
            <a:fillRect/>
          </a:stretch>
        </p:blipFill>
        <p:spPr>
          <a:xfrm>
            <a:off x="1290001" y="1665465"/>
            <a:ext cx="9611693" cy="5120640"/>
          </a:xfrm>
          <a:prstGeom prst="rect">
            <a:avLst/>
          </a:prstGeom>
        </p:spPr>
      </p:pic>
    </p:spTree>
    <p:extLst>
      <p:ext uri="{BB962C8B-B14F-4D97-AF65-F5344CB8AC3E}">
        <p14:creationId xmlns:p14="http://schemas.microsoft.com/office/powerpoint/2010/main" val="2945808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78375" y="1291130"/>
            <a:ext cx="7758754" cy="400110"/>
          </a:xfrm>
          <a:prstGeom prst="rect">
            <a:avLst/>
          </a:prstGeom>
          <a:noFill/>
        </p:spPr>
        <p:txBody>
          <a:bodyPr wrap="square" rtlCol="0">
            <a:spAutoFit/>
          </a:bodyPr>
          <a:lstStyle/>
          <a:p>
            <a:r>
              <a:t>Gene List: down_common_genes</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down_common_genes_PPIColorByCluster.png"/>
          <p:cNvPicPr>
            <a:picLocks noChangeAspect="1"/>
          </p:cNvPicPr>
          <p:nvPr/>
        </p:nvPicPr>
        <p:blipFill>
          <a:blip r:embed="rId3"/>
          <a:stretch>
            <a:fillRect/>
          </a:stretch>
        </p:blipFill>
        <p:spPr>
          <a:xfrm>
            <a:off x="2318326" y="1665465"/>
            <a:ext cx="7555042" cy="5120640"/>
          </a:xfrm>
          <a:prstGeom prst="rect">
            <a:avLst/>
          </a:prstGeom>
        </p:spPr>
      </p:pic>
    </p:spTree>
    <p:extLst>
      <p:ext uri="{BB962C8B-B14F-4D97-AF65-F5344CB8AC3E}">
        <p14:creationId xmlns:p14="http://schemas.microsoft.com/office/powerpoint/2010/main" val="1277164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down_common_genes</a:t>
            </a:r>
          </a:p>
        </p:txBody>
      </p:sp>
      <p:pic>
        <p:nvPicPr>
          <p:cNvPr id="4" name="Picture 3" descr="down_common_genes_MCODE_ALL_PPIColorByCluster.png"/>
          <p:cNvPicPr>
            <a:picLocks noChangeAspect="1"/>
          </p:cNvPicPr>
          <p:nvPr/>
        </p:nvPicPr>
        <p:blipFill>
          <a:blip r:embed="rId3"/>
          <a:stretch>
            <a:fillRect/>
          </a:stretch>
        </p:blipFill>
        <p:spPr>
          <a:xfrm>
            <a:off x="821308" y="1665465"/>
            <a:ext cx="10549078" cy="5120640"/>
          </a:xfrm>
          <a:prstGeom prst="rect">
            <a:avLst/>
          </a:prstGeom>
        </p:spPr>
      </p:pic>
    </p:spTree>
    <p:extLst>
      <p:ext uri="{BB962C8B-B14F-4D97-AF65-F5344CB8AC3E}">
        <p14:creationId xmlns:p14="http://schemas.microsoft.com/office/powerpoint/2010/main" val="2358684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down_common_genes</a:t>
            </a:r>
          </a:p>
        </p:txBody>
      </p:sp>
      <p:graphicFrame>
        <p:nvGraphicFramePr>
          <p:cNvPr id="4" name="Table 3"/>
          <p:cNvGraphicFramePr>
            <a:graphicFrameLocks noGrp="1"/>
          </p:cNvGraphicFramePr>
          <p:nvPr/>
        </p:nvGraphicFramePr>
        <p:xfrm>
          <a:off x="640080" y="1665465"/>
          <a:ext cx="10911535" cy="465836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640080">
                <a:tc>
                  <a:txBody>
                    <a:bodyPr/>
                    <a:lstStyle/>
                    <a:p>
                      <a:r>
                        <a:t>down_common_genes</a:t>
                      </a:r>
                    </a:p>
                  </a:txBody>
                  <a:tcPr/>
                </a:tc>
                <a:tc>
                  <a:txBody>
                    <a:bodyPr/>
                    <a:lstStyle/>
                    <a:p>
                      <a:r>
                        <a:t>GO:0007167|enzyme-linked receptor protein signaling pathway|-13.6;GO:0007169|transmembrane receptor protein tyrosine kinase signaling pathway|-12.0;GO:0009725|response to hormone|-11.1</a:t>
                      </a:r>
                    </a:p>
                  </a:txBody>
                  <a:tcPr/>
                </a:tc>
              </a:tr>
              <a:tr h="640080">
                <a:tc>
                  <a:txBody>
                    <a:bodyPr/>
                    <a:lstStyle/>
                    <a:p>
                      <a:r>
                        <a:t>down_common_genes_MCODE_ALL</a:t>
                      </a:r>
                    </a:p>
                  </a:txBody>
                  <a:tcPr/>
                </a:tc>
                <a:tc>
                  <a:txBody>
                    <a:bodyPr/>
                    <a:lstStyle/>
                    <a:p>
                      <a:r>
                        <a:t>hsa00562|Inositol phosphate metabolism|-9.3;GO:0016054|organic acid catabolic process|-9.3;GO:0046395|carboxylic acid catabolic process|-9.3</a:t>
                      </a:r>
                    </a:p>
                  </a:txBody>
                  <a:tcPr/>
                </a:tc>
              </a:tr>
              <a:tr h="640080">
                <a:tc>
                  <a:txBody>
                    <a:bodyPr/>
                    <a:lstStyle/>
                    <a:p>
                      <a:r>
                        <a:t>down_common_genes_SUB1_MCODE_1</a:t>
                      </a:r>
                    </a:p>
                  </a:txBody>
                  <a:tcPr/>
                </a:tc>
                <a:tc>
                  <a:txBody>
                    <a:bodyPr/>
                    <a:lstStyle/>
                    <a:p>
                      <a:r>
                        <a:t>GO:0044282|small molecule catabolic process|-15.7;GO:0046395|carboxylic acid catabolic process|-14.8;GO:0016054|organic acid catabolic process|-14.8</a:t>
                      </a:r>
                    </a:p>
                  </a:txBody>
                  <a:tcPr/>
                </a:tc>
              </a:tr>
              <a:tr h="640080">
                <a:tc>
                  <a:txBody>
                    <a:bodyPr/>
                    <a:lstStyle/>
                    <a:p>
                      <a:r>
                        <a:t>down_common_genes_SUB1_MCODE_2</a:t>
                      </a:r>
                    </a:p>
                  </a:txBody>
                  <a:tcPr/>
                </a:tc>
                <a:tc>
                  <a:txBody>
                    <a:bodyPr/>
                    <a:lstStyle/>
                    <a:p>
                      <a:r>
                        <a:t>hsa00562|Inositol phosphate metabolism|-13.1;hsa04070|Phosphatidylinositol signaling system|-12.4;R-HSA-1483249|Inositol phosphate metabolism|-11.3</a:t>
                      </a:r>
                    </a:p>
                  </a:txBody>
                  <a:tcPr/>
                </a:tc>
              </a:tr>
              <a:tr h="640080">
                <a:tc>
                  <a:txBody>
                    <a:bodyPr/>
                    <a:lstStyle/>
                    <a:p>
                      <a:r>
                        <a:t>down_common_genes_SUB1_MCODE_3</a:t>
                      </a:r>
                    </a:p>
                  </a:txBody>
                  <a:tcPr/>
                </a:tc>
                <a:tc>
                  <a:txBody>
                    <a:bodyPr/>
                    <a:lstStyle/>
                    <a:p>
                      <a:r>
                        <a:t>R-HSA-2428928|IRS-related events triggered by IGF1R|-6.1;R-HSA-2428924|IGF1R signaling cascade|-6.1;R-HSA-2404192|Signaling by Type 1 Insulin-like Growth Factor 1 Receptor (IGF1R)|-6.1</a:t>
                      </a:r>
                    </a:p>
                  </a:txBody>
                  <a:tcPr/>
                </a:tc>
              </a:tr>
              <a:tr h="640080">
                <a:tc>
                  <a:txBody>
                    <a:bodyPr/>
                    <a:lstStyle/>
                    <a:p>
                      <a:r>
                        <a:t>down_common_genes_SUB1_MCODE_4</a:t>
                      </a:r>
                    </a:p>
                  </a:txBody>
                  <a:tcPr/>
                </a:tc>
                <a:tc>
                  <a:txBody>
                    <a:bodyPr/>
                    <a:lstStyle/>
                    <a:p>
                      <a:r>
                        <a:t>R-HSA-9013409|RHOJ GTPase cycle|-8.2;R-HSA-9012999|RHO GTPase cycle|-5.5;R-HSA-194315|Signaling by Rho GTPases|-4.9</a:t>
                      </a:r>
                    </a:p>
                  </a:txBody>
                  <a:tcPr/>
                </a:tc>
              </a:tr>
              <a:tr h="640080">
                <a:tc>
                  <a:txBody>
                    <a:bodyPr/>
                    <a:lstStyle/>
                    <a:p>
                      <a:r>
                        <a:t>down_common_genes_SUB1_MCODE_5</a:t>
                      </a:r>
                    </a:p>
                  </a:txBody>
                  <a:tcPr/>
                </a:tc>
                <a:tc>
                  <a:txBody>
                    <a:bodyPr/>
                    <a:lstStyle/>
                    <a:p>
                      <a:r>
                        <a:t>hsa04919|Thyroid hormone signaling pathway|-7.2;GO:0006366|transcription by RNA polymerase II|-5.7;GO:0032870|cellular response to hormone stimulus|-5.3</a:t>
                      </a:r>
                    </a:p>
                  </a:txBody>
                  <a:tcPr/>
                </a:tc>
              </a:tr>
            </a:tbl>
          </a:graphicData>
        </a:graphic>
      </p:graphicFrame>
    </p:spTree>
    <p:extLst>
      <p:ext uri="{BB962C8B-B14F-4D97-AF65-F5344CB8AC3E}">
        <p14:creationId xmlns:p14="http://schemas.microsoft.com/office/powerpoint/2010/main" val="3323729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Network for Lists Merged</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Pied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Origin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in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Studies </a:t>
            </a:r>
            <a:endPar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7997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for Lists Merged</a:t>
            </a:r>
            <a:br>
              <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by MCODE ID</a:t>
            </a:r>
          </a:p>
        </p:txBody>
      </p:sp>
    </p:spTree>
    <p:extLst>
      <p:ext uri="{BB962C8B-B14F-4D97-AF65-F5344CB8AC3E}">
        <p14:creationId xmlns:p14="http://schemas.microsoft.com/office/powerpoint/2010/main" val="28758200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524000" y="374650"/>
            <a:ext cx="8847740" cy="45878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000" b="1" dirty="0">
                <a:ln w="3175" cap="rnd">
                  <a:solidFill>
                    <a:schemeClr val="accent1">
                      <a:lumMod val="20000"/>
                      <a:lumOff val="80000"/>
                    </a:schemeClr>
                  </a:solidFill>
                  <a:round/>
                </a:ln>
                <a:solidFill>
                  <a:schemeClr val="bg1"/>
                </a:solidFill>
                <a:effectLst>
                  <a:glow rad="101600">
                    <a:schemeClr val="tx2">
                      <a:alpha val="60000"/>
                    </a:schemeClr>
                  </a:glow>
                </a:effectLst>
                <a:latin typeface="Arial" panose="020B0604020202020204" pitchFamily="34" charset="0"/>
                <a:cs typeface="Arial" panose="020B0604020202020204" pitchFamily="34" charset="0"/>
              </a:rPr>
              <a:t>Protein-protein Interaction Network</a:t>
            </a:r>
          </a:p>
        </p:txBody>
      </p:sp>
    </p:spTree>
    <p:extLst>
      <p:ext uri="{BB962C8B-B14F-4D97-AF65-F5344CB8AC3E}">
        <p14:creationId xmlns:p14="http://schemas.microsoft.com/office/powerpoint/2010/main" val="1528487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MCODE for Lists Merged</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Pied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Origin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in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Studies</a:t>
            </a:r>
            <a:endPar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1482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Autofit/>
          </a:bodyPr>
          <a:lstStyle/>
          <a:p>
            <a:pPr algn="l"/>
            <a:r>
              <a:rPr lang="en-US" sz="40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sz="40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200" b="1" dirty="0">
                <a:ln w="3175" cap="rnd">
                  <a:solidFill>
                    <a:schemeClr val="accent1">
                      <a:lumMod val="20000"/>
                      <a:lumOff val="80000"/>
                    </a:schemeClr>
                  </a:solidFill>
                  <a:round/>
                </a:ln>
                <a:latin typeface="Arial" panose="020B0604020202020204" pitchFamily="34" charset="0"/>
                <a:cs typeface="Arial" panose="020B0604020202020204" pitchFamily="34" charset="0"/>
              </a:rPr>
              <a:t>MCODE Components for Lists Merged</a:t>
            </a:r>
          </a:p>
        </p:txBody>
      </p:sp>
    </p:spTree>
    <p:extLst>
      <p:ext uri="{BB962C8B-B14F-4D97-AF65-F5344CB8AC3E}">
        <p14:creationId xmlns:p14="http://schemas.microsoft.com/office/powerpoint/2010/main" val="8021821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up_mes_only</a:t>
            </a:r>
          </a:p>
        </p:txBody>
      </p:sp>
      <p:graphicFrame>
        <p:nvGraphicFramePr>
          <p:cNvPr id="4" name="Table 3"/>
          <p:cNvGraphicFramePr>
            <a:graphicFrameLocks noGrp="1"/>
          </p:cNvGraphicFramePr>
          <p:nvPr/>
        </p:nvGraphicFramePr>
        <p:xfrm>
          <a:off x="640080" y="1665465"/>
          <a:ext cx="10911535" cy="465836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640080">
                <a:tc>
                  <a:txBody>
                    <a:bodyPr/>
                    <a:lstStyle/>
                    <a:p>
                      <a:r>
                        <a:t>up_mes_only</a:t>
                      </a:r>
                    </a:p>
                  </a:txBody>
                  <a:tcPr/>
                </a:tc>
                <a:tc>
                  <a:txBody>
                    <a:bodyPr/>
                    <a:lstStyle/>
                    <a:p>
                      <a:r>
                        <a:t>R-HSA-446203|Asparagine N-linked glycosylation|-14.5;GO:0006888|endoplasmic reticulum to Golgi vesicle-mediated transport|-11.4;R-HSA-5653656|Vesicle-mediated transport|-11.1</a:t>
                      </a:r>
                    </a:p>
                  </a:txBody>
                  <a:tcPr/>
                </a:tc>
              </a:tr>
              <a:tr h="640080">
                <a:tc>
                  <a:txBody>
                    <a:bodyPr/>
                    <a:lstStyle/>
                    <a:p>
                      <a:r>
                        <a:t>up_mes_only_MCODE_ALL</a:t>
                      </a:r>
                    </a:p>
                  </a:txBody>
                  <a:tcPr/>
                </a:tc>
                <a:tc>
                  <a:txBody>
                    <a:bodyPr/>
                    <a:lstStyle/>
                    <a:p>
                      <a:r>
                        <a:t>R-HSA-199977|ER to Golgi Anterograde Transport|-17.7;R-HSA-446203|Asparagine N-linked glycosylation|-17.5;GO:0006888|endoplasmic reticulum to Golgi vesicle-mediated transport|-16.8</a:t>
                      </a:r>
                    </a:p>
                  </a:txBody>
                  <a:tcPr/>
                </a:tc>
              </a:tr>
              <a:tr h="640080">
                <a:tc>
                  <a:txBody>
                    <a:bodyPr/>
                    <a:lstStyle/>
                    <a:p>
                      <a:r>
                        <a:t>up_mes_only_SUB1_MCODE_1</a:t>
                      </a:r>
                    </a:p>
                  </a:txBody>
                  <a:tcPr/>
                </a:tc>
                <a:tc>
                  <a:txBody>
                    <a:bodyPr/>
                    <a:lstStyle/>
                    <a:p>
                      <a:r>
                        <a:t>R-HSA-446353|Cell-extracellular matrix interactions|-7.0;R-HSA-1799339|SRP-dependent cotranslational protein targeting to membrane|-6.5;GO:0006613|cotranslational protein targeting to membrane|-6.2</a:t>
                      </a:r>
                    </a:p>
                  </a:txBody>
                  <a:tcPr/>
                </a:tc>
              </a:tr>
              <a:tr h="640080">
                <a:tc>
                  <a:txBody>
                    <a:bodyPr/>
                    <a:lstStyle/>
                    <a:p>
                      <a:r>
                        <a:t>up_mes_only_SUB1_MCODE_2</a:t>
                      </a:r>
                    </a:p>
                  </a:txBody>
                  <a:tcPr/>
                </a:tc>
                <a:tc>
                  <a:txBody>
                    <a:bodyPr/>
                    <a:lstStyle/>
                    <a:p>
                      <a:r>
                        <a:t>R-HSA-199977|ER to Golgi Anterograde Transport|-27.7;R-HSA-948021|Transport to the Golgi and subsequent modification|-26.7;GO:0006888|endoplasmic reticulum to Golgi vesicle-mediated transport|-25.3</a:t>
                      </a:r>
                    </a:p>
                  </a:txBody>
                  <a:tcPr/>
                </a:tc>
              </a:tr>
              <a:tr h="640080">
                <a:tc>
                  <a:txBody>
                    <a:bodyPr/>
                    <a:lstStyle/>
                    <a:p>
                      <a:r>
                        <a:t>up_mes_only_SUB1_MCODE_3</a:t>
                      </a:r>
                    </a:p>
                  </a:txBody>
                  <a:tcPr/>
                </a:tc>
                <a:tc>
                  <a:txBody>
                    <a:bodyPr/>
                    <a:lstStyle/>
                    <a:p>
                      <a:r>
                        <a:t>GO:0030490|maturation of SSU-rRNA|-12.5;R-HSA-6790901|rRNA modification in the nucleus and cytosol|-12.2;GO:0042274|ribosomal small subunit biogenesis|-11.1</a:t>
                      </a:r>
                    </a:p>
                  </a:txBody>
                  <a:tcPr/>
                </a:tc>
              </a:tr>
              <a:tr h="640080">
                <a:tc>
                  <a:txBody>
                    <a:bodyPr/>
                    <a:lstStyle/>
                    <a:p>
                      <a:r>
                        <a:t>up_mes_only_SUB1_MCODE_4</a:t>
                      </a:r>
                    </a:p>
                  </a:txBody>
                  <a:tcPr/>
                </a:tc>
                <a:tc>
                  <a:txBody>
                    <a:bodyPr/>
                    <a:lstStyle/>
                    <a:p>
                      <a:r>
                        <a:t>GO:0031329|regulation of cellular catabolic process|-4.2</a:t>
                      </a:r>
                    </a:p>
                  </a:txBody>
                  <a:tcPr/>
                </a:tc>
              </a:tr>
              <a:tr h="640080">
                <a:tc>
                  <a:txBody>
                    <a:bodyPr/>
                    <a:lstStyle/>
                    <a:p>
                      <a:r>
                        <a:t>up_mes_only_SUB1_MCODE_5</a:t>
                      </a:r>
                    </a:p>
                  </a:txBody>
                  <a:tcPr/>
                </a:tc>
                <a:tc>
                  <a:txBody>
                    <a:bodyPr/>
                    <a:lstStyle/>
                    <a:p>
                      <a:r>
                        <a:t>GO:0039702|viral budding via host ESCRT complex|-9.5;GO:0046755|viral budding|-9.3;GO:0032511|late endosome to vacuole transport via multivesicular body sorting pathway|-9.2</a:t>
                      </a:r>
                    </a:p>
                  </a:txBody>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up_mes_only</a:t>
            </a:r>
          </a:p>
        </p:txBody>
      </p:sp>
      <p:pic>
        <p:nvPicPr>
          <p:cNvPr id="4" name="Picture 3" descr="up_mes_only_MCODE_ALL_PPIColorByCluster.png"/>
          <p:cNvPicPr>
            <a:picLocks noChangeAspect="1"/>
          </p:cNvPicPr>
          <p:nvPr/>
        </p:nvPicPr>
        <p:blipFill>
          <a:blip r:embed="rId2"/>
          <a:stretch>
            <a:fillRect/>
          </a:stretch>
        </p:blipFill>
        <p:spPr>
          <a:xfrm>
            <a:off x="1933579" y="1665465"/>
            <a:ext cx="8324537" cy="512064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up_mes_only</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up_mes_only_PPIColorByCluster.png"/>
          <p:cNvPicPr>
            <a:picLocks noChangeAspect="1"/>
          </p:cNvPicPr>
          <p:nvPr/>
        </p:nvPicPr>
        <p:blipFill>
          <a:blip r:embed="rId2"/>
          <a:stretch>
            <a:fillRect/>
          </a:stretch>
        </p:blipFill>
        <p:spPr>
          <a:xfrm>
            <a:off x="1122111" y="1665465"/>
            <a:ext cx="9947472" cy="512064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up_mes_down_epi</a:t>
            </a:r>
          </a:p>
        </p:txBody>
      </p:sp>
      <p:graphicFrame>
        <p:nvGraphicFramePr>
          <p:cNvPr id="4" name="Table 3"/>
          <p:cNvGraphicFramePr>
            <a:graphicFrameLocks noGrp="1"/>
          </p:cNvGraphicFramePr>
          <p:nvPr/>
        </p:nvGraphicFramePr>
        <p:xfrm>
          <a:off x="640080" y="1665465"/>
          <a:ext cx="10911535" cy="465836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640080">
                <a:tc>
                  <a:txBody>
                    <a:bodyPr/>
                    <a:lstStyle/>
                    <a:p>
                      <a:r>
                        <a:t>up_mes_down_epi</a:t>
                      </a:r>
                    </a:p>
                  </a:txBody>
                  <a:tcPr/>
                </a:tc>
                <a:tc>
                  <a:txBody>
                    <a:bodyPr/>
                    <a:lstStyle/>
                    <a:p>
                      <a:r>
                        <a:t>M5924|HALLMARK MTORC1 SIGNALING|-15.4;R-HSA-556833|Metabolism of lipids|-14.7;GO:0008610|lipid biosynthetic process|-12.3</a:t>
                      </a:r>
                    </a:p>
                  </a:txBody>
                  <a:tcPr/>
                </a:tc>
              </a:tr>
              <a:tr h="640080">
                <a:tc>
                  <a:txBody>
                    <a:bodyPr/>
                    <a:lstStyle/>
                    <a:p>
                      <a:r>
                        <a:t>up_mes_down_epi_MCODE_ALL</a:t>
                      </a:r>
                    </a:p>
                  </a:txBody>
                  <a:tcPr/>
                </a:tc>
                <a:tc>
                  <a:txBody>
                    <a:bodyPr/>
                    <a:lstStyle/>
                    <a:p>
                      <a:r>
                        <a:t>hsa04141|Protein processing in endoplasmic reticulum|-11.5;GO:0051604|protein maturation|-9.3;WP4718|Cholesterol metabolism with Bloch and Kandutsch Russell pathways|-9.1</a:t>
                      </a:r>
                    </a:p>
                  </a:txBody>
                  <a:tcPr/>
                </a:tc>
              </a:tr>
              <a:tr h="640080">
                <a:tc>
                  <a:txBody>
                    <a:bodyPr/>
                    <a:lstStyle/>
                    <a:p>
                      <a:r>
                        <a:t>up_mes_down_epi_SUB1_MCODE_1</a:t>
                      </a:r>
                    </a:p>
                  </a:txBody>
                  <a:tcPr/>
                </a:tc>
                <a:tc>
                  <a:txBody>
                    <a:bodyPr/>
                    <a:lstStyle/>
                    <a:p>
                      <a:r>
                        <a:t>GO:0051604|protein maturation|-5.1;hsa04141|Protein processing in endoplasmic reticulum|-4.8;GO:0006457|protein folding|-4.5</a:t>
                      </a:r>
                    </a:p>
                  </a:txBody>
                  <a:tcPr/>
                </a:tc>
              </a:tr>
              <a:tr h="640080">
                <a:tc>
                  <a:txBody>
                    <a:bodyPr/>
                    <a:lstStyle/>
                    <a:p>
                      <a:r>
                        <a:t>up_mes_down_epi_SUB1_MCODE_2</a:t>
                      </a:r>
                    </a:p>
                  </a:txBody>
                  <a:tcPr/>
                </a:tc>
                <a:tc>
                  <a:txBody>
                    <a:bodyPr/>
                    <a:lstStyle/>
                    <a:p>
                      <a:r>
                        <a:t>GO:0120254|olefinic compound metabolic process|-5.4;GO:0006066|alcohol metabolic process|-4.4;GO:1901615|organic hydroxy compound metabolic process|-3.9</a:t>
                      </a:r>
                    </a:p>
                  </a:txBody>
                  <a:tcPr/>
                </a:tc>
              </a:tr>
              <a:tr h="640080">
                <a:tc>
                  <a:txBody>
                    <a:bodyPr/>
                    <a:lstStyle/>
                    <a:p>
                      <a:r>
                        <a:t>up_mes_down_epi_SUB1_MCODE_3</a:t>
                      </a:r>
                    </a:p>
                  </a:txBody>
                  <a:tcPr/>
                </a:tc>
                <a:tc>
                  <a:txBody>
                    <a:bodyPr/>
                    <a:lstStyle/>
                    <a:p>
                      <a:r>
                        <a:t>hsa04141|Protein processing in endoplasmic reticulum|-10.5;R-HSA-901042|Calnexin/calreticulin cycle|-8.0;R-HSA-532668|N-glycan trimming in the ER and Calnexin/Calreticulin cycle|-7.5</a:t>
                      </a:r>
                    </a:p>
                  </a:txBody>
                  <a:tcPr/>
                </a:tc>
              </a:tr>
              <a:tr h="640080">
                <a:tc>
                  <a:txBody>
                    <a:bodyPr/>
                    <a:lstStyle/>
                    <a:p>
                      <a:r>
                        <a:t>up_mes_down_epi_SUB1_MCODE_4</a:t>
                      </a:r>
                    </a:p>
                  </a:txBody>
                  <a:tcPr/>
                </a:tc>
                <a:tc>
                  <a:txBody>
                    <a:bodyPr/>
                    <a:lstStyle/>
                    <a:p>
                      <a:r>
                        <a:t>R-HSA-432722|Golgi Associated Vesicle Biogenesis|-11.0;R-HSA-199992|trans-Golgi Network Vesicle Budding|-10.5;R-HSA-199991|Membrane Trafficking|-6.7</a:t>
                      </a:r>
                    </a:p>
                  </a:txBody>
                  <a:tcPr/>
                </a:tc>
              </a:tr>
              <a:tr h="640080">
                <a:tc>
                  <a:txBody>
                    <a:bodyPr/>
                    <a:lstStyle/>
                    <a:p>
                      <a:r>
                        <a:t>up_mes_down_epi_SUB1_MCODE_5</a:t>
                      </a:r>
                    </a:p>
                  </a:txBody>
                  <a:tcPr/>
                </a:tc>
                <a:tc>
                  <a:txBody>
                    <a:bodyPr/>
                    <a:lstStyle/>
                    <a:p>
                      <a:r>
                        <a:t>GO:1902653|secondary alcohol biosynthetic process|-8.8;GO:0006695|cholesterol biosynthetic process|-8.8;GO:0016126|sterol biosynthetic process|-8.5</a:t>
                      </a:r>
                    </a:p>
                  </a:txBody>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up_mes_down_epi</a:t>
            </a:r>
          </a:p>
        </p:txBody>
      </p:sp>
      <p:pic>
        <p:nvPicPr>
          <p:cNvPr id="4" name="Picture 3" descr="up_mes_down_epi_MCODE_ALL_PPIColorByCluster.png"/>
          <p:cNvPicPr>
            <a:picLocks noChangeAspect="1"/>
          </p:cNvPicPr>
          <p:nvPr/>
        </p:nvPicPr>
        <p:blipFill>
          <a:blip r:embed="rId2"/>
          <a:stretch>
            <a:fillRect/>
          </a:stretch>
        </p:blipFill>
        <p:spPr>
          <a:xfrm>
            <a:off x="640080" y="1784696"/>
            <a:ext cx="10911535" cy="4882178"/>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up_mes_down_epi</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up_mes_down_epi_PPIColorByCluster.png"/>
          <p:cNvPicPr>
            <a:picLocks noChangeAspect="1"/>
          </p:cNvPicPr>
          <p:nvPr/>
        </p:nvPicPr>
        <p:blipFill>
          <a:blip r:embed="rId2"/>
          <a:stretch>
            <a:fillRect/>
          </a:stretch>
        </p:blipFill>
        <p:spPr>
          <a:xfrm>
            <a:off x="1262019" y="1665465"/>
            <a:ext cx="9667656" cy="512064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up_epi_only</a:t>
            </a:r>
          </a:p>
        </p:txBody>
      </p:sp>
      <p:graphicFrame>
        <p:nvGraphicFramePr>
          <p:cNvPr id="4" name="Table 3"/>
          <p:cNvGraphicFramePr>
            <a:graphicFrameLocks noGrp="1"/>
          </p:cNvGraphicFramePr>
          <p:nvPr/>
        </p:nvGraphicFramePr>
        <p:xfrm>
          <a:off x="640080" y="1665465"/>
          <a:ext cx="10911535" cy="4274312"/>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1024128">
                <a:tc>
                  <a:txBody>
                    <a:bodyPr/>
                    <a:lstStyle/>
                    <a:p>
                      <a:r>
                        <a:t>up_epi_only</a:t>
                      </a:r>
                    </a:p>
                  </a:txBody>
                  <a:tcPr/>
                </a:tc>
                <a:tc>
                  <a:txBody>
                    <a:bodyPr/>
                    <a:lstStyle/>
                    <a:p>
                      <a:r>
                        <a:t>R-HSA-1280215|Cytokine Signaling in Immune system|-17.7;R-HSA-913531|Interferon Signaling|-10.6;GO:0045087|innate immune response|-9.7</a:t>
                      </a:r>
                    </a:p>
                  </a:txBody>
                  <a:tcPr/>
                </a:tc>
              </a:tr>
              <a:tr h="1024128">
                <a:tc>
                  <a:txBody>
                    <a:bodyPr/>
                    <a:lstStyle/>
                    <a:p>
                      <a:r>
                        <a:t>up_epi_only_MCODE_ALL</a:t>
                      </a:r>
                    </a:p>
                  </a:txBody>
                  <a:tcPr/>
                </a:tc>
                <a:tc>
                  <a:txBody>
                    <a:bodyPr/>
                    <a:lstStyle/>
                    <a:p>
                      <a:r>
                        <a:t>GO:0072678|T cell migration|-9.2;R-HSA-418594|G alpha (i) signalling events|-9.0;R-HSA-388396|GPCR downstream signalling|-8.9</a:t>
                      </a:r>
                    </a:p>
                  </a:txBody>
                  <a:tcPr/>
                </a:tc>
              </a:tr>
              <a:tr h="1024128">
                <a:tc>
                  <a:txBody>
                    <a:bodyPr/>
                    <a:lstStyle/>
                    <a:p>
                      <a:r>
                        <a:t>up_epi_only_SUB1_MCODE_1</a:t>
                      </a:r>
                    </a:p>
                  </a:txBody>
                  <a:tcPr/>
                </a:tc>
                <a:tc>
                  <a:txBody>
                    <a:bodyPr/>
                    <a:lstStyle/>
                    <a:p>
                      <a:r>
                        <a:t>GO:0072678|T cell migration|-11.2;R-HSA-375276|Peptide ligand-binding receptors|-10.9;GO:0048247|lymphocyte chemotaxis|-10.5</a:t>
                      </a:r>
                    </a:p>
                  </a:txBody>
                  <a:tcPr/>
                </a:tc>
              </a:tr>
              <a:tr h="1024128">
                <a:tc>
                  <a:txBody>
                    <a:bodyPr/>
                    <a:lstStyle/>
                    <a:p>
                      <a:r>
                        <a:t>up_epi_only_SUB1_MCODE_2</a:t>
                      </a:r>
                    </a:p>
                  </a:txBody>
                  <a:tcPr/>
                </a:tc>
                <a:tc>
                  <a:txBody>
                    <a:bodyPr/>
                    <a:lstStyle/>
                    <a:p>
                      <a:r>
                        <a:t>WP2272|Pathogenic Escherichia coli infection|-7.6;WP2359|Parkin ubiquitin proteasomal system pathway|-7.3;hsa04540|Gap junction|-7.0</a:t>
                      </a:r>
                    </a:p>
                  </a:txBody>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up_epi_only</a:t>
            </a:r>
          </a:p>
        </p:txBody>
      </p:sp>
      <p:pic>
        <p:nvPicPr>
          <p:cNvPr id="4" name="Picture 3" descr="up_epi_only_MCODE_ALL_PPIColorByCluster.png"/>
          <p:cNvPicPr>
            <a:picLocks noChangeAspect="1"/>
          </p:cNvPicPr>
          <p:nvPr/>
        </p:nvPicPr>
        <p:blipFill>
          <a:blip r:embed="rId2"/>
          <a:stretch>
            <a:fillRect/>
          </a:stretch>
        </p:blipFill>
        <p:spPr>
          <a:xfrm>
            <a:off x="640080" y="2805152"/>
            <a:ext cx="10911535" cy="2841267"/>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up_epi_only</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up_epi_only_PPIColorByCluster.png"/>
          <p:cNvPicPr>
            <a:picLocks noChangeAspect="1"/>
          </p:cNvPicPr>
          <p:nvPr/>
        </p:nvPicPr>
        <p:blipFill>
          <a:blip r:embed="rId2"/>
          <a:stretch>
            <a:fillRect/>
          </a:stretch>
        </p:blipFill>
        <p:spPr>
          <a:xfrm>
            <a:off x="1415918" y="1665465"/>
            <a:ext cx="9359858" cy="512064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up_common_genes</a:t>
            </a:r>
          </a:p>
        </p:txBody>
      </p:sp>
      <p:graphicFrame>
        <p:nvGraphicFramePr>
          <p:cNvPr id="4" name="Table 3"/>
          <p:cNvGraphicFramePr>
            <a:graphicFrameLocks noGrp="1"/>
          </p:cNvGraphicFramePr>
          <p:nvPr/>
        </p:nvGraphicFramePr>
        <p:xfrm>
          <a:off x="640080" y="1665465"/>
          <a:ext cx="10911535" cy="4786376"/>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512064">
                <a:tc>
                  <a:txBody>
                    <a:bodyPr/>
                    <a:lstStyle/>
                    <a:p>
                      <a:r>
                        <a:t>up_common_genes</a:t>
                      </a:r>
                    </a:p>
                  </a:txBody>
                  <a:tcPr/>
                </a:tc>
                <a:tc>
                  <a:txBody>
                    <a:bodyPr/>
                    <a:lstStyle/>
                    <a:p>
                      <a:r>
                        <a:t>R-HSA-1280215|Cytokine Signaling in Immune system|-35.1;M5890|HALLMARK TNFA SIGNALING VIA NFKB|-28.2;hsa05169|Epstein-Barr virus infection|-26.6</a:t>
                      </a:r>
                    </a:p>
                  </a:txBody>
                  <a:tcPr/>
                </a:tc>
              </a:tr>
              <a:tr h="512064">
                <a:tc>
                  <a:txBody>
                    <a:bodyPr/>
                    <a:lstStyle/>
                    <a:p>
                      <a:r>
                        <a:t>up_common_genes_MCODE_ALL</a:t>
                      </a:r>
                    </a:p>
                  </a:txBody>
                  <a:tcPr/>
                </a:tc>
                <a:tc>
                  <a:txBody>
                    <a:bodyPr/>
                    <a:lstStyle/>
                    <a:p>
                      <a:r>
                        <a:t>R-HSA-1280215|Cytokine Signaling in Immune system|-30.2;R-HSA-1236974|ER-Phagosome pathway|-28.1;R-HSA-1236975|Antigen processing-Cross presentation|-26.9</a:t>
                      </a:r>
                    </a:p>
                  </a:txBody>
                  <a:tcPr/>
                </a:tc>
              </a:tr>
              <a:tr h="512064">
                <a:tc>
                  <a:txBody>
                    <a:bodyPr/>
                    <a:lstStyle/>
                    <a:p>
                      <a:r>
                        <a:t>up_common_genes_SUB1_MCODE_1</a:t>
                      </a:r>
                    </a:p>
                  </a:txBody>
                  <a:tcPr/>
                </a:tc>
                <a:tc>
                  <a:txBody>
                    <a:bodyPr/>
                    <a:lstStyle/>
                    <a:p>
                      <a:r>
                        <a:t>R-HSA-5668541|TNFR2 non-canonical NF-kB pathway|-33.4;R-HSA-9020702|Interleukin-1 signaling|-29.7;R-HSA-5688426|Deubiquitination|-28.6</a:t>
                      </a:r>
                    </a:p>
                  </a:txBody>
                  <a:tcPr/>
                </a:tc>
              </a:tr>
              <a:tr h="512064">
                <a:tc>
                  <a:txBody>
                    <a:bodyPr/>
                    <a:lstStyle/>
                    <a:p>
                      <a:r>
                        <a:t>up_common_genes_SUB1_MCODE_2</a:t>
                      </a:r>
                    </a:p>
                  </a:txBody>
                  <a:tcPr/>
                </a:tc>
                <a:tc>
                  <a:txBody>
                    <a:bodyPr/>
                    <a:lstStyle/>
                    <a:p>
                      <a:r>
                        <a:t>R-HSA-418594|G alpha (i) signalling events|-15.9;R-HSA-373076|Class A/1 (Rhodopsin-like receptors)|-15.7;R-HSA-380108|Chemokine receptors bind chemokines|-14.9</a:t>
                      </a:r>
                    </a:p>
                  </a:txBody>
                  <a:tcPr/>
                </a:tc>
              </a:tr>
              <a:tr h="512064">
                <a:tc>
                  <a:txBody>
                    <a:bodyPr/>
                    <a:lstStyle/>
                    <a:p>
                      <a:r>
                        <a:t>up_common_genes_SUB1_MCODE_3</a:t>
                      </a:r>
                    </a:p>
                  </a:txBody>
                  <a:tcPr/>
                </a:tc>
                <a:tc>
                  <a:txBody>
                    <a:bodyPr/>
                    <a:lstStyle/>
                    <a:p>
                      <a:r>
                        <a:t>GO:0019885|antigen processing and presentation of endogenous peptide antigen via MHC class I|-19.0;GO:0002483|antigen processing and presentation of endogenous peptide antigen|-18.8;R-HSA-983170|Antigen Presentation: Folding, assembly and peptide loading of class I MHC|-18.4</a:t>
                      </a:r>
                    </a:p>
                  </a:txBody>
                  <a:tcPr/>
                </a:tc>
              </a:tr>
              <a:tr h="512064">
                <a:tc>
                  <a:txBody>
                    <a:bodyPr/>
                    <a:lstStyle/>
                    <a:p>
                      <a:r>
                        <a:t>up_common_genes_SUB1_MCODE_4</a:t>
                      </a:r>
                    </a:p>
                  </a:txBody>
                  <a:tcPr/>
                </a:tc>
                <a:tc>
                  <a:txBody>
                    <a:bodyPr/>
                    <a:lstStyle/>
                    <a:p>
                      <a:r>
                        <a:t>WP51|Regulation of actin cytoskeleton|-10.8;WP524|G13 signaling pathway|-10.5;R-HSA-422475|Axon guidance|-10.5</a:t>
                      </a:r>
                    </a:p>
                  </a:txBody>
                  <a:tcPr/>
                </a:tc>
              </a:tr>
              <a:tr h="512064">
                <a:tc>
                  <a:txBody>
                    <a:bodyPr/>
                    <a:lstStyle/>
                    <a:p>
                      <a:r>
                        <a:t>up_common_genes_SUB1_MCODE_5</a:t>
                      </a:r>
                    </a:p>
                  </a:txBody>
                  <a:tcPr/>
                </a:tc>
                <a:tc>
                  <a:txBody>
                    <a:bodyPr/>
                    <a:lstStyle/>
                    <a:p>
                      <a:r>
                        <a:t>GO:0002221|pattern recognition receptor signaling pathway|-6.2;GO:0002758|innate immune response-activating signaling pathway|-6.0;GO:0002218|activation of innate immune response|-5.8</a:t>
                      </a:r>
                    </a:p>
                  </a:txBody>
                  <a:tcPr/>
                </a:tc>
              </a:tr>
              <a:tr h="512064">
                <a:tc>
                  <a:txBody>
                    <a:bodyPr/>
                    <a:lstStyle/>
                    <a:p>
                      <a:r>
                        <a:t>up_common_genes_SUB1_MCODE_6</a:t>
                      </a:r>
                    </a:p>
                  </a:txBody>
                  <a:tcPr/>
                </a:tc>
                <a:tc>
                  <a:txBody>
                    <a:bodyPr/>
                    <a:lstStyle/>
                    <a:p>
                      <a:r>
                        <a:t>R-HSA-6811434|COPI-dependent Golgi-to-ER retrograde traffic|-10.0;R-HSA-8856688|Golgi-to-ER retrograde transport|-9.4;R-HSA-6811442|Intra-Golgi and retrograde Golgi-to-ER traffic|-8.7</a:t>
                      </a:r>
                    </a:p>
                  </a:txBody>
                  <a:tcPr/>
                </a:tc>
              </a:tr>
              <a:tr h="512064">
                <a:tc>
                  <a:txBody>
                    <a:bodyPr/>
                    <a:lstStyle/>
                    <a:p>
                      <a:r>
                        <a:t>up_common_genes_SUB1_MCODE_7</a:t>
                      </a:r>
                    </a:p>
                  </a:txBody>
                  <a:tcPr/>
                </a:tc>
                <a:tc>
                  <a:txBody>
                    <a:bodyPr/>
                    <a:lstStyle/>
                    <a:p>
                      <a:r>
                        <a:t>M36|PID IL27 PATHWAY|-9.3;hsa04659|Th17 cell differentiation|-7.4;GO:0019221|cytokine-mediated signaling pathway|-5.7</a:t>
                      </a:r>
                    </a:p>
                  </a:txBody>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up_common_genes</a:t>
            </a:r>
          </a:p>
        </p:txBody>
      </p:sp>
      <p:pic>
        <p:nvPicPr>
          <p:cNvPr id="4" name="Picture 3" descr="up_common_genes_MCODE_ALL_PPIColorByCluster.png"/>
          <p:cNvPicPr>
            <a:picLocks noChangeAspect="1"/>
          </p:cNvPicPr>
          <p:nvPr/>
        </p:nvPicPr>
        <p:blipFill>
          <a:blip r:embed="rId2"/>
          <a:stretch>
            <a:fillRect/>
          </a:stretch>
        </p:blipFill>
        <p:spPr>
          <a:xfrm>
            <a:off x="1122111" y="1665465"/>
            <a:ext cx="9947472" cy="512064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up_common_genes</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up_common_genes_PPIColorByCluster.png"/>
          <p:cNvPicPr>
            <a:picLocks noChangeAspect="1"/>
          </p:cNvPicPr>
          <p:nvPr/>
        </p:nvPicPr>
        <p:blipFill>
          <a:blip r:embed="rId2"/>
          <a:stretch>
            <a:fillRect/>
          </a:stretch>
        </p:blipFill>
        <p:spPr>
          <a:xfrm>
            <a:off x="3374633" y="1665465"/>
            <a:ext cx="5442428" cy="512064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down_mes_up_epi</a:t>
            </a:r>
          </a:p>
        </p:txBody>
      </p:sp>
      <p:graphicFrame>
        <p:nvGraphicFramePr>
          <p:cNvPr id="4" name="Table 3"/>
          <p:cNvGraphicFramePr>
            <a:graphicFrameLocks noGrp="1"/>
          </p:cNvGraphicFramePr>
          <p:nvPr/>
        </p:nvGraphicFramePr>
        <p:xfrm>
          <a:off x="640080" y="1665465"/>
          <a:ext cx="10911535" cy="4274312"/>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1024128">
                <a:tc>
                  <a:txBody>
                    <a:bodyPr/>
                    <a:lstStyle/>
                    <a:p>
                      <a:r>
                        <a:t>down_mes_up_epi</a:t>
                      </a:r>
                    </a:p>
                  </a:txBody>
                  <a:tcPr/>
                </a:tc>
                <a:tc>
                  <a:txBody>
                    <a:bodyPr/>
                    <a:lstStyle/>
                    <a:p>
                      <a:r>
                        <a:t>GO:0000165|MAPK cascade|-6.1;GO:0001933|negative regulation of protein phosphorylation|-6.0;GO:2001233|regulation of apoptotic signaling pathway|-5.8</a:t>
                      </a:r>
                    </a:p>
                  </a:txBody>
                  <a:tcPr/>
                </a:tc>
              </a:tr>
              <a:tr h="1024128">
                <a:tc>
                  <a:txBody>
                    <a:bodyPr/>
                    <a:lstStyle/>
                    <a:p>
                      <a:r>
                        <a:t>down_mes_up_epi_MCODE_ALL</a:t>
                      </a:r>
                    </a:p>
                  </a:txBody>
                  <a:tcPr/>
                </a:tc>
                <a:tc>
                  <a:txBody>
                    <a:bodyPr/>
                    <a:lstStyle/>
                    <a:p>
                      <a:r>
                        <a:t>WP185|Integrin mediated cell adhesion|-7.1;WP3932|Focal adhesion PI3K Akt mTOR signaling pathway|-6.9;WP306|Focal adhesion|-5.9</a:t>
                      </a:r>
                    </a:p>
                  </a:txBody>
                  <a:tcPr/>
                </a:tc>
              </a:tr>
              <a:tr h="1024128">
                <a:tc>
                  <a:txBody>
                    <a:bodyPr/>
                    <a:lstStyle/>
                    <a:p>
                      <a:r>
                        <a:t>down_mes_up_epi_SUB1_MCODE_1</a:t>
                      </a:r>
                    </a:p>
                  </a:txBody>
                  <a:tcPr/>
                </a:tc>
                <a:tc>
                  <a:txBody>
                    <a:bodyPr/>
                    <a:lstStyle/>
                    <a:p>
                      <a:r>
                        <a:t>R-HSA-422356|Regulation of insulin secretion|-6.0;hsa05032|Morphine addiction|-5.8;R-HSA-373080|Class B/2 (Secretin family receptors)|-5.8</a:t>
                      </a:r>
                    </a:p>
                  </a:txBody>
                  <a:tcPr/>
                </a:tc>
              </a:tr>
              <a:tr h="1024128">
                <a:tc>
                  <a:txBody>
                    <a:bodyPr/>
                    <a:lstStyle/>
                    <a:p>
                      <a:r>
                        <a:t>down_mes_up_epi_SUB1_MCODE_2</a:t>
                      </a:r>
                    </a:p>
                  </a:txBody>
                  <a:tcPr/>
                </a:tc>
                <a:tc>
                  <a:txBody>
                    <a:bodyPr/>
                    <a:lstStyle/>
                    <a:p>
                      <a:r>
                        <a:t>WP185|Integrin mediated cell adhesion|-9.2;WP306|Focal adhesion|-8.0;hsa04510|Focal adhesion|-8.0</a:t>
                      </a:r>
                    </a:p>
                  </a:txBody>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down_mes_up_epi</a:t>
            </a:r>
          </a:p>
        </p:txBody>
      </p:sp>
      <p:pic>
        <p:nvPicPr>
          <p:cNvPr id="4" name="Picture 3" descr="down_mes_up_epi_MCODE_ALL_PPIColorByCluster.png"/>
          <p:cNvPicPr>
            <a:picLocks noChangeAspect="1"/>
          </p:cNvPicPr>
          <p:nvPr/>
        </p:nvPicPr>
        <p:blipFill>
          <a:blip r:embed="rId2"/>
          <a:stretch>
            <a:fillRect/>
          </a:stretch>
        </p:blipFill>
        <p:spPr>
          <a:xfrm>
            <a:off x="640080" y="1984696"/>
            <a:ext cx="10911535" cy="4482179"/>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down_mes_up_epi</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down_mes_up_epi_PPIColorByCluster.png"/>
          <p:cNvPicPr>
            <a:picLocks noChangeAspect="1"/>
          </p:cNvPicPr>
          <p:nvPr/>
        </p:nvPicPr>
        <p:blipFill>
          <a:blip r:embed="rId2"/>
          <a:stretch>
            <a:fillRect/>
          </a:stretch>
        </p:blipFill>
        <p:spPr>
          <a:xfrm>
            <a:off x="640080" y="1769684"/>
            <a:ext cx="10911535" cy="4912203"/>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down_mes_only</a:t>
            </a:r>
          </a:p>
        </p:txBody>
      </p:sp>
      <p:graphicFrame>
        <p:nvGraphicFramePr>
          <p:cNvPr id="4" name="Table 3"/>
          <p:cNvGraphicFramePr>
            <a:graphicFrameLocks noGrp="1"/>
          </p:cNvGraphicFramePr>
          <p:nvPr/>
        </p:nvGraphicFramePr>
        <p:xfrm>
          <a:off x="640080" y="1665465"/>
          <a:ext cx="10911535" cy="472948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568960">
                <a:tc>
                  <a:txBody>
                    <a:bodyPr/>
                    <a:lstStyle/>
                    <a:p>
                      <a:r>
                        <a:t>down_mes_only</a:t>
                      </a:r>
                    </a:p>
                  </a:txBody>
                  <a:tcPr/>
                </a:tc>
                <a:tc>
                  <a:txBody>
                    <a:bodyPr/>
                    <a:lstStyle/>
                    <a:p>
                      <a:r>
                        <a:t>R-HSA-1852241|Organelle biogenesis and maintenance|-10.7;GO:0006325|chromatin organization|-8.2;M5925|HALLMARK E2F TARGETS|-7.0</a:t>
                      </a:r>
                    </a:p>
                  </a:txBody>
                  <a:tcPr/>
                </a:tc>
              </a:tr>
              <a:tr h="568960">
                <a:tc>
                  <a:txBody>
                    <a:bodyPr/>
                    <a:lstStyle/>
                    <a:p>
                      <a:r>
                        <a:t>down_mes_only_MCODE_ALL</a:t>
                      </a:r>
                    </a:p>
                  </a:txBody>
                  <a:tcPr/>
                </a:tc>
                <a:tc>
                  <a:txBody>
                    <a:bodyPr/>
                    <a:lstStyle/>
                    <a:p>
                      <a:r>
                        <a:t>R-HSA-1852241|Organelle biogenesis and maintenance|-9.2;R-HSA-68877|Mitotic Prometaphase|-7.6;R-HSA-3700989|Transcriptional Regulation by TP53|-7.2</a:t>
                      </a:r>
                    </a:p>
                  </a:txBody>
                  <a:tcPr/>
                </a:tc>
              </a:tr>
              <a:tr h="568960">
                <a:tc>
                  <a:txBody>
                    <a:bodyPr/>
                    <a:lstStyle/>
                    <a:p>
                      <a:r>
                        <a:t>down_mes_only_SUB1_MCODE_1</a:t>
                      </a:r>
                    </a:p>
                  </a:txBody>
                  <a:tcPr/>
                </a:tc>
                <a:tc>
                  <a:txBody>
                    <a:bodyPr/>
                    <a:lstStyle/>
                    <a:p>
                      <a:r>
                        <a:t>GO:0048013|ephrin receptor signaling pathway|-5.6;GO:0007169|transmembrane receptor protein tyrosine kinase signaling pathway|-5.6;hsa04360|Axon guidance|-5.5</a:t>
                      </a:r>
                    </a:p>
                  </a:txBody>
                  <a:tcPr/>
                </a:tc>
              </a:tr>
              <a:tr h="568960">
                <a:tc>
                  <a:txBody>
                    <a:bodyPr/>
                    <a:lstStyle/>
                    <a:p>
                      <a:r>
                        <a:t>down_mes_only_SUB1_MCODE_2</a:t>
                      </a:r>
                    </a:p>
                  </a:txBody>
                  <a:tcPr/>
                </a:tc>
                <a:tc>
                  <a:txBody>
                    <a:bodyPr/>
                    <a:lstStyle/>
                    <a:p>
                      <a:r>
                        <a:t>M101|PID HDAC CLASSI PATHWAY|-7.8;R-HSA-8951664|Neddylation|-7.4;M219|PID HEDGEHOG GLI PATHWAY|-6.0</a:t>
                      </a:r>
                    </a:p>
                  </a:txBody>
                  <a:tcPr/>
                </a:tc>
              </a:tr>
              <a:tr h="568960">
                <a:tc>
                  <a:txBody>
                    <a:bodyPr/>
                    <a:lstStyle/>
                    <a:p>
                      <a:r>
                        <a:t>down_mes_only_SUB1_MCODE_3</a:t>
                      </a:r>
                    </a:p>
                  </a:txBody>
                  <a:tcPr/>
                </a:tc>
                <a:tc>
                  <a:txBody>
                    <a:bodyPr/>
                    <a:lstStyle/>
                    <a:p>
                      <a:r>
                        <a:t>WP51|Regulation of actin cytoskeleton|-9.2;hsa04810|Regulation of actin cytoskeleton|-8.5;R-HSA-1660499|Synthesis of PIPs at the plasma membrane|-7.7</a:t>
                      </a:r>
                    </a:p>
                  </a:txBody>
                  <a:tcPr/>
                </a:tc>
              </a:tr>
              <a:tr h="568960">
                <a:tc>
                  <a:txBody>
                    <a:bodyPr/>
                    <a:lstStyle/>
                    <a:p>
                      <a:r>
                        <a:t>down_mes_only_SUB1_MCODE_4</a:t>
                      </a:r>
                    </a:p>
                  </a:txBody>
                  <a:tcPr/>
                </a:tc>
                <a:tc>
                  <a:txBody>
                    <a:bodyPr/>
                    <a:lstStyle/>
                    <a:p>
                      <a:r>
                        <a:t>R-HSA-5617472|Activation of anterior HOX genes in hindbrain development during early embryogenesis|-7.2;R-HSA-5619507|Activation of HOX genes during differentiation|-7.2</a:t>
                      </a:r>
                    </a:p>
                  </a:txBody>
                  <a:tcPr/>
                </a:tc>
              </a:tr>
              <a:tr h="568960">
                <a:tc>
                  <a:txBody>
                    <a:bodyPr/>
                    <a:lstStyle/>
                    <a:p>
                      <a:r>
                        <a:t>down_mes_only_SUB1_MCODE_5</a:t>
                      </a:r>
                    </a:p>
                  </a:txBody>
                  <a:tcPr/>
                </a:tc>
                <a:tc>
                  <a:txBody>
                    <a:bodyPr/>
                    <a:lstStyle/>
                    <a:p>
                      <a:r>
                        <a:t>R-HSA-380284|Loss of proteins required for interphase microtubule organization from the centrosome|-7.9;R-HSA-380259|Loss of Nlp from mitotic centrosomes|-7.9;R-HSA-8854518|AURKA Activation by TPX2|-7.9</a:t>
                      </a:r>
                    </a:p>
                  </a:txBody>
                  <a:tcPr/>
                </a:tc>
              </a:tr>
              <a:tr h="568960">
                <a:tc>
                  <a:txBody>
                    <a:bodyPr/>
                    <a:lstStyle/>
                    <a:p>
                      <a:r>
                        <a:t>down_mes_only_SUB1_MCODE_7</a:t>
                      </a:r>
                    </a:p>
                  </a:txBody>
                  <a:tcPr/>
                </a:tc>
                <a:tc>
                  <a:txBody>
                    <a:bodyPr/>
                    <a:lstStyle/>
                    <a:p>
                      <a:r>
                        <a:t>GO:0006325|chromatin organization|-4.7</a:t>
                      </a:r>
                    </a:p>
                  </a:txBody>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down_mes_only</a:t>
            </a:r>
          </a:p>
        </p:txBody>
      </p:sp>
      <p:pic>
        <p:nvPicPr>
          <p:cNvPr id="4" name="Picture 3" descr="down_mes_only_MCODE_ALL_PPIColorByCluster.png"/>
          <p:cNvPicPr>
            <a:picLocks noChangeAspect="1"/>
          </p:cNvPicPr>
          <p:nvPr/>
        </p:nvPicPr>
        <p:blipFill>
          <a:blip r:embed="rId2"/>
          <a:stretch>
            <a:fillRect/>
          </a:stretch>
        </p:blipFill>
        <p:spPr>
          <a:xfrm>
            <a:off x="640080" y="1784696"/>
            <a:ext cx="10911535" cy="4882178"/>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down_mes_only</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down_mes_only_PPIColorByCluster.png"/>
          <p:cNvPicPr>
            <a:picLocks noChangeAspect="1"/>
          </p:cNvPicPr>
          <p:nvPr/>
        </p:nvPicPr>
        <p:blipFill>
          <a:blip r:embed="rId2"/>
          <a:stretch>
            <a:fillRect/>
          </a:stretch>
        </p:blipFill>
        <p:spPr>
          <a:xfrm>
            <a:off x="1387937" y="1665465"/>
            <a:ext cx="9415821" cy="512064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down_epi_only</a:t>
            </a:r>
          </a:p>
        </p:txBody>
      </p:sp>
      <p:graphicFrame>
        <p:nvGraphicFramePr>
          <p:cNvPr id="4" name="Table 3"/>
          <p:cNvGraphicFramePr>
            <a:graphicFrameLocks noGrp="1"/>
          </p:cNvGraphicFramePr>
          <p:nvPr/>
        </p:nvGraphicFramePr>
        <p:xfrm>
          <a:off x="640080" y="1665465"/>
          <a:ext cx="10911535" cy="4786376"/>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512064">
                <a:tc>
                  <a:txBody>
                    <a:bodyPr/>
                    <a:lstStyle/>
                    <a:p>
                      <a:r>
                        <a:t>down_epi_only</a:t>
                      </a:r>
                    </a:p>
                  </a:txBody>
                  <a:tcPr/>
                </a:tc>
                <a:tc>
                  <a:txBody>
                    <a:bodyPr/>
                    <a:lstStyle/>
                    <a:p>
                      <a:r>
                        <a:t>WP5390|Pancreatic cancer subtypes|-12.7;GO:0010817|regulation of hormone levels|-10.1;GO:1901615|organic hydroxy compound metabolic process|-10.1</a:t>
                      </a:r>
                    </a:p>
                  </a:txBody>
                  <a:tcPr/>
                </a:tc>
              </a:tr>
              <a:tr h="512064">
                <a:tc>
                  <a:txBody>
                    <a:bodyPr/>
                    <a:lstStyle/>
                    <a:p>
                      <a:r>
                        <a:t>down_epi_only_MCODE_ALL</a:t>
                      </a:r>
                    </a:p>
                  </a:txBody>
                  <a:tcPr/>
                </a:tc>
                <a:tc>
                  <a:txBody>
                    <a:bodyPr/>
                    <a:lstStyle/>
                    <a:p>
                      <a:r>
                        <a:t>R-HSA-381426|Regulation of Insulin-like Growth Factor (IGF) transport and uptake by Insulin-like Growth Factor Binding Proteins (IGFBPs)|-13.1;R-HSA-8957275|Post-translational protein phosphorylation|-11.8;GO:0034381|plasma lipoprotein particle clearance|-9.8</a:t>
                      </a:r>
                    </a:p>
                  </a:txBody>
                  <a:tcPr/>
                </a:tc>
              </a:tr>
              <a:tr h="512064">
                <a:tc>
                  <a:txBody>
                    <a:bodyPr/>
                    <a:lstStyle/>
                    <a:p>
                      <a:r>
                        <a:t>down_epi_only_SUB1_MCODE_1</a:t>
                      </a:r>
                    </a:p>
                  </a:txBody>
                  <a:tcPr/>
                </a:tc>
                <a:tc>
                  <a:txBody>
                    <a:bodyPr/>
                    <a:lstStyle/>
                    <a:p>
                      <a:r>
                        <a:t>GO:0034381|plasma lipoprotein particle clearance|-12.4;R-HSA-416476|G alpha (q) signalling events|-11.6;hsa04979|Cholesterol metabolism|-10.7</a:t>
                      </a:r>
                    </a:p>
                  </a:txBody>
                  <a:tcPr/>
                </a:tc>
              </a:tr>
              <a:tr h="512064">
                <a:tc>
                  <a:txBody>
                    <a:bodyPr/>
                    <a:lstStyle/>
                    <a:p>
                      <a:r>
                        <a:t>down_epi_only_SUB1_MCODE_2</a:t>
                      </a:r>
                    </a:p>
                  </a:txBody>
                  <a:tcPr/>
                </a:tc>
                <a:tc>
                  <a:txBody>
                    <a:bodyPr/>
                    <a:lstStyle/>
                    <a:p>
                      <a:r>
                        <a:t>R-HSA-9662361|Sensory processing of sound by outer hair cells of the cochlea|-8.9;R-HSA-9662360|Sensory processing of sound by inner hair cells of the cochlea|-8.5;R-HSA-9659379|Sensory processing of sound|-8.3</a:t>
                      </a:r>
                    </a:p>
                  </a:txBody>
                  <a:tcPr/>
                </a:tc>
              </a:tr>
              <a:tr h="512064">
                <a:tc>
                  <a:txBody>
                    <a:bodyPr/>
                    <a:lstStyle/>
                    <a:p>
                      <a:r>
                        <a:t>down_epi_only_SUB1_MCODE_3</a:t>
                      </a:r>
                    </a:p>
                  </a:txBody>
                  <a:tcPr/>
                </a:tc>
                <a:tc>
                  <a:txBody>
                    <a:bodyPr/>
                    <a:lstStyle/>
                    <a:p>
                      <a:r>
                        <a:t>R-HSA-8957275|Post-translational protein phosphorylation|-12.3;R-HSA-381426|Regulation of Insulin-like Growth Factor (IGF) transport and uptake by Insulin-like Growth Factor Binding Proteins (IGFBPs)|-12.0;WP558|Complement and coagulation cascades|-10.2</a:t>
                      </a:r>
                    </a:p>
                  </a:txBody>
                  <a:tcPr/>
                </a:tc>
              </a:tr>
              <a:tr h="512064">
                <a:tc>
                  <a:txBody>
                    <a:bodyPr/>
                    <a:lstStyle/>
                    <a:p>
                      <a:r>
                        <a:t>down_epi_only_SUB1_MCODE_4</a:t>
                      </a:r>
                    </a:p>
                  </a:txBody>
                  <a:tcPr/>
                </a:tc>
                <a:tc>
                  <a:txBody>
                    <a:bodyPr/>
                    <a:lstStyle/>
                    <a:p>
                      <a:r>
                        <a:t>R-HSA-913709|O-linked glycosylation of mucins|-10.7;R-HSA-5173105|O-linked glycosylation|-9.8</a:t>
                      </a:r>
                    </a:p>
                  </a:txBody>
                  <a:tcPr/>
                </a:tc>
              </a:tr>
              <a:tr h="512064">
                <a:tc>
                  <a:txBody>
                    <a:bodyPr/>
                    <a:lstStyle/>
                    <a:p>
                      <a:r>
                        <a:t>down_epi_only_SUB1_MCODE_5</a:t>
                      </a:r>
                    </a:p>
                  </a:txBody>
                  <a:tcPr/>
                </a:tc>
                <a:tc>
                  <a:txBody>
                    <a:bodyPr/>
                    <a:lstStyle/>
                    <a:p>
                      <a:r>
                        <a:t>WP334|GPCRs class B secretin like|-9.4;R-HSA-420092|Glucagon-type ligand receptors|-8.9;R-HSA-373080|Class B/2 (Secretin family receptors)|-7.5</a:t>
                      </a:r>
                    </a:p>
                  </a:txBody>
                  <a:tcPr/>
                </a:tc>
              </a:tr>
              <a:tr h="512064">
                <a:tc>
                  <a:txBody>
                    <a:bodyPr/>
                    <a:lstStyle/>
                    <a:p>
                      <a:r>
                        <a:t>down_epi_only_SUB1_MCODE_6</a:t>
                      </a:r>
                    </a:p>
                  </a:txBody>
                  <a:tcPr/>
                </a:tc>
                <a:tc>
                  <a:txBody>
                    <a:bodyPr/>
                    <a:lstStyle/>
                    <a:p>
                      <a:r>
                        <a:t>GO:1904970|brush border assembly|-10.9;WP5380|5q35 copy number variation|-7.3</a:t>
                      </a:r>
                    </a:p>
                  </a:txBody>
                  <a:tcPr/>
                </a:tc>
              </a:tr>
              <a:tr h="512064">
                <a:tc>
                  <a:txBody>
                    <a:bodyPr/>
                    <a:lstStyle/>
                    <a:p>
                      <a:r>
                        <a:t>down_epi_only_SUB1_MCODE_7</a:t>
                      </a:r>
                    </a:p>
                  </a:txBody>
                  <a:tcPr/>
                </a:tc>
                <a:tc>
                  <a:txBody>
                    <a:bodyPr/>
                    <a:lstStyle/>
                    <a:p>
                      <a:r>
                        <a:t>R-HSA-936837|Ion transport by P-type ATPases|-8.2;hsa04978|Mineral absorption|-8.1;R-HSA-983712|Ion channel transport|-6.6</a:t>
                      </a:r>
                    </a:p>
                  </a:txBody>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down_epi_only</a:t>
            </a:r>
          </a:p>
        </p:txBody>
      </p:sp>
      <p:pic>
        <p:nvPicPr>
          <p:cNvPr id="4" name="Picture 3" descr="down_epi_only_MCODE_ALL_PPIColorByCluster.png"/>
          <p:cNvPicPr>
            <a:picLocks noChangeAspect="1"/>
          </p:cNvPicPr>
          <p:nvPr/>
        </p:nvPicPr>
        <p:blipFill>
          <a:blip r:embed="rId2"/>
          <a:stretch>
            <a:fillRect/>
          </a:stretch>
        </p:blipFill>
        <p:spPr>
          <a:xfrm>
            <a:off x="640080" y="1704560"/>
            <a:ext cx="10911535" cy="5042451"/>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down_epi_only</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down_epi_only_PPIColorByCluster.png"/>
          <p:cNvPicPr>
            <a:picLocks noChangeAspect="1"/>
          </p:cNvPicPr>
          <p:nvPr/>
        </p:nvPicPr>
        <p:blipFill>
          <a:blip r:embed="rId2"/>
          <a:stretch>
            <a:fillRect/>
          </a:stretch>
        </p:blipFill>
        <p:spPr>
          <a:xfrm>
            <a:off x="1863625" y="1665465"/>
            <a:ext cx="8464445" cy="5120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1766</TotalTime>
  <Words>1993</Words>
  <Application>Microsoft Office PowerPoint</Application>
  <PresentationFormat>Widescreen</PresentationFormat>
  <Paragraphs>123</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宋体</vt:lpstr>
      <vt:lpstr>Arial</vt:lpstr>
      <vt:lpstr>Calibri</vt:lpstr>
      <vt:lpstr>Office Theme</vt:lpstr>
      <vt:lpstr>PowerPoint Presentation</vt:lpstr>
      <vt:lpstr>Gene List Summary</vt:lpstr>
      <vt:lpstr>Gene Overlap Analysis</vt:lpstr>
      <vt:lpstr>Membership Analysis</vt:lpstr>
      <vt:lpstr>Gene Overlap Analysis Expanded via Shared Enriched Ontologies</vt:lpstr>
      <vt:lpstr>Enriched Ontology Clusters Across Studies</vt:lpstr>
      <vt:lpstr>Enriched Ontology Clusters Colored by Cluster ID</vt:lpstr>
      <vt:lpstr>Enriched Ontology Clusters Colored by p-Value</vt:lpstr>
      <vt:lpstr>Enriched Ontology Clusters Pied by Gene Counts Across Studies</vt:lpstr>
      <vt:lpstr>Protein-protein Interaction Network</vt:lpstr>
      <vt:lpstr>PPI MCODE Components</vt:lpstr>
      <vt:lpstr>Biological Interpretation PPI Network &amp; MCODE Components</vt:lpstr>
      <vt:lpstr>PPI Network for Lists Merged Pied by Gene Origin in Studies </vt:lpstr>
      <vt:lpstr>PPI Network for Lists Merged Colored by MCODE ID</vt:lpstr>
      <vt:lpstr>PowerPoint Presentation</vt:lpstr>
      <vt:lpstr>MCODE for Lists Merged Pied by Gene Origin in Studies</vt:lpstr>
      <vt:lpstr>Biological Interpretation MCODE Components for Lists Merged</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2021-12-03T05:56:47Z</dcterms:modified>
</cp:coreProperties>
</file>