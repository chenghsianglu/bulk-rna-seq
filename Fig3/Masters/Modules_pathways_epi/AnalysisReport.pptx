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7" r:id="rId2"/>
    <p:sldId id="257" r:id="rId3"/>
    <p:sldId id="267" r:id="rId4"/>
    <p:sldId id="268" r:id="rId6"/>
    <p:sldId id="261" r:id="rId7"/>
    <p:sldId id="262" r:id="rId8"/>
    <p:sldId id="265" r:id="rId9"/>
    <p:sldId id="269" r:id="rId10"/>
    <p:sldId id="263" r:id="rId11"/>
    <p:sldId id="266" r:id="rId12"/>
    <p:sldId id="264" r:id="rId13"/>
    <p:sldId id="294" r:id="rId40"/>
    <p:sldId id="293" r:id="rId39"/>
    <p:sldId id="292" r:id="rId38"/>
    <p:sldId id="291" r:id="rId37"/>
    <p:sldId id="290" r:id="rId36"/>
    <p:sldId id="289" r:id="rId35"/>
    <p:sldId id="288" r:id="rId34"/>
    <p:sldId id="287" r:id="rId33"/>
    <p:sldId id="286" r:id="rId32"/>
    <p:sldId id="285" r:id="rId31"/>
    <p:sldId id="284" r:id="rId30"/>
    <p:sldId id="283" r:id="rId29"/>
    <p:sldId id="282" r:id="rId28"/>
    <p:sldId id="281" r:id="rId27"/>
    <p:sldId id="280" r:id="rId26"/>
    <p:sldId id="276" r:id="rId19"/>
    <p:sldId id="279"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 Type="http://schemas.openxmlformats.org/officeDocument/2006/relationships/slide" Target="slides/slide1.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slide" Target="slides/slide2.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slide" Target="slides/slide3.xml"/><Relationship Id="rId40" Type="http://schemas.openxmlformats.org/officeDocument/2006/relationships/slide" Target="slides/slide34.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This analysis</a:t>
            </a:r>
            <a:r>
              <a:rPr lang="en-US" baseline="0" dirty="0" smtClean="0"/>
              <a:t> report is automatically generated by Metascape (https://metascape.org).</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830035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first</a:t>
            </a:r>
            <a:r>
              <a:rPr lang="en-US" baseline="0" dirty="0" smtClean="0"/>
              <a:t> </a:t>
            </a:r>
            <a:r>
              <a:rPr lang="en-US" dirty="0" smtClean="0"/>
              <a:t>automatically </a:t>
            </a:r>
            <a:r>
              <a:rPr lang="en-US" baseline="0" dirty="0" smtClean="0"/>
              <a:t>converts you input identifiers (</a:t>
            </a:r>
            <a:r>
              <a:rPr lang="en-US" baseline="0" dirty="0" err="1" smtClean="0"/>
              <a:t>Entrez</a:t>
            </a:r>
            <a:r>
              <a:rPr lang="en-US" baseline="0" dirty="0" smtClean="0"/>
              <a:t> Gene 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Symbol) into Human </a:t>
            </a:r>
            <a:r>
              <a:rPr lang="en-US" baseline="0" dirty="0" err="1" smtClean="0"/>
              <a:t>Entrez</a:t>
            </a:r>
            <a:r>
              <a:rPr lang="en-US" baseline="0" dirty="0" smtClean="0"/>
              <a:t> Gene ID.  For example, input identifiers can be from human, mouse or rat </a:t>
            </a:r>
            <a:r>
              <a:rPr lang="en-US" baseline="0" dirty="0" err="1" smtClean="0"/>
              <a:t>orthologs</a:t>
            </a:r>
            <a:r>
              <a:rPr lang="en-US" baseline="0" dirty="0" smtClean="0"/>
              <a:t>, which can be mapped into human (or “analysis as” species) based on 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baseline="0" dirty="0" smtClean="0"/>
          </a:p>
          <a:p>
            <a:r>
              <a:rPr lang="en-US" baseline="0" dirty="0" smtClean="0"/>
              <a:t>The background of each row is the color code used in the various plots within this report, where each color is consistently used to code a corresponding gene list.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a:t>
            </a:r>
          </a:p>
          <a:p>
            <a:endParaRPr lang="en-US" baseline="0" dirty="0" smtClean="0"/>
          </a:p>
          <a:p>
            <a:r>
              <a:rPr lang="en-US" baseline="0" dirty="0" smtClean="0"/>
              <a:t>The greater the number of purple links and the longer the dark orange arcs implies greater overlap among the input gene lists.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01090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distribution.</a:t>
            </a:r>
          </a:p>
          <a:p>
            <a:r>
              <a:rPr lang="en-US" baseline="0" dirty="0" smtClean="0"/>
              <a:t>By 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a:t>
            </a:r>
            <a:r>
              <a:rPr lang="en-US" dirty="0" err="1" smtClean="0"/>
              <a:t>Circos</a:t>
            </a:r>
            <a:r>
              <a:rPr lang="en-US" baseline="0" dirty="0" smtClean="0"/>
              <a:t> plot shows how genes from the input gene lists overlap.</a:t>
            </a:r>
          </a:p>
          <a:p>
            <a:endParaRPr lang="en-US" baseline="0" dirty="0" smtClean="0"/>
          </a:p>
          <a:p>
            <a:r>
              <a:rPr lang="en-US" baseline="0" dirty="0" smtClean="0"/>
              <a:t>On the outside, each arc represents the identity of each gene list, using the same color code as the color used for table rows in slide #2.</a:t>
            </a:r>
          </a:p>
          <a:p>
            <a:endParaRPr lang="en-US" baseline="0" dirty="0" smtClean="0"/>
          </a:p>
          <a:p>
            <a:r>
              <a:rPr lang="en-US" baseline="0" dirty="0" smtClean="0"/>
              <a:t>On the inside, each arc represents a gene list, where each gene member of that list is assigned a spot on the arc.  Dark orange color represents the genes that are shared by multiple lists and light orange color represents genes that are unique to that gene list.</a:t>
            </a:r>
          </a:p>
          <a:p>
            <a:endParaRPr lang="en-US" baseline="0" dirty="0" smtClean="0"/>
          </a:p>
          <a:p>
            <a:r>
              <a:rPr lang="en-US" baseline="0" dirty="0" smtClean="0"/>
              <a:t>Purple lines link the same gene that are shared by multiple gene lists (notice a gene that appears in two gene lists will be mapped once onto each gene list, therefore, the two positions are purple linked).  Blue lines link the genes, although different, fall under the same ontology term (the term has to statistically significantly enriched and with size no larger than 100).</a:t>
            </a:r>
          </a:p>
          <a:p>
            <a:endParaRPr lang="en-US" baseline="0" dirty="0" smtClean="0"/>
          </a:p>
          <a:p>
            <a:r>
              <a:rPr lang="en-US" baseline="0" dirty="0" smtClean="0"/>
              <a:t>The greater the number of purple links and the longer the dark orange arcs implies greater overlap among the input gene lists.  Blue links indicate the amount of functional overlap among the input gene lists.  It is common in meta-analysis that we observe little directly overlap among studies, due to the variations in the biological assays used.  However, we tend to see a lot more functional overlap, as these studies probably pick up different subset of gene members of the same biological processes.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3750659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the term with the best p-value within each cluster as its representative term and display them in a </a:t>
            </a:r>
            <a:r>
              <a:rPr lang="en-US" baseline="0" dirty="0" err="1" smtClean="0"/>
              <a:t>dendrogram</a:t>
            </a:r>
            <a:r>
              <a:rPr lang="en-US" baseline="0" dirty="0" smtClean="0"/>
              <a:t>. The </a:t>
            </a:r>
            <a:r>
              <a:rPr lang="en-US" baseline="0" dirty="0" err="1" smtClean="0"/>
              <a:t>heatmap</a:t>
            </a:r>
            <a:r>
              <a:rPr lang="en-US" baseline="0" dirty="0" smtClean="0"/>
              <a:t> cells are colored by their p-values, white cells indicate the lack of enrichment for that term in the corresponding gene list.  We also export files behind this </a:t>
            </a:r>
            <a:r>
              <a:rPr lang="en-US" baseline="0" dirty="0" err="1" smtClean="0"/>
              <a:t>heatmap</a:t>
            </a:r>
            <a:r>
              <a:rPr lang="en-US" baseline="0" dirty="0" smtClean="0"/>
              <a:t> (.</a:t>
            </a:r>
            <a:r>
              <a:rPr lang="en-US" baseline="0" dirty="0" err="1" smtClean="0"/>
              <a:t>cdt</a:t>
            </a:r>
            <a:r>
              <a:rPr lang="en-US" baseline="0" dirty="0" smtClean="0"/>
              <a:t>, .</a:t>
            </a:r>
            <a:r>
              <a:rPr lang="en-US" baseline="0" dirty="0" err="1" smtClean="0"/>
              <a:t>gtr</a:t>
            </a:r>
            <a:r>
              <a:rPr lang="en-US" baseline="0" dirty="0" smtClean="0"/>
              <a:t>, .</a:t>
            </a:r>
            <a:r>
              <a:rPr lang="en-US" baseline="0" dirty="0" err="1" smtClean="0"/>
              <a:t>atr</a:t>
            </a:r>
            <a:r>
              <a:rPr lang="en-US" baseline="0" dirty="0" smtClean="0"/>
              <a:t>, and .</a:t>
            </a:r>
            <a:r>
              <a:rPr lang="en-US" baseline="0" dirty="0" err="1" smtClean="0"/>
              <a:t>jtv</a:t>
            </a:r>
            <a:r>
              <a:rPr lang="en-US" baseline="0" dirty="0" smtClean="0"/>
              <a:t> files), so that one can visualize it interactively using </a:t>
            </a:r>
            <a:r>
              <a:rPr lang="en-US" baseline="0" dirty="0" err="1" smtClean="0"/>
              <a:t>JTreeView</a:t>
            </a:r>
            <a:r>
              <a:rPr lang="en-US" baseline="0" dirty="0" smtClean="0"/>
              <a:t> program (http://sourceforge.net/projects/jtreeview/).  The PDF version of the graph can be found in the zip package.</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converted them into a network layout.  More specifically, each term is represented by a circle node, where its size is proportional to the number of input genes fall under 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with “force-directed”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displayed as pies.  Each pie sector is proportional to the number of hits originated from a gene list.</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Color code for pie sector represents a gene list and is consistent with the colors used for table rows in slide #2.</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8393612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extract “biological meanings”.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Each MCODE network is assigned a unique color.</a:t>
            </a:r>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12</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into one list and resulted in a PPI network.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13</a:t>
            </a:fld>
            <a:endParaRPr lang="en-US"/>
          </a:p>
        </p:txBody>
      </p:sp>
    </p:spTree>
    <p:extLst>
      <p:ext uri="{BB962C8B-B14F-4D97-AF65-F5344CB8AC3E}">
        <p14:creationId xmlns:p14="http://schemas.microsoft.com/office/powerpoint/2010/main" val="5563768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input gene lists were also merged.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14</a:t>
            </a:fld>
            <a:endParaRPr lang="en-US"/>
          </a:p>
        </p:txBody>
      </p:sp>
    </p:spTree>
    <p:extLst>
      <p:ext uri="{BB962C8B-B14F-4D97-AF65-F5344CB8AC3E}">
        <p14:creationId xmlns:p14="http://schemas.microsoft.com/office/powerpoint/2010/main" val="1278786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components  were identified from the merged network. Each MCODE network is assigned a unique color.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15</a:t>
            </a:fld>
            <a:endParaRPr lang="en-US"/>
          </a:p>
        </p:txBody>
      </p:sp>
    </p:spTree>
    <p:extLst>
      <p:ext uri="{BB962C8B-B14F-4D97-AF65-F5344CB8AC3E}">
        <p14:creationId xmlns:p14="http://schemas.microsoft.com/office/powerpoint/2010/main" val="21772089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Network nodes are displayed as pies.   Color code for pie sector represents a gene list and is consistent with the colors used for table rows in slide #2.</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16</a:t>
            </a:fld>
            <a:endParaRPr lang="en-US"/>
          </a:p>
        </p:txBody>
      </p:sp>
    </p:spTree>
    <p:extLst>
      <p:ext uri="{BB962C8B-B14F-4D97-AF65-F5344CB8AC3E}">
        <p14:creationId xmlns:p14="http://schemas.microsoft.com/office/powerpoint/2010/main" val="346616205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original PPI network and its MCODE network components to extract their “biological meanings”, where top three best p-value terms were retained.</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17</a:t>
            </a:fld>
            <a:endParaRPr lang="en-US"/>
          </a:p>
        </p:txBody>
      </p:sp>
    </p:spTree>
    <p:extLst>
      <p:ext uri="{BB962C8B-B14F-4D97-AF65-F5344CB8AC3E}">
        <p14:creationId xmlns:p14="http://schemas.microsoft.com/office/powerpoint/2010/main" val="33384152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18</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19</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JP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Jan 3, 2024</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2" name="Rectangle 1"/>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5" name="Rectangle 4"/>
          <p:cNvSpPr/>
          <p:nvPr/>
        </p:nvSpPr>
        <p:spPr>
          <a:xfrm>
            <a:off x="3347310" y="6581001"/>
            <a:ext cx="5955495" cy="276999"/>
          </a:xfrm>
          <a:prstGeom prst="rect">
            <a:avLst/>
          </a:prstGeom>
          <a:noFill/>
        </p:spPr>
        <p:txBody>
          <a:bodyPr wrap="square">
            <a:spAutoFit/>
          </a:bodyPr>
          <a:lstStyle/>
          <a:p>
            <a:r>
              <a:rPr lang="en-US" sz="1200" dirty="0">
                <a:solidFill>
                  <a:schemeClr val="tx2"/>
                </a:solidFill>
                <a:latin typeface="Arial" panose="020B0604020202020204" pitchFamily="34" charset="0"/>
                <a:cs typeface="Arial" panose="020B0604020202020204" pitchFamily="34" charset="0"/>
              </a:rPr>
              <a:t>Please check online </a:t>
            </a:r>
            <a:r>
              <a:rPr lang="en-US" sz="1200" dirty="0" err="1">
                <a:solidFill>
                  <a:schemeClr val="tx2"/>
                </a:solidFill>
                <a:latin typeface="Arial" panose="020B0604020202020204" pitchFamily="34" charset="0"/>
                <a:cs typeface="Arial" panose="020B0604020202020204" pitchFamily="34" charset="0"/>
                <a:hlinkClick r:id="rId3"/>
              </a:rPr>
              <a:t>Metascape</a:t>
            </a:r>
            <a:r>
              <a:rPr lang="en-US" sz="1200" dirty="0">
                <a:solidFill>
                  <a:schemeClr val="tx2"/>
                </a:solidFill>
                <a:latin typeface="Arial" panose="020B0604020202020204" pitchFamily="34" charset="0"/>
                <a:cs typeface="Arial" panose="020B0604020202020204" pitchFamily="34" charset="0"/>
                <a:hlinkClick r:id="rId3"/>
              </a:rPr>
              <a:t> User Manual</a:t>
            </a:r>
            <a:r>
              <a:rPr lang="en-US" sz="1200" dirty="0">
                <a:solidFill>
                  <a:schemeClr val="tx2"/>
                </a:solidFill>
                <a:latin typeface="Arial" panose="020B0604020202020204" pitchFamily="34" charset="0"/>
                <a:cs typeface="Arial" panose="020B0604020202020204" pitchFamily="34" charset="0"/>
              </a:rPr>
              <a:t> for explanation of each annotation field.</a:t>
            </a:r>
          </a:p>
        </p:txBody>
      </p:sp>
      <p:graphicFrame>
        <p:nvGraphicFramePr>
          <p:cNvPr id="6" name="Table 5"/>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2727883"/>
                <a:gridCol w="2727883"/>
                <a:gridCol w="2727883"/>
                <a:gridCol w="2727886"/>
              </a:tblGrid>
              <a:tr h="177800">
                <a:tc>
                  <a:txBody>
                    <a:bodyPr/>
                    <a:lstStyle/>
                    <a:p>
                      <a:r>
                        <a:t>Name</a:t>
                      </a:r>
                    </a:p>
                  </a:txBody>
                  <a:tcPr/>
                </a:tc>
                <a:tc>
                  <a:txBody>
                    <a:bodyPr/>
                    <a:lstStyle/>
                    <a:p>
                      <a:r>
                        <a:t>Total</a:t>
                      </a:r>
                    </a:p>
                  </a:txBody>
                  <a:tcPr/>
                </a:tc>
                <a:tc>
                  <a:txBody>
                    <a:bodyPr/>
                    <a:lstStyle/>
                    <a:p>
                      <a:r>
                        <a:t>Unique</a:t>
                      </a:r>
                    </a:p>
                  </a:txBody>
                  <a:tcPr/>
                </a:tc>
                <a:tc>
                  <a:txBody>
                    <a:bodyPr/>
                    <a:lstStyle/>
                    <a:p>
                      <a:r>
                        <a:t>_Color_</a:t>
                      </a:r>
                    </a:p>
                  </a:txBody>
                  <a:tcPr/>
                </a:tc>
              </a:tr>
              <a:tr h="731520">
                <a:tc>
                  <a:txBody>
                    <a:bodyPr/>
                    <a:lstStyle/>
                    <a:p>
                      <a:r>
                        <a:t>modules_epi_black_sorted_top300</a:t>
                      </a:r>
                    </a:p>
                  </a:txBody>
                  <a:tcPr/>
                </a:tc>
                <a:tc>
                  <a:txBody>
                    <a:bodyPr/>
                    <a:lstStyle/>
                    <a:p>
                      <a:r>
                        <a:t>300</a:t>
                      </a:r>
                    </a:p>
                  </a:txBody>
                  <a:tcPr/>
                </a:tc>
                <a:tc>
                  <a:txBody>
                    <a:bodyPr/>
                    <a:lstStyle/>
                    <a:p>
                      <a:r>
                        <a:t>300</a:t>
                      </a:r>
                    </a:p>
                  </a:txBody>
                  <a:tcPr/>
                </a:tc>
                <a:tc>
                  <a:txBody>
                    <a:bodyPr/>
                    <a:lstStyle/>
                    <a:p>
                      <a:r>
                        <a:t>#E41A1C</a:t>
                      </a:r>
                    </a:p>
                  </a:txBody>
                  <a:tcPr>
                    <a:solidFill>
                      <a:srgbClr val="E41A1C"/>
                    </a:solidFill>
                  </a:tcPr>
                </a:tc>
              </a:tr>
              <a:tr h="731520">
                <a:tc>
                  <a:txBody>
                    <a:bodyPr/>
                    <a:lstStyle/>
                    <a:p>
                      <a:r>
                        <a:t>modules_epi_blue_sorted_top300</a:t>
                      </a:r>
                    </a:p>
                  </a:txBody>
                  <a:tcPr/>
                </a:tc>
                <a:tc>
                  <a:txBody>
                    <a:bodyPr/>
                    <a:lstStyle/>
                    <a:p>
                      <a:r>
                        <a:t>299</a:t>
                      </a:r>
                    </a:p>
                  </a:txBody>
                  <a:tcPr/>
                </a:tc>
                <a:tc>
                  <a:txBody>
                    <a:bodyPr/>
                    <a:lstStyle/>
                    <a:p>
                      <a:r>
                        <a:t>299</a:t>
                      </a:r>
                    </a:p>
                  </a:txBody>
                  <a:tcPr/>
                </a:tc>
                <a:tc>
                  <a:txBody>
                    <a:bodyPr/>
                    <a:lstStyle/>
                    <a:p>
                      <a:r>
                        <a:t>#377EB8</a:t>
                      </a:r>
                    </a:p>
                  </a:txBody>
                  <a:tcPr>
                    <a:solidFill>
                      <a:srgbClr val="377EB8"/>
                    </a:solidFill>
                  </a:tcPr>
                </a:tc>
              </a:tr>
              <a:tr h="731520">
                <a:tc>
                  <a:txBody>
                    <a:bodyPr/>
                    <a:lstStyle/>
                    <a:p>
                      <a:r>
                        <a:t>modules_epi_pink_sorted_top300</a:t>
                      </a:r>
                    </a:p>
                  </a:txBody>
                  <a:tcPr/>
                </a:tc>
                <a:tc>
                  <a:txBody>
                    <a:bodyPr/>
                    <a:lstStyle/>
                    <a:p>
                      <a:r>
                        <a:t>299</a:t>
                      </a:r>
                    </a:p>
                  </a:txBody>
                  <a:tcPr/>
                </a:tc>
                <a:tc>
                  <a:txBody>
                    <a:bodyPr/>
                    <a:lstStyle/>
                    <a:p>
                      <a:r>
                        <a:t>299</a:t>
                      </a:r>
                    </a:p>
                  </a:txBody>
                  <a:tcPr/>
                </a:tc>
                <a:tc>
                  <a:txBody>
                    <a:bodyPr/>
                    <a:lstStyle/>
                    <a:p>
                      <a:r>
                        <a:t>#4DAF4A</a:t>
                      </a:r>
                    </a:p>
                  </a:txBody>
                  <a:tcPr>
                    <a:solidFill>
                      <a:srgbClr val="4DAF4A"/>
                    </a:solidFill>
                  </a:tcPr>
                </a:tc>
              </a:tr>
              <a:tr h="731520">
                <a:tc>
                  <a:txBody>
                    <a:bodyPr/>
                    <a:lstStyle/>
                    <a:p>
                      <a:r>
                        <a:t>modules_epi_red_sorted_top300</a:t>
                      </a:r>
                    </a:p>
                  </a:txBody>
                  <a:tcPr/>
                </a:tc>
                <a:tc>
                  <a:txBody>
                    <a:bodyPr/>
                    <a:lstStyle/>
                    <a:p>
                      <a:r>
                        <a:t>300</a:t>
                      </a:r>
                    </a:p>
                  </a:txBody>
                  <a:tcPr/>
                </a:tc>
                <a:tc>
                  <a:txBody>
                    <a:bodyPr/>
                    <a:lstStyle/>
                    <a:p>
                      <a:r>
                        <a:t>300</a:t>
                      </a:r>
                    </a:p>
                  </a:txBody>
                  <a:tcPr/>
                </a:tc>
                <a:tc>
                  <a:txBody>
                    <a:bodyPr/>
                    <a:lstStyle/>
                    <a:p>
                      <a:r>
                        <a:t>#984EA3</a:t>
                      </a:r>
                    </a:p>
                  </a:txBody>
                  <a:tcPr>
                    <a:solidFill>
                      <a:srgbClr val="984EA3"/>
                    </a:solidFill>
                  </a:tcPr>
                </a:tc>
              </a:tr>
              <a:tr h="731520">
                <a:tc>
                  <a:txBody>
                    <a:bodyPr/>
                    <a:lstStyle/>
                    <a:p>
                      <a:r>
                        <a:t>modules_epi_turquoise_sorted_top300</a:t>
                      </a:r>
                    </a:p>
                  </a:txBody>
                  <a:tcPr/>
                </a:tc>
                <a:tc>
                  <a:txBody>
                    <a:bodyPr/>
                    <a:lstStyle/>
                    <a:p>
                      <a:r>
                        <a:t>300</a:t>
                      </a:r>
                    </a:p>
                  </a:txBody>
                  <a:tcPr/>
                </a:tc>
                <a:tc>
                  <a:txBody>
                    <a:bodyPr/>
                    <a:lstStyle/>
                    <a:p>
                      <a:r>
                        <a:t>300</a:t>
                      </a:r>
                    </a:p>
                  </a:txBody>
                  <a:tcPr/>
                </a:tc>
                <a:tc>
                  <a:txBody>
                    <a:bodyPr/>
                    <a:lstStyle/>
                    <a:p>
                      <a:r>
                        <a:t>#FF7F00</a:t>
                      </a:r>
                    </a:p>
                  </a:txBody>
                  <a:tcPr>
                    <a:solidFill>
                      <a:srgbClr val="FF7F00"/>
                    </a:solidFill>
                  </a:tcPr>
                </a:tc>
              </a:tr>
              <a:tr h="731520">
                <a:tc>
                  <a:txBody>
                    <a:bodyPr/>
                    <a:lstStyle/>
                    <a:p>
                      <a:r>
                        <a:t>modules_epi_yellow_sorted_top300</a:t>
                      </a:r>
                    </a:p>
                  </a:txBody>
                  <a:tcPr/>
                </a:tc>
                <a:tc>
                  <a:txBody>
                    <a:bodyPr/>
                    <a:lstStyle/>
                    <a:p>
                      <a:r>
                        <a:t>300</a:t>
                      </a:r>
                    </a:p>
                  </a:txBody>
                  <a:tcPr/>
                </a:tc>
                <a:tc>
                  <a:txBody>
                    <a:bodyPr/>
                    <a:lstStyle/>
                    <a:p>
                      <a:r>
                        <a:t>300</a:t>
                      </a:r>
                    </a:p>
                  </a:txBody>
                  <a:tcPr/>
                </a:tc>
                <a:tc>
                  <a:txBody>
                    <a:bodyPr/>
                    <a:lstStyle/>
                    <a:p>
                      <a:r>
                        <a:t>#FFFF33</a:t>
                      </a:r>
                    </a:p>
                  </a:txBody>
                  <a:tcPr>
                    <a:solidFill>
                      <a:srgbClr val="FFFF33"/>
                    </a:solidFill>
                  </a:tcPr>
                </a:tc>
              </a:tr>
            </a:tbl>
          </a:graphicData>
        </a:graphic>
      </p:graphicFrame>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ircosOverlapByGene.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30452407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
            </a:r>
            <a:r>
              <a:rPr lang="en-US" sz="2000" b="1" dirty="0" err="1">
                <a:solidFill>
                  <a:srgbClr val="C00000"/>
                </a:solidFill>
                <a:latin typeface="Arial" panose="020B0604020202020204" pitchFamily="34" charset="0"/>
                <a:cs typeface="Arial" panose="020B0604020202020204" pitchFamily="34" charset="0"/>
              </a:rPr>
              <a:t/>
            </a:r>
            <a:endParaRPr lang="en-US" sz="2000" b="1" dirty="0">
              <a:solidFill>
                <a:srgbClr val="C0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Overlap Analysis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Expanded via Shared Enriched Ontologies</a:t>
            </a:r>
          </a:p>
        </p:txBody>
      </p:sp>
      <p:pic>
        <p:nvPicPr>
          <p:cNvPr id="3" name="Picture 2" descr="CircosOverlapByGO.png"/>
          <p:cNvPicPr>
            <a:picLocks noChangeAspect="1"/>
          </p:cNvPicPr>
          <p:nvPr/>
        </p:nvPicPr>
        <p:blipFill>
          <a:blip r:embed="rId3"/>
          <a:stretch>
            <a:fillRect/>
          </a:stretch>
        </p:blipFill>
        <p:spPr>
          <a:xfrm>
            <a:off x="3535527" y="1665465"/>
            <a:ext cx="5120640" cy="5120640"/>
          </a:xfrm>
          <a:prstGeom prst="rect">
            <a:avLst/>
          </a:prstGeom>
        </p:spPr>
      </p:pic>
    </p:spTree>
    <p:extLst>
      <p:ext uri="{BB962C8B-B14F-4D97-AF65-F5344CB8AC3E}">
        <p14:creationId xmlns:p14="http://schemas.microsoft.com/office/powerpoint/2010/main" val="69326986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2998203" y="1665465"/>
            <a:ext cx="6195289" cy="5120640"/>
          </a:xfrm>
          <a:prstGeom prst="rect">
            <a:avLst/>
          </a:prstGeom>
        </p:spPr>
      </p:pic>
    </p:spTree>
    <p:extLst>
      <p:ext uri="{BB962C8B-B14F-4D97-AF65-F5344CB8AC3E}">
        <p14:creationId xmlns:p14="http://schemas.microsoft.com/office/powerpoint/2010/main" val="33304644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640080" y="1890334"/>
            <a:ext cx="10911535" cy="4670902"/>
          </a:xfrm>
          <a:prstGeom prst="rect">
            <a:avLst/>
          </a:prstGeom>
        </p:spPr>
      </p:pic>
    </p:spTree>
    <p:extLst>
      <p:ext uri="{BB962C8B-B14F-4D97-AF65-F5344CB8AC3E}">
        <p14:creationId xmlns:p14="http://schemas.microsoft.com/office/powerpoint/2010/main" val="6142395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1527845" y="1665465"/>
            <a:ext cx="9136005" cy="5120640"/>
          </a:xfrm>
          <a:prstGeom prst="rect">
            <a:avLst/>
          </a:prstGeom>
        </p:spPr>
      </p:pic>
    </p:spTree>
    <p:extLst>
      <p:ext uri="{BB962C8B-B14F-4D97-AF65-F5344CB8AC3E}">
        <p14:creationId xmlns:p14="http://schemas.microsoft.com/office/powerpoint/2010/main" val="3490378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Counts 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Counts.png"/>
          <p:cNvPicPr>
            <a:picLocks noChangeAspect="1"/>
          </p:cNvPicPr>
          <p:nvPr/>
        </p:nvPicPr>
        <p:blipFill>
          <a:blip r:embed="rId3"/>
          <a:stretch>
            <a:fillRect/>
          </a:stretch>
        </p:blipFill>
        <p:spPr>
          <a:xfrm>
            <a:off x="640080" y="1742190"/>
            <a:ext cx="10911535" cy="4967191"/>
          </a:xfrm>
          <a:prstGeom prst="rect">
            <a:avLst/>
          </a:prstGeom>
        </p:spPr>
      </p:pic>
    </p:spTree>
    <p:extLst>
      <p:ext uri="{BB962C8B-B14F-4D97-AF65-F5344CB8AC3E}">
        <p14:creationId xmlns:p14="http://schemas.microsoft.com/office/powerpoint/2010/main" val="29458083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278375" y="1291130"/>
            <a:ext cx="7758754" cy="400110"/>
          </a:xfrm>
          <a:prstGeom prst="rect">
            <a:avLst/>
          </a:prstGeom>
          <a:noFill/>
        </p:spPr>
        <p:txBody>
          <a:bodyPr wrap="square" rtlCol="0">
            <a:spAutoFit/>
          </a:bodyPr>
          <a:lstStyle/>
          <a:p>
            <a:r>
              <a:t>Gene List: modules_epi_black_sorted_top300</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odules_epi_black_sorted_top300_PPIColorByCluster.png"/>
          <p:cNvPicPr>
            <a:picLocks noChangeAspect="1"/>
          </p:cNvPicPr>
          <p:nvPr/>
        </p:nvPicPr>
        <p:blipFill>
          <a:blip r:embed="rId3"/>
          <a:stretch>
            <a:fillRect/>
          </a:stretch>
        </p:blipFill>
        <p:spPr>
          <a:xfrm>
            <a:off x="723373" y="1665465"/>
            <a:ext cx="10744949" cy="5120640"/>
          </a:xfrm>
          <a:prstGeom prst="rect">
            <a:avLst/>
          </a:prstGeom>
        </p:spPr>
      </p:pic>
    </p:spTree>
    <p:extLst>
      <p:ext uri="{BB962C8B-B14F-4D97-AF65-F5344CB8AC3E}">
        <p14:creationId xmlns:p14="http://schemas.microsoft.com/office/powerpoint/2010/main" val="12771647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modules_epi_black_sorted_top300</a:t>
            </a:r>
          </a:p>
        </p:txBody>
      </p:sp>
      <p:pic>
        <p:nvPicPr>
          <p:cNvPr id="4" name="Picture 3" descr="modules_epi_black_sorted_top300_MCODE_ALL_PPIColorByCluster.png"/>
          <p:cNvPicPr>
            <a:picLocks noChangeAspect="1"/>
          </p:cNvPicPr>
          <p:nvPr/>
        </p:nvPicPr>
        <p:blipFill>
          <a:blip r:embed="rId3"/>
          <a:stretch>
            <a:fillRect/>
          </a:stretch>
        </p:blipFill>
        <p:spPr>
          <a:xfrm>
            <a:off x="1087134" y="1665465"/>
            <a:ext cx="10017426" cy="5120640"/>
          </a:xfrm>
          <a:prstGeom prst="rect">
            <a:avLst/>
          </a:prstGeom>
        </p:spPr>
      </p:pic>
    </p:spTree>
    <p:extLst>
      <p:ext uri="{BB962C8B-B14F-4D97-AF65-F5344CB8AC3E}">
        <p14:creationId xmlns:p14="http://schemas.microsoft.com/office/powerpoint/2010/main" val="23586844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modules_epi_black_sorted_top300</a:t>
            </a:r>
          </a:p>
        </p:txBody>
      </p:sp>
      <p:graphicFrame>
        <p:nvGraphicFramePr>
          <p:cNvPr id="4" name="Table 3"/>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modules_epi_black_sorted_top300</a:t>
                      </a:r>
                    </a:p>
                  </a:txBody>
                  <a:tcPr/>
                </a:tc>
                <a:tc>
                  <a:txBody>
                    <a:bodyPr/>
                    <a:lstStyle/>
                    <a:p>
                      <a:r>
                        <a:t>M5890|HALLMARK TNFA SIGNALING VIA NFKB|-22.4;R-HSA-1280215|Cytokine Signaling in Immune system|-20.9;GO:0019221|cytokine-mediated signaling pathway|-19.8</a:t>
                      </a:r>
                    </a:p>
                  </a:txBody>
                  <a:tcPr/>
                </a:tc>
              </a:tr>
              <a:tr h="853440">
                <a:tc>
                  <a:txBody>
                    <a:bodyPr/>
                    <a:lstStyle/>
                    <a:p>
                      <a:r>
                        <a:t>modules_epi_black_sorted_top300_MCODE_ALL</a:t>
                      </a:r>
                    </a:p>
                  </a:txBody>
                  <a:tcPr/>
                </a:tc>
                <a:tc>
                  <a:txBody>
                    <a:bodyPr/>
                    <a:lstStyle/>
                    <a:p>
                      <a:r>
                        <a:t>GO:0071345|cellular response to cytokine stimulus|-17.4;GO:0019221|cytokine-mediated signaling pathway|-17.4;R-HSA-1280215|Cytokine Signaling in Immune system|-16.9</a:t>
                      </a:r>
                    </a:p>
                  </a:txBody>
                  <a:tcPr/>
                </a:tc>
              </a:tr>
              <a:tr h="853440">
                <a:tc>
                  <a:txBody>
                    <a:bodyPr/>
                    <a:lstStyle/>
                    <a:p>
                      <a:r>
                        <a:t>modules_epi_black_sorted_top300_SUB1_MCODE_1</a:t>
                      </a:r>
                    </a:p>
                  </a:txBody>
                  <a:tcPr/>
                </a:tc>
                <a:tc>
                  <a:txBody>
                    <a:bodyPr/>
                    <a:lstStyle/>
                    <a:p>
                      <a:r>
                        <a:t>GO:0071345|cellular response to cytokine stimulus|-10.1;R-HSA-1280215|Cytokine Signaling in Immune system|-8.4;GO:0019221|cytokine-mediated signaling pathway|-8.4</a:t>
                      </a:r>
                    </a:p>
                  </a:txBody>
                  <a:tcPr/>
                </a:tc>
              </a:tr>
              <a:tr h="853440">
                <a:tc>
                  <a:txBody>
                    <a:bodyPr/>
                    <a:lstStyle/>
                    <a:p>
                      <a:r>
                        <a:t>modules_epi_black_sorted_top300_SUB1_MCODE_2</a:t>
                      </a:r>
                    </a:p>
                  </a:txBody>
                  <a:tcPr/>
                </a:tc>
                <a:tc>
                  <a:txBody>
                    <a:bodyPr/>
                    <a:lstStyle/>
                    <a:p>
                      <a:r>
                        <a:t>GO:0019221|cytokine-mediated signaling pathway|-11.2;R-HSA-1280215|Cytokine Signaling in Immune system|-11.1;R-HSA-909733|Interferon alpha/beta signaling|-10.6</a:t>
                      </a:r>
                    </a:p>
                  </a:txBody>
                  <a:tcPr/>
                </a:tc>
              </a:tr>
              <a:tr h="853440">
                <a:tc>
                  <a:txBody>
                    <a:bodyPr/>
                    <a:lstStyle/>
                    <a:p>
                      <a:r>
                        <a:t>modules_epi_black_sorted_top300_SUB1_MCODE_3</a:t>
                      </a:r>
                    </a:p>
                  </a:txBody>
                  <a:tcPr/>
                </a:tc>
                <a:tc>
                  <a:txBody>
                    <a:bodyPr/>
                    <a:lstStyle/>
                    <a:p>
                      <a:r>
                        <a:t>GO:0032922|circadian regulation of gene expression|-7.9;R-HSA-400253|Circadian Clock|-7.9;GO:0042752|regulation of circadian rhythm|-7.3</a:t>
                      </a:r>
                    </a:p>
                  </a:txBody>
                  <a:tcPr/>
                </a:tc>
              </a:tr>
            </a:tbl>
          </a:graphicData>
        </a:graphic>
      </p:graphicFrame>
    </p:spTree>
    <p:extLst>
      <p:ext uri="{BB962C8B-B14F-4D97-AF65-F5344CB8AC3E}">
        <p14:creationId xmlns:p14="http://schemas.microsoft.com/office/powerpoint/2010/main" val="3323729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 </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679973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for Lists Merged</a:t>
            </a:r>
            <a:br>
              <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MCODE ID</a:t>
            </a:r>
          </a:p>
        </p:txBody>
      </p:sp>
    </p:spTree>
    <p:extLst>
      <p:ext uri="{BB962C8B-B14F-4D97-AF65-F5344CB8AC3E}">
        <p14:creationId xmlns:p14="http://schemas.microsoft.com/office/powerpoint/2010/main" val="2875820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374650"/>
            <a:ext cx="8847740" cy="458788"/>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4000" b="1" dirty="0">
                <a:ln w="3175" cap="rnd">
                  <a:solidFill>
                    <a:schemeClr val="accent1">
                      <a:lumMod val="20000"/>
                      <a:lumOff val="80000"/>
                    </a:schemeClr>
                  </a:solidFill>
                  <a:round/>
                </a:ln>
                <a:solidFill>
                  <a:schemeClr val="bg1"/>
                </a:solidFill>
                <a:effectLst>
                  <a:glow rad="101600">
                    <a:schemeClr val="tx2">
                      <a:alpha val="60000"/>
                    </a:schemeClr>
                  </a:glow>
                </a:effectLst>
                <a:latin typeface="Arial" panose="020B0604020202020204" pitchFamily="34" charset="0"/>
                <a:cs typeface="Arial" panose="020B0604020202020204" pitchFamily="34" charset="0"/>
              </a:rPr>
              <a:t>Protein-protein Interaction Network</a:t>
            </a:r>
          </a:p>
        </p:txBody>
      </p:sp>
    </p:spTree>
    <p:extLst>
      <p:ext uri="{BB962C8B-B14F-4D97-AF65-F5344CB8AC3E}">
        <p14:creationId xmlns:p14="http://schemas.microsoft.com/office/powerpoint/2010/main" val="15284875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MCODE for Lists Merged</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Pied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Origin </a:t>
            </a:r>
            <a:r>
              <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rPr>
              <a:t>in </a:t>
            </a:r>
            <a:r>
              <a:rPr lang="en-US" sz="27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Studies</a:t>
            </a:r>
            <a:endParaRPr lang="en-US" sz="27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714826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Autofit/>
          </a:bodyPr>
          <a:lstStyle/>
          <a:p>
            <a:pPr algn="l"/>
            <a: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sz="40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200" b="1" dirty="0">
                <a:ln w="3175" cap="rnd">
                  <a:solidFill>
                    <a:schemeClr val="accent1">
                      <a:lumMod val="20000"/>
                      <a:lumOff val="80000"/>
                    </a:schemeClr>
                  </a:solidFill>
                  <a:round/>
                </a:ln>
                <a:latin typeface="Arial" panose="020B0604020202020204" pitchFamily="34" charset="0"/>
                <a:cs typeface="Arial" panose="020B0604020202020204" pitchFamily="34" charset="0"/>
              </a:rPr>
              <a:t>MCODE Components for Lists Merged</a:t>
            </a:r>
          </a:p>
        </p:txBody>
      </p:sp>
    </p:spTree>
    <p:extLst>
      <p:ext uri="{BB962C8B-B14F-4D97-AF65-F5344CB8AC3E}">
        <p14:creationId xmlns:p14="http://schemas.microsoft.com/office/powerpoint/2010/main" val="8021821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modules_epi_yellow_sorted_top300</a:t>
            </a:r>
          </a:p>
        </p:txBody>
      </p:sp>
      <p:graphicFrame>
        <p:nvGraphicFramePr>
          <p:cNvPr id="4" name="Table 3"/>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68960">
                <a:tc>
                  <a:txBody>
                    <a:bodyPr/>
                    <a:lstStyle/>
                    <a:p>
                      <a:r>
                        <a:t>modules_epi_yellow_sorted_top300</a:t>
                      </a:r>
                    </a:p>
                  </a:txBody>
                  <a:tcPr/>
                </a:tc>
                <a:tc>
                  <a:txBody>
                    <a:bodyPr/>
                    <a:lstStyle/>
                    <a:p>
                      <a:r>
                        <a:t>WP306|Focal adhesion|-15.8;GO:0030029|actin filament-based process|-15.7;hsa04510|Focal adhesion|-15.7</a:t>
                      </a:r>
                    </a:p>
                  </a:txBody>
                  <a:tcPr/>
                </a:tc>
              </a:tr>
              <a:tr h="568960">
                <a:tc>
                  <a:txBody>
                    <a:bodyPr/>
                    <a:lstStyle/>
                    <a:p>
                      <a:r>
                        <a:t>modules_epi_yellow_sorted_top300_MCODE_ALL</a:t>
                      </a:r>
                    </a:p>
                  </a:txBody>
                  <a:tcPr/>
                </a:tc>
                <a:tc>
                  <a:txBody>
                    <a:bodyPr/>
                    <a:lstStyle/>
                    <a:p>
                      <a:r>
                        <a:t>GO:0034329|cell junction assembly|-18.9;GO:0034330|cell junction organization|-18.8;GO:0045216|cell-cell junction organization|-15.1</a:t>
                      </a:r>
                    </a:p>
                  </a:txBody>
                  <a:tcPr/>
                </a:tc>
              </a:tr>
              <a:tr h="568960">
                <a:tc>
                  <a:txBody>
                    <a:bodyPr/>
                    <a:lstStyle/>
                    <a:p>
                      <a:r>
                        <a:t>modules_epi_yellow_sorted_top300_SUB1_MCODE_1</a:t>
                      </a:r>
                    </a:p>
                  </a:txBody>
                  <a:tcPr/>
                </a:tc>
                <a:tc>
                  <a:txBody>
                    <a:bodyPr/>
                    <a:lstStyle/>
                    <a:p>
                      <a:r>
                        <a:t>GO:0034330|cell junction organization|-13.3;R-HSA-9006934|Signaling by Receptor Tyrosine Kinases|-11.7;GO:0034329|cell junction assembly|-10.6</a:t>
                      </a:r>
                    </a:p>
                  </a:txBody>
                  <a:tcPr/>
                </a:tc>
              </a:tr>
              <a:tr h="568960">
                <a:tc>
                  <a:txBody>
                    <a:bodyPr/>
                    <a:lstStyle/>
                    <a:p>
                      <a:r>
                        <a:t>modules_epi_yellow_sorted_top300_SUB1_MCODE_2</a:t>
                      </a:r>
                    </a:p>
                  </a:txBody>
                  <a:tcPr/>
                </a:tc>
                <a:tc>
                  <a:txBody>
                    <a:bodyPr/>
                    <a:lstStyle/>
                    <a:p>
                      <a:r>
                        <a:t>R-HSA-2682334|EPH-Ephrin signaling|-7.1;R-HSA-8856828|Clathrin-mediated endocytosis|-6.3;GO:0032506|cytokinetic process|-6.1</a:t>
                      </a:r>
                    </a:p>
                  </a:txBody>
                  <a:tcPr/>
                </a:tc>
              </a:tr>
              <a:tr h="568960">
                <a:tc>
                  <a:txBody>
                    <a:bodyPr/>
                    <a:lstStyle/>
                    <a:p>
                      <a:r>
                        <a:t>modules_epi_yellow_sorted_top300_SUB1_MCODE_3</a:t>
                      </a:r>
                    </a:p>
                  </a:txBody>
                  <a:tcPr/>
                </a:tc>
                <a:tc>
                  <a:txBody>
                    <a:bodyPr/>
                    <a:lstStyle/>
                    <a:p>
                      <a:r>
                        <a:t>GO:0032970|regulation of actin filament-based process|-10.8;GO:0030036|actin cytoskeleton organization|-9.8;GO:0030029|actin filament-based process|-9.4</a:t>
                      </a:r>
                    </a:p>
                  </a:txBody>
                  <a:tcPr/>
                </a:tc>
              </a:tr>
              <a:tr h="568960">
                <a:tc>
                  <a:txBody>
                    <a:bodyPr/>
                    <a:lstStyle/>
                    <a:p>
                      <a:r>
                        <a:t>modules_epi_yellow_sorted_top300_SUB1_MCODE_4</a:t>
                      </a:r>
                    </a:p>
                  </a:txBody>
                  <a:tcPr/>
                </a:tc>
                <a:tc>
                  <a:txBody>
                    <a:bodyPr/>
                    <a:lstStyle/>
                    <a:p>
                      <a:r>
                        <a:t>R-HSA-8866652|Synthesis of active ubiquitin: roles of E1 and E2 enzymes|-8.5;R-HSA-8852135|Protein ubiquitination|-7.2;hsa04120|Ubiquitin mediated proteolysis|-6.4</a:t>
                      </a:r>
                    </a:p>
                  </a:txBody>
                  <a:tcPr/>
                </a:tc>
              </a:tr>
              <a:tr h="568960">
                <a:tc>
                  <a:txBody>
                    <a:bodyPr/>
                    <a:lstStyle/>
                    <a:p>
                      <a:r>
                        <a:t>modules_epi_yellow_sorted_top300_SUB1_MCODE_5</a:t>
                      </a:r>
                    </a:p>
                  </a:txBody>
                  <a:tcPr/>
                </a:tc>
                <a:tc>
                  <a:txBody>
                    <a:bodyPr/>
                    <a:lstStyle/>
                    <a:p>
                      <a:r>
                        <a:t>M28|PID IL4 2PATHWAY|-8.0;R-HSA-6785807|Interleukin-4 and Interleukin-13 signaling|-7.4;WP5083|Neuroinflammation and glutamatergic signaling|-7.0</a:t>
                      </a:r>
                    </a:p>
                  </a:txBody>
                  <a:tcPr/>
                </a:tc>
              </a:tr>
              <a:tr h="568960">
                <a:tc>
                  <a:txBody>
                    <a:bodyPr/>
                    <a:lstStyle/>
                    <a:p>
                      <a:r>
                        <a:t>modules_epi_yellow_sorted_top300_SUB1_MCODE_6</a:t>
                      </a:r>
                    </a:p>
                  </a:txBody>
                  <a:tcPr/>
                </a:tc>
                <a:tc>
                  <a:txBody>
                    <a:bodyPr/>
                    <a:lstStyle/>
                    <a:p>
                      <a:r>
                        <a:t>R-HSA-445355|Smooth Muscle Contraction|-8.5;GO:0070527|platelet aggregation|-8.5;GO:0034109|homotypic cell-cell adhesion|-8.1</a:t>
                      </a:r>
                    </a:p>
                  </a:txBody>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modules_epi_yellow_sorted_top300</a:t>
            </a:r>
          </a:p>
        </p:txBody>
      </p:sp>
      <p:pic>
        <p:nvPicPr>
          <p:cNvPr id="4" name="Picture 3" descr="modules_epi_yellow_sorted_top300_MCODE_ALL_PPIColorByCluster.png"/>
          <p:cNvPicPr>
            <a:picLocks noChangeAspect="1"/>
          </p:cNvPicPr>
          <p:nvPr/>
        </p:nvPicPr>
        <p:blipFill>
          <a:blip r:embed="rId2"/>
          <a:stretch>
            <a:fillRect/>
          </a:stretch>
        </p:blipFill>
        <p:spPr>
          <a:xfrm>
            <a:off x="640080" y="1818045"/>
            <a:ext cx="10911535" cy="4815481"/>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modules_epi_yellow_sorted_top300</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odules_epi_yellow_sorted_top300_PPIColorByCluster.png"/>
          <p:cNvPicPr>
            <a:picLocks noChangeAspect="1"/>
          </p:cNvPicPr>
          <p:nvPr/>
        </p:nvPicPr>
        <p:blipFill>
          <a:blip r:embed="rId2"/>
          <a:stretch>
            <a:fillRect/>
          </a:stretch>
        </p:blipFill>
        <p:spPr>
          <a:xfrm>
            <a:off x="2975895" y="1665465"/>
            <a:ext cx="6239905" cy="512064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modules_epi_turquoise_sorted_top300</a:t>
            </a:r>
          </a:p>
        </p:txBody>
      </p:sp>
      <p:graphicFrame>
        <p:nvGraphicFramePr>
          <p:cNvPr id="4" name="Table 3"/>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modules_epi_turquoise_sorted_top300</a:t>
                      </a:r>
                    </a:p>
                  </a:txBody>
                  <a:tcPr/>
                </a:tc>
                <a:tc>
                  <a:txBody>
                    <a:bodyPr/>
                    <a:lstStyle/>
                    <a:p>
                      <a:r>
                        <a:t>GO:0030029|actin filament-based process|-23.3;GO:0030036|actin cytoskeleton organization|-22.2;GO:0097435|supramolecular fiber organization|-20.0</a:t>
                      </a:r>
                    </a:p>
                  </a:txBody>
                  <a:tcPr/>
                </a:tc>
              </a:tr>
              <a:tr h="853440">
                <a:tc>
                  <a:txBody>
                    <a:bodyPr/>
                    <a:lstStyle/>
                    <a:p>
                      <a:r>
                        <a:t>modules_epi_turquoise_sorted_top300_MCODE_ALL</a:t>
                      </a:r>
                    </a:p>
                  </a:txBody>
                  <a:tcPr/>
                </a:tc>
                <a:tc>
                  <a:txBody>
                    <a:bodyPr/>
                    <a:lstStyle/>
                    <a:p>
                      <a:r>
                        <a:t>GO:0030029|actin filament-based process|-18.9;GO:0030036|actin cytoskeleton organization|-18.1;GO:0097435|supramolecular fiber organization|-15.9</a:t>
                      </a:r>
                    </a:p>
                  </a:txBody>
                  <a:tcPr/>
                </a:tc>
              </a:tr>
              <a:tr h="853440">
                <a:tc>
                  <a:txBody>
                    <a:bodyPr/>
                    <a:lstStyle/>
                    <a:p>
                      <a:r>
                        <a:t>modules_epi_turquoise_sorted_top300_SUB1_MCODE_1</a:t>
                      </a:r>
                    </a:p>
                  </a:txBody>
                  <a:tcPr/>
                </a:tc>
                <a:tc>
                  <a:txBody>
                    <a:bodyPr/>
                    <a:lstStyle/>
                    <a:p>
                      <a:r>
                        <a:t>GO:0030036|actin cytoskeleton organization|-9.9;GO:0030029|actin filament-based process|-9.5;WP306|Focal adhesion|-9.2</a:t>
                      </a:r>
                    </a:p>
                  </a:txBody>
                  <a:tcPr/>
                </a:tc>
              </a:tr>
              <a:tr h="853440">
                <a:tc>
                  <a:txBody>
                    <a:bodyPr/>
                    <a:lstStyle/>
                    <a:p>
                      <a:r>
                        <a:t>modules_epi_turquoise_sorted_top300_SUB1_MCODE_2</a:t>
                      </a:r>
                    </a:p>
                  </a:txBody>
                  <a:tcPr/>
                </a:tc>
                <a:tc>
                  <a:txBody>
                    <a:bodyPr/>
                    <a:lstStyle/>
                    <a:p>
                      <a:r>
                        <a:t>GO:0007015|actin filament organization|-8.5;GO:0030036|actin cytoskeleton organization|-7.0;GO:0097435|supramolecular fiber organization|-6.8</a:t>
                      </a:r>
                    </a:p>
                  </a:txBody>
                  <a:tcPr/>
                </a:tc>
              </a:tr>
              <a:tr h="853440">
                <a:tc>
                  <a:txBody>
                    <a:bodyPr/>
                    <a:lstStyle/>
                    <a:p>
                      <a:r>
                        <a:t>modules_epi_turquoise_sorted_top300_SUB1_MCODE_3</a:t>
                      </a:r>
                    </a:p>
                  </a:txBody>
                  <a:tcPr/>
                </a:tc>
                <a:tc>
                  <a:txBody>
                    <a:bodyPr/>
                    <a:lstStyle/>
                    <a:p>
                      <a:r>
                        <a:t>R-HSA-194315|Signaling by Rho GTPases|-8.2;R-HSA-9716542|Signaling by Rho GTPases, Miro GTPases and RHOBTB3|-8.1;GO:0007264|small GTPase mediated signal transduction|-7.6</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modules_epi_turquoise_sorted_top300</a:t>
            </a:r>
          </a:p>
        </p:txBody>
      </p:sp>
      <p:pic>
        <p:nvPicPr>
          <p:cNvPr id="4" name="Picture 3" descr="modules_epi_turquoise_sorted_top300_MCODE_ALL_PPIColorByCluster.png"/>
          <p:cNvPicPr>
            <a:picLocks noChangeAspect="1"/>
          </p:cNvPicPr>
          <p:nvPr/>
        </p:nvPicPr>
        <p:blipFill>
          <a:blip r:embed="rId2"/>
          <a:stretch>
            <a:fillRect/>
          </a:stretch>
        </p:blipFill>
        <p:spPr>
          <a:xfrm>
            <a:off x="1192065" y="1665465"/>
            <a:ext cx="9807564" cy="512064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modules_epi_turquoise_sorted_top300</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odules_epi_turquoise_sorted_top300_PPIColorByCluster.png"/>
          <p:cNvPicPr>
            <a:picLocks noChangeAspect="1"/>
          </p:cNvPicPr>
          <p:nvPr/>
        </p:nvPicPr>
        <p:blipFill>
          <a:blip r:embed="rId2"/>
          <a:stretch>
            <a:fillRect/>
          </a:stretch>
        </p:blipFill>
        <p:spPr>
          <a:xfrm>
            <a:off x="2339312" y="1665465"/>
            <a:ext cx="7513070" cy="512064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modules_epi_red_sorted_top300</a:t>
            </a:r>
          </a:p>
        </p:txBody>
      </p:sp>
      <p:graphicFrame>
        <p:nvGraphicFramePr>
          <p:cNvPr id="4" name="Table 3"/>
          <p:cNvGraphicFramePr>
            <a:graphicFrameLocks noGrp="1"/>
          </p:cNvGraphicFramePr>
          <p:nvPr/>
        </p:nvGraphicFramePr>
        <p:xfrm>
          <a:off x="640080" y="1665465"/>
          <a:ext cx="10911535" cy="444500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853440">
                <a:tc>
                  <a:txBody>
                    <a:bodyPr/>
                    <a:lstStyle/>
                    <a:p>
                      <a:r>
                        <a:t>modules_epi_red_sorted_top300</a:t>
                      </a:r>
                    </a:p>
                  </a:txBody>
                  <a:tcPr/>
                </a:tc>
                <a:tc>
                  <a:txBody>
                    <a:bodyPr/>
                    <a:lstStyle/>
                    <a:p>
                      <a:r>
                        <a:t>R-HSA-1474244|Extracellular matrix organization|-12.6;R-HSA-381426|Regulation of Insulin-like Growth Factor (IGF) transport and uptake by Insulin-like Growth Factor Binding Proteins (IGFBPs)|-10.8;GO:0050878|regulation of body fluid levels|-8.6</a:t>
                      </a:r>
                    </a:p>
                  </a:txBody>
                  <a:tcPr/>
                </a:tc>
              </a:tr>
              <a:tr h="853440">
                <a:tc>
                  <a:txBody>
                    <a:bodyPr/>
                    <a:lstStyle/>
                    <a:p>
                      <a:r>
                        <a:t>modules_epi_red_sorted_top300_MCODE_ALL</a:t>
                      </a:r>
                    </a:p>
                  </a:txBody>
                  <a:tcPr/>
                </a:tc>
                <a:tc>
                  <a:txBody>
                    <a:bodyPr/>
                    <a:lstStyle/>
                    <a:p>
                      <a:r>
                        <a:t>R-HSA-114608|Platelet degranulation|-8.8;WP558|Complement and coagulation cascades|-8.8;R-HSA-76005|Response to elevated platelet cytosolic Ca2+|-8.7</a:t>
                      </a:r>
                    </a:p>
                  </a:txBody>
                  <a:tcPr/>
                </a:tc>
              </a:tr>
              <a:tr h="853440">
                <a:tc>
                  <a:txBody>
                    <a:bodyPr/>
                    <a:lstStyle/>
                    <a:p>
                      <a:r>
                        <a:t>modules_epi_red_sorted_top300_SUB1_MCODE_1</a:t>
                      </a:r>
                    </a:p>
                  </a:txBody>
                  <a:tcPr/>
                </a:tc>
                <a:tc>
                  <a:txBody>
                    <a:bodyPr/>
                    <a:lstStyle/>
                    <a:p>
                      <a:r>
                        <a:t>R-HSA-114608|Platelet degranulation|-10.6;R-HSA-76005|Response to elevated platelet cytosolic Ca2+|-10.5;WP558|Complement and coagulation cascades|-10.2</a:t>
                      </a:r>
                    </a:p>
                  </a:txBody>
                  <a:tcPr/>
                </a:tc>
              </a:tr>
              <a:tr h="853440">
                <a:tc>
                  <a:txBody>
                    <a:bodyPr/>
                    <a:lstStyle/>
                    <a:p>
                      <a:r>
                        <a:t>modules_epi_red_sorted_top300_SUB1_MCODE_2</a:t>
                      </a:r>
                    </a:p>
                  </a:txBody>
                  <a:tcPr/>
                </a:tc>
                <a:tc>
                  <a:txBody>
                    <a:bodyPr/>
                    <a:lstStyle/>
                    <a:p>
                      <a:r>
                        <a:t>R-HSA-8943724|Regulation of PTEN gene transcription|-6.4;R-HSA-6807070|PTEN Regulation|-5.3;GO:0007605|sensory perception of sound|-5.1</a:t>
                      </a:r>
                    </a:p>
                  </a:txBody>
                  <a:tcPr/>
                </a:tc>
              </a:tr>
              <a:tr h="853440">
                <a:tc>
                  <a:txBody>
                    <a:bodyPr/>
                    <a:lstStyle/>
                    <a:p>
                      <a:r>
                        <a:t>modules_epi_red_sorted_top300_SUB1_MCODE_3</a:t>
                      </a:r>
                    </a:p>
                  </a:txBody>
                  <a:tcPr/>
                </a:tc>
                <a:tc>
                  <a:txBody>
                    <a:bodyPr/>
                    <a:lstStyle/>
                    <a:p>
                      <a:r>
                        <a:t>GO:0006109|regulation of carbohydrate metabolic process|-6.1;GO:0030100|regulation of endocytosis|-5.5;GO:0010975|regulation of neuron projection development|-4.9</a:t>
                      </a:r>
                    </a:p>
                  </a:txBody>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modules_epi_red_sorted_top300</a:t>
            </a:r>
          </a:p>
        </p:txBody>
      </p:sp>
      <p:pic>
        <p:nvPicPr>
          <p:cNvPr id="4" name="Picture 3" descr="modules_epi_red_sorted_top300_MCODE_ALL_PPIColorByCluster.png"/>
          <p:cNvPicPr>
            <a:picLocks noChangeAspect="1"/>
          </p:cNvPicPr>
          <p:nvPr/>
        </p:nvPicPr>
        <p:blipFill>
          <a:blip r:embed="rId2"/>
          <a:stretch>
            <a:fillRect/>
          </a:stretch>
        </p:blipFill>
        <p:spPr>
          <a:xfrm>
            <a:off x="1192065" y="1665465"/>
            <a:ext cx="9807564" cy="512064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modules_epi_red_sorted_top300</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odules_epi_red_sorted_top300_PPIColorByCluster.png"/>
          <p:cNvPicPr>
            <a:picLocks noChangeAspect="1"/>
          </p:cNvPicPr>
          <p:nvPr/>
        </p:nvPicPr>
        <p:blipFill>
          <a:blip r:embed="rId2"/>
          <a:stretch>
            <a:fillRect/>
          </a:stretch>
        </p:blipFill>
        <p:spPr>
          <a:xfrm>
            <a:off x="1681744" y="1665465"/>
            <a:ext cx="8828207" cy="512064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modules_epi_pink_sorted_top300</a:t>
            </a:r>
          </a:p>
        </p:txBody>
      </p:sp>
      <p:graphicFrame>
        <p:nvGraphicFramePr>
          <p:cNvPr id="4" name="Table 3"/>
          <p:cNvGraphicFramePr>
            <a:graphicFrameLocks noGrp="1"/>
          </p:cNvGraphicFramePr>
          <p:nvPr/>
        </p:nvGraphicFramePr>
        <p:xfrm>
          <a:off x="640080" y="1665465"/>
          <a:ext cx="10911535" cy="4786376"/>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12064">
                <a:tc>
                  <a:txBody>
                    <a:bodyPr/>
                    <a:lstStyle/>
                    <a:p>
                      <a:r>
                        <a:t>modules_epi_pink_sorted_top300</a:t>
                      </a:r>
                    </a:p>
                  </a:txBody>
                  <a:tcPr/>
                </a:tc>
                <a:tc>
                  <a:txBody>
                    <a:bodyPr/>
                    <a:lstStyle/>
                    <a:p>
                      <a:r>
                        <a:t>M5913|HALLMARK INTERFERON GAMMA RESPONSE|-34.7;GO:0045087|innate immune response|-28.4;M5911|HALLMARK INTERFERON ALPHA RESPONSE|-28.1</a:t>
                      </a:r>
                    </a:p>
                  </a:txBody>
                  <a:tcPr/>
                </a:tc>
              </a:tr>
              <a:tr h="512064">
                <a:tc>
                  <a:txBody>
                    <a:bodyPr/>
                    <a:lstStyle/>
                    <a:p>
                      <a:r>
                        <a:t>modules_epi_pink_sorted_top300_MCODE_ALL</a:t>
                      </a:r>
                    </a:p>
                  </a:txBody>
                  <a:tcPr/>
                </a:tc>
                <a:tc>
                  <a:txBody>
                    <a:bodyPr/>
                    <a:lstStyle/>
                    <a:p>
                      <a:r>
                        <a:t>M5913|HALLMARK INTERFERON GAMMA RESPONSE|-27.3;R-HSA-1280215|Cytokine Signaling in Immune system|-24.4;M5911|HALLMARK INTERFERON ALPHA RESPONSE|-22.6</a:t>
                      </a:r>
                    </a:p>
                  </a:txBody>
                  <a:tcPr/>
                </a:tc>
              </a:tr>
              <a:tr h="512064">
                <a:tc>
                  <a:txBody>
                    <a:bodyPr/>
                    <a:lstStyle/>
                    <a:p>
                      <a:r>
                        <a:t>modules_epi_pink_sorted_top300_SUB1_MCODE_1</a:t>
                      </a:r>
                    </a:p>
                  </a:txBody>
                  <a:tcPr/>
                </a:tc>
                <a:tc>
                  <a:txBody>
                    <a:bodyPr/>
                    <a:lstStyle/>
                    <a:p>
                      <a:r>
                        <a:t>R-HSA-909733|Interferon alpha/beta signaling|-23.6;R-HSA-913531|Interferon Signaling|-18.5;M5913|HALLMARK INTERFERON GAMMA RESPONSE|-16.6</a:t>
                      </a:r>
                    </a:p>
                  </a:txBody>
                  <a:tcPr/>
                </a:tc>
              </a:tr>
              <a:tr h="512064">
                <a:tc>
                  <a:txBody>
                    <a:bodyPr/>
                    <a:lstStyle/>
                    <a:p>
                      <a:r>
                        <a:t>modules_epi_pink_sorted_top300_SUB1_MCODE_2</a:t>
                      </a:r>
                    </a:p>
                  </a:txBody>
                  <a:tcPr/>
                </a:tc>
                <a:tc>
                  <a:txBody>
                    <a:bodyPr/>
                    <a:lstStyle/>
                    <a:p>
                      <a:r>
                        <a:t>R-HSA-418594|G alpha (i) signalling events|-17.9;R-HSA-500792|GPCR ligand binding|-16.3;R-HSA-388396|GPCR downstream signalling|-15.1</a:t>
                      </a:r>
                    </a:p>
                  </a:txBody>
                  <a:tcPr/>
                </a:tc>
              </a:tr>
              <a:tr h="512064">
                <a:tc>
                  <a:txBody>
                    <a:bodyPr/>
                    <a:lstStyle/>
                    <a:p>
                      <a:r>
                        <a:t>modules_epi_pink_sorted_top300_SUB1_MCODE_4</a:t>
                      </a:r>
                    </a:p>
                  </a:txBody>
                  <a:tcPr/>
                </a:tc>
                <a:tc>
                  <a:txBody>
                    <a:bodyPr/>
                    <a:lstStyle/>
                    <a:p>
                      <a:r>
                        <a:t>R-HSA-4608870|Asymmetric localization of PCP proteins|-15.3;R-HSA-1169091|Activation of NF-kappaB in B cells|-15.2;R-HSA-2871837|FCERI mediated NF-kB activation|-14.6</a:t>
                      </a:r>
                    </a:p>
                  </a:txBody>
                  <a:tcPr/>
                </a:tc>
              </a:tr>
              <a:tr h="512064">
                <a:tc>
                  <a:txBody>
                    <a:bodyPr/>
                    <a:lstStyle/>
                    <a:p>
                      <a:r>
                        <a:t>modules_epi_pink_sorted_top300_SUB1_MCODE_5</a:t>
                      </a:r>
                    </a:p>
                  </a:txBody>
                  <a:tcPr/>
                </a:tc>
                <a:tc>
                  <a:txBody>
                    <a:bodyPr/>
                    <a:lstStyle/>
                    <a:p>
                      <a:r>
                        <a:t>R-HSA-9020956|Interleukin-27 signaling|-9.1;R-HSA-8984722|Interleukin-35 Signalling|-9.0;GO:0001819|positive regulation of cytokine production|-8.1</a:t>
                      </a:r>
                    </a:p>
                  </a:txBody>
                  <a:tcPr/>
                </a:tc>
              </a:tr>
              <a:tr h="512064">
                <a:tc>
                  <a:txBody>
                    <a:bodyPr/>
                    <a:lstStyle/>
                    <a:p>
                      <a:r>
                        <a:t>modules_epi_pink_sorted_top300_SUB1_MCODE_6</a:t>
                      </a:r>
                    </a:p>
                  </a:txBody>
                  <a:tcPr/>
                </a:tc>
                <a:tc>
                  <a:txBody>
                    <a:bodyPr/>
                    <a:lstStyle/>
                    <a:p>
                      <a:r>
                        <a:t>R-HSA-3238698|WNT ligand biogenesis and trafficking|-8.6;WP4150|Wnt signaling in kidney disease|-8.2;hsa05217|Basal cell carcinoma|-7.5</a:t>
                      </a:r>
                    </a:p>
                  </a:txBody>
                  <a:tcPr/>
                </a:tc>
              </a:tr>
              <a:tr h="512064">
                <a:tc>
                  <a:txBody>
                    <a:bodyPr/>
                    <a:lstStyle/>
                    <a:p>
                      <a:r>
                        <a:t>modules_epi_pink_sorted_top300_SUB1_MCODE_7</a:t>
                      </a:r>
                    </a:p>
                  </a:txBody>
                  <a:tcPr/>
                </a:tc>
                <a:tc>
                  <a:txBody>
                    <a:bodyPr/>
                    <a:lstStyle/>
                    <a:p>
                      <a:r>
                        <a:t>GO:0019885|antigen processing and presentation of endogenous peptide antigen via MHC class I|-9.4;GO:0002483|antigen processing and presentation of endogenous peptide antigen|-9.3;R-HSA-983170|Antigen Presentation: Folding, assembly and peptide loading of class I MHC|-9.1</a:t>
                      </a:r>
                    </a:p>
                  </a:txBody>
                  <a:tcPr/>
                </a:tc>
              </a:tr>
              <a:tr h="512064">
                <a:tc>
                  <a:txBody>
                    <a:bodyPr/>
                    <a:lstStyle/>
                    <a:p>
                      <a:r>
                        <a:t>modules_epi_pink_sorted_top300_SUB1_MCODE_8</a:t>
                      </a:r>
                    </a:p>
                  </a:txBody>
                  <a:tcPr/>
                </a:tc>
                <a:tc>
                  <a:txBody>
                    <a:bodyPr/>
                    <a:lstStyle/>
                    <a:p>
                      <a:r>
                        <a:t>M54|PID IL12 2PATHWAY|-8.1;WP4341|Non genomic actions of 1 25 dihydroxyvitamin D3|-7.8;hsa04380|Osteoclast differentiation|-7.1</a:t>
                      </a:r>
                    </a:p>
                  </a:txBody>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modules_epi_pink_sorted_top300</a:t>
            </a:r>
          </a:p>
        </p:txBody>
      </p:sp>
      <p:pic>
        <p:nvPicPr>
          <p:cNvPr id="4" name="Picture 3" descr="modules_epi_pink_sorted_top300_MCODE_ALL_PPIColorByCluster.png"/>
          <p:cNvPicPr>
            <a:picLocks noChangeAspect="1"/>
          </p:cNvPicPr>
          <p:nvPr/>
        </p:nvPicPr>
        <p:blipFill>
          <a:blip r:embed="rId2"/>
          <a:stretch>
            <a:fillRect/>
          </a:stretch>
        </p:blipFill>
        <p:spPr>
          <a:xfrm>
            <a:off x="640080" y="1742190"/>
            <a:ext cx="10911535" cy="4967191"/>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modules_epi_pink_sorted_top300</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odules_epi_pink_sorted_top300_PPIColorByCluster.png"/>
          <p:cNvPicPr>
            <a:picLocks noChangeAspect="1"/>
          </p:cNvPicPr>
          <p:nvPr/>
        </p:nvPicPr>
        <p:blipFill>
          <a:blip r:embed="rId2"/>
          <a:stretch>
            <a:fillRect/>
          </a:stretch>
        </p:blipFill>
        <p:spPr>
          <a:xfrm>
            <a:off x="947226" y="1665465"/>
            <a:ext cx="10297243" cy="512064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modules_epi_blue_sorted_top300</a:t>
            </a:r>
          </a:p>
        </p:txBody>
      </p:sp>
      <p:graphicFrame>
        <p:nvGraphicFramePr>
          <p:cNvPr id="4" name="Table 3"/>
          <p:cNvGraphicFramePr>
            <a:graphicFrameLocks noGrp="1"/>
          </p:cNvGraphicFramePr>
          <p:nvPr/>
        </p:nvGraphicFramePr>
        <p:xfrm>
          <a:off x="640080" y="1665465"/>
          <a:ext cx="10911535" cy="472948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568960">
                <a:tc>
                  <a:txBody>
                    <a:bodyPr/>
                    <a:lstStyle/>
                    <a:p>
                      <a:r>
                        <a:t>modules_epi_blue_sorted_top300</a:t>
                      </a:r>
                    </a:p>
                  </a:txBody>
                  <a:tcPr/>
                </a:tc>
                <a:tc>
                  <a:txBody>
                    <a:bodyPr/>
                    <a:lstStyle/>
                    <a:p>
                      <a:r>
                        <a:t>R-HSA-6798695|Neutrophil degranulation|-16.8;GO:1901615|organic hydroxy compound metabolic process|-15.8;R-HSA-556833|Metabolism of lipids|-15.1</a:t>
                      </a:r>
                    </a:p>
                  </a:txBody>
                  <a:tcPr/>
                </a:tc>
              </a:tr>
              <a:tr h="568960">
                <a:tc>
                  <a:txBody>
                    <a:bodyPr/>
                    <a:lstStyle/>
                    <a:p>
                      <a:r>
                        <a:t>modules_epi_blue_sorted_top300_MCODE_ALL</a:t>
                      </a:r>
                    </a:p>
                  </a:txBody>
                  <a:tcPr/>
                </a:tc>
                <a:tc>
                  <a:txBody>
                    <a:bodyPr/>
                    <a:lstStyle/>
                    <a:p>
                      <a:r>
                        <a:t>GO:1901615|organic hydroxy compound metabolic process|-14.1;R-HSA-556833|Metabolism of lipids|-12.6;WP5304|Cholesterol metabolism|-12.1</a:t>
                      </a:r>
                    </a:p>
                  </a:txBody>
                  <a:tcPr/>
                </a:tc>
              </a:tr>
              <a:tr h="568960">
                <a:tc>
                  <a:txBody>
                    <a:bodyPr/>
                    <a:lstStyle/>
                    <a:p>
                      <a:r>
                        <a:t>modules_epi_blue_sorted_top300_SUB1_MCODE_1</a:t>
                      </a:r>
                    </a:p>
                  </a:txBody>
                  <a:tcPr/>
                </a:tc>
                <a:tc>
                  <a:txBody>
                    <a:bodyPr/>
                    <a:lstStyle/>
                    <a:p>
                      <a:r>
                        <a:t>hsa00520|Amino sugar and nucleotide sugar metabolism|-8.0;GO:0005996|monosaccharide metabolic process|-7.4;GO:0005975|carbohydrate metabolic process|-7.2</a:t>
                      </a:r>
                    </a:p>
                  </a:txBody>
                  <a:tcPr/>
                </a:tc>
              </a:tr>
              <a:tr h="568960">
                <a:tc>
                  <a:txBody>
                    <a:bodyPr/>
                    <a:lstStyle/>
                    <a:p>
                      <a:r>
                        <a:t>modules_epi_blue_sorted_top300_SUB1_MCODE_2</a:t>
                      </a:r>
                    </a:p>
                  </a:txBody>
                  <a:tcPr/>
                </a:tc>
                <a:tc>
                  <a:txBody>
                    <a:bodyPr/>
                    <a:lstStyle/>
                    <a:p>
                      <a:r>
                        <a:t>GO:0019395|fatty acid oxidation|-7.6;GO:0034440|lipid oxidation|-7.5;GO:0009062|fatty acid catabolic process|-7.4</a:t>
                      </a:r>
                    </a:p>
                  </a:txBody>
                  <a:tcPr/>
                </a:tc>
              </a:tr>
              <a:tr h="568960">
                <a:tc>
                  <a:txBody>
                    <a:bodyPr/>
                    <a:lstStyle/>
                    <a:p>
                      <a:r>
                        <a:t>modules_epi_blue_sorted_top300_SUB1_MCODE_3</a:t>
                      </a:r>
                    </a:p>
                  </a:txBody>
                  <a:tcPr/>
                </a:tc>
                <a:tc>
                  <a:txBody>
                    <a:bodyPr/>
                    <a:lstStyle/>
                    <a:p>
                      <a:r>
                        <a:t>GO:0034375|high-density lipoprotein particle remodeling|-14.8;GO:0015918|sterol transport|-13.9;GO:0034368|protein-lipid complex remodeling|-13.3</a:t>
                      </a:r>
                    </a:p>
                  </a:txBody>
                  <a:tcPr/>
                </a:tc>
              </a:tr>
              <a:tr h="568960">
                <a:tc>
                  <a:txBody>
                    <a:bodyPr/>
                    <a:lstStyle/>
                    <a:p>
                      <a:r>
                        <a:t>modules_epi_blue_sorted_top300_SUB1_MCODE_4</a:t>
                      </a:r>
                    </a:p>
                  </a:txBody>
                  <a:tcPr/>
                </a:tc>
                <a:tc>
                  <a:txBody>
                    <a:bodyPr/>
                    <a:lstStyle/>
                    <a:p>
                      <a:r>
                        <a:t>R-HSA-191273|Cholesterol biosynthesis|-10.8;R-HSA-8957322|Metabolism of steroids|-10.2;WP4718|Cholesterol metabolism with Bloch and Kandutsch Russell pathways|-9.8</a:t>
                      </a:r>
                    </a:p>
                  </a:txBody>
                  <a:tcPr/>
                </a:tc>
              </a:tr>
              <a:tr h="568960">
                <a:tc>
                  <a:txBody>
                    <a:bodyPr/>
                    <a:lstStyle/>
                    <a:p>
                      <a:r>
                        <a:t>modules_epi_blue_sorted_top300_SUB1_MCODE_7</a:t>
                      </a:r>
                    </a:p>
                  </a:txBody>
                  <a:tcPr/>
                </a:tc>
                <a:tc>
                  <a:txBody>
                    <a:bodyPr/>
                    <a:lstStyle/>
                    <a:p>
                      <a:r>
                        <a:t>GO:0006413|translational initiation|-8.0;GO:0006412|translation|-5.7;GO:0043043|peptide biosynthetic process|-5.6</a:t>
                      </a:r>
                    </a:p>
                  </a:txBody>
                  <a:tcPr/>
                </a:tc>
              </a:tr>
              <a:tr h="568960">
                <a:tc>
                  <a:txBody>
                    <a:bodyPr/>
                    <a:lstStyle/>
                    <a:p>
                      <a:r>
                        <a:t>modules_epi_blue_sorted_top300_SUB1_MCODE_8</a:t>
                      </a:r>
                    </a:p>
                  </a:txBody>
                  <a:tcPr/>
                </a:tc>
                <a:tc>
                  <a:txBody>
                    <a:bodyPr/>
                    <a:lstStyle/>
                    <a:p>
                      <a:r>
                        <a:t>hsa00350|Tyrosine metabolism|-8.8;GO:1901616|organic hydroxy compound catabolic process|-8.2;GO:1901615|organic hydroxy compound metabolic process|-5.4</a:t>
                      </a:r>
                    </a:p>
                  </a:txBody>
                  <a:tcPr/>
                </a:tc>
              </a:tr>
            </a:tbl>
          </a:graphicData>
        </a:graphic>
      </p:graphicFrame>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3" name="TextBox 2"/>
          <p:cNvSpPr txBox="1"/>
          <p:nvPr/>
        </p:nvSpPr>
        <p:spPr>
          <a:xfrm>
            <a:off x="2278375" y="1291130"/>
            <a:ext cx="7758754" cy="400110"/>
          </a:xfrm>
          <a:prstGeom prst="rect">
            <a:avLst/>
          </a:prstGeom>
          <a:noFill/>
        </p:spPr>
        <p:txBody>
          <a:bodyPr wrap="square" rtlCol="0">
            <a:spAutoFit/>
          </a:bodyPr>
          <a:lstStyle/>
          <a:p>
            <a:r>
              <a:t>Gene List: modules_epi_blue_sorted_top300</a:t>
            </a:r>
          </a:p>
        </p:txBody>
      </p:sp>
      <p:pic>
        <p:nvPicPr>
          <p:cNvPr id="4" name="Picture 3" descr="modules_epi_blue_sorted_top300_MCODE_ALL_PPIColorByCluster.png"/>
          <p:cNvPicPr>
            <a:picLocks noChangeAspect="1"/>
          </p:cNvPicPr>
          <p:nvPr/>
        </p:nvPicPr>
        <p:blipFill>
          <a:blip r:embed="rId2"/>
          <a:stretch>
            <a:fillRect/>
          </a:stretch>
        </p:blipFill>
        <p:spPr>
          <a:xfrm>
            <a:off x="640080" y="1701372"/>
            <a:ext cx="10911535" cy="5048826"/>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extBox 2"/>
          <p:cNvSpPr txBox="1"/>
          <p:nvPr/>
        </p:nvSpPr>
        <p:spPr>
          <a:xfrm>
            <a:off x="2278375" y="1291130"/>
            <a:ext cx="7758754" cy="400110"/>
          </a:xfrm>
          <a:prstGeom prst="rect">
            <a:avLst/>
          </a:prstGeom>
          <a:noFill/>
        </p:spPr>
        <p:txBody>
          <a:bodyPr wrap="square" rtlCol="0">
            <a:spAutoFit/>
          </a:bodyPr>
          <a:lstStyle/>
          <a:p>
            <a:r>
              <a:t>Gene List: modules_epi_blue_sorted_top300</a:t>
            </a:r>
          </a:p>
        </p:txBody>
      </p:sp>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modules_epi_blue_sorted_top300_PPIColorByCluster.png"/>
          <p:cNvPicPr>
            <a:picLocks noChangeAspect="1"/>
          </p:cNvPicPr>
          <p:nvPr/>
        </p:nvPicPr>
        <p:blipFill>
          <a:blip r:embed="rId2"/>
          <a:stretch>
            <a:fillRect/>
          </a:stretch>
        </p:blipFill>
        <p:spPr>
          <a:xfrm>
            <a:off x="2717065" y="1665465"/>
            <a:ext cx="6757565" cy="5120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1766</TotalTime>
  <Words>1993</Words>
  <Application>Microsoft Office PowerPoint</Application>
  <PresentationFormat>Widescreen</PresentationFormat>
  <Paragraphs>123</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宋体</vt:lpstr>
      <vt:lpstr>Arial</vt:lpstr>
      <vt:lpstr>Calibri</vt:lpstr>
      <vt:lpstr>Office Theme</vt:lpstr>
      <vt:lpstr>PowerPoint Presentation</vt:lpstr>
      <vt:lpstr>Gene List Summary</vt:lpstr>
      <vt:lpstr>Gene Overlap Analysis</vt:lpstr>
      <vt:lpstr>Membership Analysis</vt:lpstr>
      <vt:lpstr>Gene Overlap Analysis Expanded via Shared Enriched Ontologies</vt:lpstr>
      <vt:lpstr>Enriched Ontology Clusters Across Studies</vt:lpstr>
      <vt:lpstr>Enriched Ontology Clusters Colored by Cluster ID</vt:lpstr>
      <vt:lpstr>Enriched Ontology Clusters Colored by p-Value</vt:lpstr>
      <vt:lpstr>Enriched Ontology Clusters Pied by Gene Counts Across Studies</vt:lpstr>
      <vt:lpstr>Protein-protein Interaction Network</vt:lpstr>
      <vt:lpstr>PPI MCODE Components</vt:lpstr>
      <vt:lpstr>Biological Interpretation PPI Network &amp; MCODE Components</vt:lpstr>
      <vt:lpstr>PPI Network for Lists Merged Pied by Gene Origin in Studies </vt:lpstr>
      <vt:lpstr>PPI Network for Lists Merged Colored by MCODE ID</vt:lpstr>
      <vt:lpstr>PowerPoint Presentation</vt:lpstr>
      <vt:lpstr>MCODE for Lists Merged Pied by Gene Origin in Studies</vt:lpstr>
      <vt:lpstr>Biological Interpretation MCODE Components for Lists Merged</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2021-12-03T05:56:47Z</dcterms:modified>
</cp:coreProperties>
</file>